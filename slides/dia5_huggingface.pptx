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notesMasterIdLst>
    <p:notesMasterId r:id="rId5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min]
DIGA — Hoje fechamos o círculo. O dia 1 abriu com um modelo que inventou o número de linhas de um arquivo; hoje escolhemos qual modelo usar em cada papel, medimos se o sistema presta e colocamos no ar.
FAÇA — Retome o quadro de ontem, com os quatro papéis e a coluna do modelo em branco. Hoje ela é preenchida.
SE PERGUNTAREM 'vamos treinar algum modelo?' — Não. Fine-tuning fica na trilha pós-curso, e o motivo aparece no primeiro bloco: para o problema deste curso, escolher bem resolve mais que treinar.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[BLOCO: 09:05 - 09:45, 40 min]
O QUE ESTE BLOCO ENTREGA - a turma escolhe um modelo por requisito, com filtros e justificativa escrita, em vez de por ranking ou indicação.
ROTEIRO - as três coisas chamadas Hugging Face (5) · o roteiro de escolha (7) · a conta de memória (5) · filtrar pelo código (6) · ler um model card (6) · ambiente isolado (5) · checkpoint (4).
SE O TEMPO APERTAR - o ambiente isolado vira instrução escrita. O roteiro de escolha não sai: ele é a metodologia do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A confusão de tratar tudo como uma coisa só atrapalha na hora de decidir. Para este curso, a divisão é simples: o Hub é o catálogo e o Ollama é o runtime. As duas metades se conectam com um ollama pull apontando para um repositório GGUF do Hub.
FAÇA — Mostre o comando de conexão entre as duas metades na tela. É o que amarra a semana inteira.
SE PERGUNTAREM 'preciso de conta?' — Para baixar a maioria dos modelos, não. Para modelos com licença que exige aceite, e para publicar Spaces, sim.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 min]
DIGA — Buscar o melhor modelo não funciona, porque melhor depende do requisito. Filtrar por requisito funciona. E os quatro passos são uma ordem: licença antes de model card, porque não adianta se apaixonar por um modelo que você não pode usar.
FAÇA — Faça a busca na frente da turma, com filtros de tarefa, biblioteca e idioma, e deixe que eles escolham entre os três primeiros. Depois abra o model card do escolhido e leia junto.
DIGA TAMBÉM — O quarto item é um sinal social, não técnico: muitos downloads recentes significam que outras pessoas testaram e que os problemas apareceram nas discussões do repositório.
SE PERGUNTAREM 'e os rankings e leaderboards?' — Servem para descobrir candidatos, não para decidir. Nenhum leaderboard mede o seu caso, na sua língua, com o seu schema. A decisão vem da medição de vocês.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Esta conta é o que transforma quero rodar um modelo de 8B em posso ou não posso rodar. E some ao número o contexto: a cache de atenção também ocupa memória e cresce com o tamanho da conversa.
FAÇA — Peça que cada um calcule o maior modelo que cabe na própria máquina, deixando dois gigabytes de folga. É o número que vai decidir o projeto final deles.
SE PERGUNTAREM 'Q4 perde muito?' — Para uso em agente, pouco e aceitável. O que degrada primeiro é a formatação estruturada, e é justamente o que agente usa. Por isso vale medir a taxa de acerto de structured output antes e depois de trocar a quantização.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O ganho do código sobre o site é a reprodutibilidade. Daqui a três meses, quando alguém perguntar por que vocês escolheram este modelo, o script responde e o print da tela não.
FAÇA — Peça que colem a saída deste script na ficha de escolha de modelo do exercício. É documentação de decisão, e é o que o dia 1 chamou de instrução escrita por indução.
SE PERGUNTAREM 'dá para filtrar por tamanho?' — Diretamente não, mas dá para ler os arquivos do repositório e somar os safetensors. Na prática, o nome do modelo já traz o número de parâmetros e resolve.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Quase ninguém lê model card, e quase todo problema com modelo local está escrito nele. As cinco linhas viram uma checagem de dois minutos.
FAÇA — Abra dois model cards ao vivo, um bem escrito e um ruim, e compare. A diferença de qualidade entre repositórios é enorme e vale a turma ver.
DIGA TAMBÉM — A linha do chat template liga direto ao bloco da manhã: template ausente ou errado degrada o modelo sem dar erro nenhum.
SE PERGUNTAREM 'e quando o card é vazio?' — Trate como sinal de alerta. Existem modelos ótimos com card ruim, e para descobrir isso você vai gastar tempo. Prefira quem documentou.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Isolar por ambiente é a mesma disciplina de isolar por container que vimos no Agent Zero no dia 1, só que na escala de um pip install.
FAÇA — Avise sobre o download: o primeiro from_pretrained baixa o modelo, e em rede de sala de aula com vinte pessoas isso demora. Peça que comecem agora e sigam ouvindo.
SE PERGUNTAREM 'posso usar o mesmo ambiente do resto do curso?' — Pode, e você vai carregar torch em máquinas que não precisam dele. Funciona; só é mais pesado e mais frágil para reproduzir.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FAÇA — Deixe responderem. Respostas: (1) algo em torno de 7 ou 8B em Q4, deixando folga para o contexto e para o sistema; (2) a licença, antes de qualquer teste; (3) os prefixos de instrução, que algumas famílias exigem, e a lista de idiomas.
DIGA — O caso 3 volta no bloco de embeddings, e é a causa número um de troquei de modelo e piorou.
SE PERGUNTAREM 'no 1, e se eu quiser um modelo maior?' — Aí você serve pela rede: um vLLM numa máquina com GPU atendendo várias estações. É a topologia recomendada para sala e para equipe.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[BLOCO: 09:45 - 10:30, 45 min]
O QUE ESTE BLOCO ENTREGA - a turma vê o texto literal que o modelo recebe e entende por que template errado degrada sem dar erro.
ROTEIRO - tokenização, com as mãos (7) · o custo do português (5) · chat template (8) · o template renderizando ferramentas (6) · o que quebra quando o template está errado (5) · checkpoint (4).
SE O TEMPO APERTAR - nada aqui deve sair. É o bloco que fecha o círculo com o dia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 min]
DIGA — Faça a comparação português contra inglês na tela, com a mesma frase. O número costuma surpreender, e ele tem consequência direta: o orçamento de contexto do dia 4 vale menos em português do que a janela anunciada sugere.
FAÇA — Peça que cada um tokenize uma frase do próprio domínio de trabalho. Termos técnicos e nomes próprios costumam ser fatiados em muitos tokens, e isso aparece na conta.
NÃO FAÇA — Não use isso como argumento de que o modelo erra contas. Modelos atuais calculam bem. A ferramenta calcular existe por determinismo e auditoria, como vimos no dia 1.
SE PERGUNTAREM 'dá para mudar o tokenizer?' — Não sem retreinar. O tokenizer faz parte do modelo. O que dá para fazer é escolher modelos cujo tokenizer trate português melhor, e isso se mede com este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A última linha pega muita gente: a pessoa copia um exemplo com max_tokens de 256, funciona em inglês, e em português a resposta chega cortada. O sintoma parece bug de prompt e é aritmética de tokenização.
FAÇA — Ligue à quarta linha e ao dia 2: o chunk_size de 800 que usamos foi calibrado empiricamente, e agora a turma entende por que ele não é um número universal.
SE PERGUNTAREM 'existe modelo com tokenizer bom para português?' — Modelos multilíngues recentes tratam melhor que os antigos. A forma de saber é medir, com o script do slide anterior, na sua frase típica.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[8 min]
DIGA — Este slide fecha o círculo com o dia 1. Aquele dicionário de mensagens com role e content que vocês montaram na primeira tarde não é como o modelo enxerga: ele vira este texto, com marcadores de início e fim de turno. O modelo só vê texto.
FAÇA — Rode ao vivo e mostre a saída. Depois rode a segunda parte, com tools, e mostre a ferramenta virando texto dentro do prompt. Ver isso desmistifica tool calling de uma vez.
DIGA TAMBÉM — O add_generation_prompt é o que deixa o texto terminando no marcador do assistente. Sem ele, o modelo não sabe que é a vez dele de falar.
SE PERGUNTAREM 'o template vem de onde?' — Do tokenizer_config do repositório, escrito em Jinja. Você pode ler, e às vezes precisa: quando o tool calling não funciona, ler o template é como se descobre se ele suporta ferramentas.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Nenhum desses cinco dá erro. Todos degradam em silêncio, e é isso que faz o assunto ser subestimado. A pessoa conclui que o modelo é ruim.
FAÇA — Ligue a segunda linha à flag do dia 1. Agora a turma sabe por que aquela flag existia.
SE PERGUNTAREM 'como testo rápido se está certo?' — Imprima o texto renderizado e compare com o exemplo do model card. Dois minutos, e resolve.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FAÇA — Deixe responderem. Respostas: (1) porque o vocabulário do tokenizer foi otimizado majoritariamente para inglês, e isso aparece na janela útil, na latência e no chunking; (2) texto, sempre, com marcadores especiais; (3) dos três juntos, e por isso o diagnóstico precisa checar os três.
DIGA — Se as três estiverem claras, a turma sabe mais sobre a mecânica do que a maioria de quem usa esses modelos há um ano.
SE PERGUNTAREM 'preciso saber isso para usar o LangChain?' — Para usar, não. Para depurar quando parar de funcionar, sim, e é a diferença entre resolver em vinte minutos ou trocar de modelo no escuro.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[BLOCO: 10:45 - 12:15, 90 min]
O QUE ESTE BLOCO ENTREGA - a turma substitui pelo menos uma decisão de LLM por um modelo pequeno, e mede o ganho.
ROTEIRO - a regra que muda o julgamento (5) · o catálogo com tempos (6) · nem toda decisão precisa de LLM (5) · classificador no lugar do roteamento (7) · sentiment em lote (6) · zero-shot com corte por score (6) · QA extrativo contra RAG (5) · FAQ híbrido (6) · enunciado (3) · laboratório (40).
SE O TEMPO APERTAR - sentiment em lote pode virar leitura. O classificador no roteamento é entregável do projeto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Este slide é o argumento central do dia 5, e tudo que vem depois é evidência para ele. A pergunta de projeto vira: esta subtarefa tem nome? Se tem, procure o modelo específico antes de gastar uma chamada de LLM.
FAÇA — Peça três subtarefas do sistema de alguém e classifique cada uma como tem nome ou não tem nome. Costuma sair pelo menos uma classificação disfarçada de prompt.
SE PERGUNTAREM 'e se o LLM já resolve?' — Resolve, mais devagar, mais caro e de forma não determinística. Se isso não importa no seu caso, use o LLM. Importa quase sempre quando a tarefa roda em volume.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Compare com os cerca de três segundos de uma chamada ao modelo local de 4B. Nenhum destes números usa GPU. O argumento se sustenta sozinho: sessenta a cem vezes mais rápido, com acerto igual ou melhor na tarefa específica.
FAÇA — Rode um deles ao vivo com o cronômetro na tela, e depois a mesma tarefa com o LLM. A diferença é visível a olho nu.
DIGA TAMBÉM — Repare que são todos multilíngues. Escolher a variante monolíngue em inglês é o erro mais comum aqui, e ele derruba a qualidade em português sem dar erro.
SE PERGUNTAREM 'a primeira chamada demorou muito' — É o carregamento do modelo na memória, e acontece uma vez. Em serviço, carregue no start e reaproveite; nunca dentro da função que responde à requisição.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Este é o princípio que separa quem monta demonstração de quem monta sistema. E ele volta no projeto final como requisito obrigatório: pelo menos um componente não-LLM.
FAÇA — Escreva no quadro e deixe até o fim do dia. Ele entra na lista dos sete princípios do fechamento.
SE PERGUNTAREM 'e a manutenção de dois modelos?' — É custo real, e é a contrapartida honesta. A conta fecha quando a tarefa fechada roda em volume; não fecha quando roda dez vezes por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 min]
DIGA — Repare no desenho: o classificador não substitui o supervisor, ele antecede. Quando a confiança é alta, decide barato; quando é baixa, o LLM entra. É o mesmo padrão de dois estágios que vamos ver no rerank à tarde.
FAÇA — Peça para medirem a concordância entre classificador e LLM em vinte perguntas. Costuma ficar acima de oitenta e cinco por cento, e o número é o argumento.
DIGA TAMBÉM — O campo origem_decisao é observabilidade, e é o que permite responder depois quantas decisões custaram cinquenta milissegundos em vez de três segundos.
SE PERGUNTAREM 'e quando o classificador erra?' — O corte por confiança resolve a maior parte: abaixo do limiar, cai no LLM. É o mesmo desenho do escalonamento para humano do dia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Rode os dois modos ao vivo e mostre o cronômetro. O ganho do batch é o tipo de coisa que a pessoa só internaliza vendo.
FAÇA — Aponte o comentário sobre o rótulo: cada modelo rotula à sua maneira, e assumir o formato de outro modelo é fonte garantida de bug. Sempre imprima a saída bruta antes de escrever o parser.
DIGA TAMBÉM — A coluna de confiança não é enfeite: ela permite separar o que precisa de revisão, exatamente como no classificador do slide anterior.
SE PERGUNTAREM 'qual batch_size?' — Comece em 16 e suba até a memória reclamar. Em CPU o ganho satura rápido; em GPU vale ir bem mais alto.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A lição não é a classificação: é a última linha. Todo classificador devolve alguma resposta, sempre, mesmo quando a categoria certa não está na lista. Sem corte por confiança, você tem um sistema que erra com convicção.
FAÇA — Aponte a conexão explícita com o escalonamento para humano do dia 4. É o mesmo desenho arquitetural em outro contexto.
SE PERGUNTAREM 'como escolher o corte?' — Empiricamente: rode em cinquenta exemplos rotulados à mão e escolha o valor que deixa passar o que você aceita revisar. É avaliação, e é o bloco da tarde.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A coluna da direita tem uma propriedade que a esquerda nunca vai ter: ela é incapaz de inventar, porque só sabe recortar. Em domínio regulado, isso muda tudo.
FAÇA — Ligue ao dia 2: o retriever acha o trecho entre mil documentos, e o QA aponta a resposta dentro dele. São camadas, não alternativas.
SE PERGUNTAREM 'então QA é sempre melhor?' — Não. Ele não junta duas fontes, não resume e não reformula. Se a resposta exige síntese, você precisa do LLM. O próximo slide combina os dois.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Esta é a arquitetura de dois estágios aplicada a resposta. O caso comum sai em quarenta milissegundos com citação literal; o caso difícil paga os três segundos do LLM.
FAÇA — Inclua duas perguntas cuja resposta NÃO está na base. O QA devolve score baixo e o LLM, bem instruído, recusa. Os dois se recusando é o comportamento correto, e vale celebrar quando acontece.
DIGA TAMBÉM — A marcação de citação literal na resposta é rastreabilidade: quem lê sabe que aquilo foi copiado, e não gerado.
SE PERGUNTAREM 'e se o QA acertar com score baixo?' — Acontece, e você perde velocidade, não correção: cai no LLM. O erro caro é o oposto, score alto com resposta errada, e é o que o conjunto de avaliação da tarde detecta.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 + 40 min de laboratório]
FAÇA — Circule cobrando o item 3. Sem o número, o item 2 vira uma opinião de que ficou mais rápido.
DIGA — Este laboratório produz o componente não-LLM que o projeto final exige. Quem terminar bem já tem um requisito resolvido.
SE PERGUNTAREM 'o classificador vale para qualquer roteamento?' — Vale quando as categorias são poucas, estáveis e mutuamente distintas. Se as categorias mudam toda semana, o LLM é mais flexível e a manutenção é menor.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[BLOCO: 13:15 - 14:45, 90 min]
O QUE ESTE BLOCO ENTREGA - a turma escolhe embedding por critério, melhora o RAG com rerank e mede o resultado com três métricas.
ROTEIRO - critérios de embedding (6) · rerank em dois estágios (7) · reformulação de query (6) · observabilidade contra avaliação (5) · as três métricas (7) · o conjunto de avaliação (6) · LLM como juiz (5) · laboratório (40).
SE O TEMPO APERTAR - reformulação de query pode virar leitura; a avaliação não sai, porque é requisito do projeto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O item dos prefixos é o que mais causa a frase troquei de modelo e a busca piorou. Certas famílias foram treinadas esperando um prefixo diferente para a consulta e para o documento; sem ele, a similaridade fica ruim e nada avisa.
FAÇA — Abra o model card de um modelo que exige prefixo e mostre a seção de uso. É o exemplo mais concreto de por que ler o card importa.
DIGA TAMBÉM — Dimensão maior não é melhor por si só. Em base pequena, 384 costuma empatar com 1024 e ocupar menos memória e menos tempo.
SE PERGUNTAREM 'posso trocar o embedding sem reindexar?' — Não. Os vetores antigos foram gerados por outro modelo e não são comparáveis. Trocar embedding significa reindexar tudo.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 min]
DIGA — A diferença entre os dois modelos é arquitetural. O bi-encoder do embedding vê consulta e documento separadamente, e por isso dá para pré-calcular a base inteira. O cross-encoder vê os dois juntos, é muito mais preciso, e por isso não dá para pré-calcular nada. Dois estágios usam a força de cada um.
FAÇA — Rode com e sem rerank nas mesmas cinco perguntas e mostre as posições mudando. Costuma haver um caso em que o trecho certo salta da posição doze para a primeira.
DIGA TAMBÉM — Se a máquina for fraca, o rerank pode ser opcional. Deixe claro que ele é um trade-off de latência, e que o número certo de candidatos é o que a sua máquina aguenta.
SE PERGUNTAREM 'buscar 20 não é caro?' — Buscar é barato: é uma consulta no índice. O caro é o rerank, e ele cresce linearmente com o número de candidatos. Vinte é um bom ponto de partida.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Este é um ótimo lugar para usar o modelo pequeno do supervisor: reescrever consulta é tarefa curta e barata, e é exatamente o tipo de decisão que não precisa do modelo grande.
FAÇA — Demonstre com uma pergunta de acompanhamento real: faça uma pergunta, depois pergunte e o do ano anterior, e mostre a busca falhando sem reformulação.
SE PERGUNTAREM 'não dá para simplesmente mandar o histórico junto na busca?' — Dá e piora: o histórico inteiro vira ruído no vetor da consulta. Reformular produz uma consulta curta e específica, que é o que a busca vetorial gosta.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Este slide separa os dois conceitos antes de mostrar as métricas, e evita a confusão comum entre ver o que aconteceu e saber se estava certo.
FAÇA — Pergunte à turma qual dos dois eles têm hoje no NEXUS. Todos têm o primeiro, desde o dia 4. Nenhum tem o segundo, e é o que este bloco resolve.
SE PERGUNTAREM 'preciso dos dois desde o começo?' — Observabilidade, sim, desde o primeiro dia, porque sem ela você não depura. Avaliação, a partir do momento em que você começa a mudar coisas e precisa saber se melhorou.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 min]
DIGA — O ganho de rodar isto sobre as dez perguntas do projeto final é localizar EM QUAL ESTÁGIO do pipeline está o problema. faithfulness baixo é prompt; context_precision baixo é busca. As correções são completamente diferentes, e sem a separação você mexe no lugar errado.
FAÇA — Desenhe o pipeline no quadro com as três métricas apontando para trechos diferentes dele. Fica claro que cada uma vigia um pedaço.
DIGA TAMBÉM — As três podem ser calculadas com um LLM como juiz, e existe biblioteca pronta para isso. O importante hoje é entender o que cada uma mede.
SE PERGUNTAREM 'preciso de conjunto rotulado?' — Para as três acima, não necessariamente. Para medir acerto factual da resposta final, sim: dez perguntas com resposta anotada à mão, e é o que o projeto final pede.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Dez casos e quatro colunas. Não precisa de framework, não precisa de serviço. É um arquivo e um laço, e é o que transforma achei que melhorou em melhorou de sete para nove.
FAÇA — Insista no caso q3. Peça que cada aluno inclua pelo menos dois casos cuja resposta correta é recusar. É o teste que a maioria dos sistemas de demonstração falha.
DIGA TAMBÉM — Guarde tokens e segundos junto com o acerto. Quando alguém propuser trocar o modelo por um maior, a tabela responde se valeu a pena.
SE PERGUNTAREM 'dez casos são poucos?' — São poucos para estatística e suficientes para regressão. O objetivo aqui não é medir precisão absoluta: é perceber quando uma mudança quebrou algo que funcionava.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O quarto item é o que separa avaliação séria de teatro de avaliação. Um juiz não calibrado produz números bonitos que não significam nada.
FAÇA — Ligue ao dia 4: o Crítico do NEXUS já é um LLM como juiz, e a mesma disciplina de rubrica verificável vale para ele.
SE PERGUNTAREM 'e se eu não tiver um segundo modelo?' — Use o mesmo com prompt e temperatura diferentes, e desconte o resultado: a concordância vai ser inflada. Se puder, use um modelo de família diferente, mesmo que menor.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 + 40 min de laboratório]
FAÇA — Circule cobrando o item 3 primeiro. Sem os casos, os itens 4 e 5 não acontecem, e a turma volta a avaliar por impressão.
DIGA — Este conjunto de dez casos é reaproveitado no projeto final. O trabalho de hoje não é descartável.
SE PERGUNTAREM 'e se o rerank piorar?' — Ótimo resultado também, e mais interessante de apresentar. Piorar com número é conhecimento; melhorar sem número é sorte.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[BLOCO: 15:00 - 15:50, 50 min]
O QUE ESTE BLOCO ENTREGA - a turma lê o código de um harness pequeno e publica uma demonstração funcionando na internet.
ROTEIRO - CodeAct (7) · leitura guiada do smolagents (6) · a metodologia fora de texto (5) · Spaces em três arquivos (7) · dois avisos (5) · onde o NEXUS roda de verdade (6) · fecho (3).
SE O TEMPO APERTAR - a leitura guiada vira tarefa de casa; o Spaces fica, porque ver a URL no ar fecha o curso de outro jeito.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 min]
DIGA — Repare no ganho concreto do exemplo: em tool calling clássico, somar cem números exigiria cem chamadas ou uma ferramenta específica de soma. Em CodeAct, é uma linha de Python. Composição é o argumento inteiro do padrão.
FAÇA — Rode ao vivo e mostre o código gerado antes de ele executar. Ver o modelo escrevendo Python em vez de JSON é o que faz a diferença ficar clara.
DIGA TAMBÉM — E repare no risco: aquele código vai executar. Sem sandbox, isso é execução remota de código com o modelo no comando. É a camada de constraints do dia 3 valendo em grau máximo.
SE PERGUNTAREM 'CodeAct é melhor que tool calling?' — Para tarefas com muita composição, sim, e mede melhor em vários benchmarks. Para ações discretas e sensíveis, tool calling é mais fácil de auditar, porque cada ação é uma chamada nomeada.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Ler um sistema completo ensina mais que dez tutoriais. O smolagents é o melhor candidato porque foi escrito para ser lido: o núcleo cabe em poucas centenas de linhas.
FAÇA — Faça em sala, com o repositório aberto no projetor e a turma acompanhando no editor. Cinco itens, quatro minutos cada.
DIGA TAMBÉM — O objetivo não é aprender a API do smolagents. É reconhecer as cinco camadas do dia 1 num código que outra pessoa escreveu. Se eles conseguirem isso, o curso funcionou.
SE PERGUNTAREM 'e se eu não usar smolagents?' — Melhor ainda: faça o mesmo exercício com o framework que você usa. A habilidade é ler harness, não decorar biblioteca.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Se a metodologia de escolha de modelo da manhã não servisse fora de texto, ela não seria metodologia: seria receita. Este slide é a prova de que é metodologia.
FAÇA — Use este exemplo como o que vai para o Spaces, e não o NEXUS. Ele é pequeno, roda em CPU, e produz um resultado visual imediato.
SE PERGUNTAREM 'por que não publicar o NEXUS?' — Pelo próximo slide: o tier gratuito não comporta um LLM de 4B, e o agente lê disco e executa código. Publicar o NEXUS exige outra infraestrutura.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 min]
DIGA — Três arquivos e um push. É o caminho mais curto que existe entre um script que roda na sua máquina e uma URL que outra pessoa consegue abrir.
FAÇA — Comece este bloco cedo, porque o build leva de três a cinco minutos. A turma precisa ver a URL no ar antes do fim do dia; é um fechamento diferente.
DIGA TAMBÉM — Repare que o Space é um repositório Git. Isso significa versão, histórico e possibilidade de reverter, exatamente como qualquer código.
SE PERGUNTAREM 'dá para deixar privado?' — Dá, nas configurações do repositório. E o aviso do próximo slide continua valendo: privado não é o mesmo que seguro para segredo.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O segundo aviso já custou credencial de produção a muita gente. Diga antes que a turma comece, e não depois. E lembre: apagar a chave num commit seguinte não resolve, porque o histórico guarda.
FAÇA — Ligue ao dia 2, ao slide do .env e do .gitignore. É a mesma regra, num lugar onde as pessoas relaxam porque o projeto parece pequeno.
SE PERGUNTAREM 'e se eu já comitei?' — Revogue a chave imediatamente, e só depois limpe o histórico. Revogar é o que resolve; limpar o histórico é higiene.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A escolha de destino é decidida por dois eixos: onde o dado pode estar e quantas pessoas usam ao mesmo tempo. Tudo o mais é consequência.
FAÇA — Aponte a segunda linha como a recomendação para a maioria das equipes: um servidor com GPU rodando vLLM atende dez a vinte pessoas e mantém o dado dentro de casa.
DIGA TAMBÉM — Existem hoje serviços gerenciados que hospedam agentes com sandbox, memória e identidade prontos. São convenientes e implicam o dado sair da sua rede, que é exatamente a decisão que o dia 3 mandou não esconder da turma.
SE PERGUNTAREM 'o que muda no código entre eles?' — Idealmente, a variável de ambiente do backend e mais nada. É o desacoplamento do dia 2 pagando pela última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min]
DIGA — Feche o bloco e anuncie a última parte do dia: o NEXUS final e o projeto.
FAÇA — Se algum Space da turma já subiu, abra na tela. Ver o trabalho de um colega no ar motiva mais que qualquer discurso.
SE PERGUNTAREM 'quanto tempo o Space fica no ar?' — Enquanto o repositório existir. Ele hiberna sem uso e acorda no primeiro acesso, com alguns segundos de espera.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[BLOCO: 15:50 - 17:00, 70 min]
O QUE ESTE BLOCO ENTREGA - o sistema final montado com um modelo por papel, o método de depuração impresso, e o projeto final entendido.
ROTEIRO - um modelo por papel (7) · como justificar cada escolha (5) · o método de depuração (7) · o caminho percorrido (5) · as cinco camadas, fechadas (5) · o que o curso não cobriu (5) · trilha pós-curso (5) · os sete princípios (5) · o projeto final (7) · perguntas (17).
SE O TEMPO APERTAR - a trilha pós-curso vira leitura. Os sete princípios e o projeto final não saem.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 min]
DIGA — Isto é engenharia de sistema, e não detalhe de configuração. Repare no padrão: modelo pequeno onde a decisão é curta e fechada, modelo grande onde é preciso escrever bem. É o sanduíche de raciocínio do dia 1 aplicado por papel.
FAÇA — Preencha o quadro que ficou aberto ontem, com a turma justificando cada linha. Depois peça que façam o mesmo para o sistema do projeto final, por escrito.
DIGA TAMBÉM — A única temperatura diferente de zero é a do redator, e o motivo é específico: texto com temperatura zero fica repetitivo. Em toda decisão, zero.
SE PERGUNTAREM 'não fica caro manter três modelos baixados?' — Em disco, sim, alguns gigabytes. Em memória, o Ollama carrega sob demanda e descarrega o ocioso. Meça: em máquina modesta, alternar entre modelos pode custar mais tempo que usar um só.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Estas quatro linhas por papel cabem em meia página e são o que eu pediria numa revisão de arquitetura. Sem elas, a escolha de modelo é gosto pessoal com aparência técnica.
FAÇA — Diga que a ficha entra na rubrica do projeto final, uma por papel.
SE PERGUNTAREM 'e se eu não tiver tempo de medir tudo?' — Meça o papel que mais roda e o que mais custa. Esses dois respondem pela maior parte do tempo e do gasto.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 min]
DIGA — Mexer no prompt primeiro é o que faz o dia inteiro passar sem progresso. Este slide vale imprimir e colar na parede, e ele resume o curso do ponto de vista prático.
FAÇA — Percorra os cinco apontando em qual dia cada um foi aprendido: 1 é o dia 5 e o dia 1, 2 é o dia 2, 3 é o dia 1, 4 é o dia 3, 5 é o dia 1 e o dia 4. O método é a semana inteira condensada.
DIGA TAMBÉM — A ordem não é arbitrária: ela vai do mais barato de verificar para o mais caro, e do mais provável para o menos provável.
SE PERGUNTAREM 'e se passar nos cinco e ainda estiver errado?' — Aí é conteúdo, e não mecânica: o prompt, o modelo ou a tarefa. Nessa ordem, e sempre com medição antes e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Este é o fechamento conceitual do curso. Peça à turma para apontar, no NEXUS final, onde está cada um dos cinco passos do runtime da primeira aula. Eles estão todos lá, com outros nomes.
FAÇA — Se possível, abra o arquivo do dia 1 e o do dia 5 lado a lado no projetor.
SE PERGUNTAREM 'o zero da última coluna é realista em produção?' — Depende do requisito. Se o dado pode sair, misturar local e nuvem é a arquitetura mais econômica. Se não pode, este curso mostrou que dá para fazer tudo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Esta é a promessa do dia 1 cumprida. Cada linha aponta para código que vocês escreveram, e não para conceito que ouviram.
FAÇA — Peça que comparem com a cópia própria da tabela, mantida desde segunda. Quem manteve tem o mapa do curso escrito com as próprias palavras.
SE PERGUNTAREM 'qual camada eu deveria melhorar primeiro no meu projeto?' — Feedback, quase sempre. É a mais negligenciada e a que mais muda o resultado, porque sem ela nada converge.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Dizer o que não foi coberto é parte do trabalho. Um curso que dá a impressão de ter esgotado o assunto forma gente que não sabe o que não sabe.
FAÇA — Aponte quais desses temas aparecem no trabalho de alguém da turma, e recomende por onde começar em cada caso.
SE PERGUNTAREM 'qual eu estudo primeiro?' — O que o seu projeto exigir primeiro. Se ele vai para produção, comece por segurança e por produção. Se ele vai crescer em qualidade, comece por avaliação.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As cinco são gratuitas e nenhuma depende de curso, licença ou aprovação de ninguém. A terceira é a que mais rende a longo prazo.
FAÇA — Deixe esta lista na tela enquanto a turma faz perguntas no fim do dia.
SE PERGUNTAREM 'e comunidade, vale?' — Vale para descobrir o que existe. Não vale como fonte de decisão técnica, e a quarta linha diz por quê: changelog tem incentivo de ser honesto, conteúdo de engajamento não 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FAÇA — Último slide de conteúdo. Leia os sete em voz alta, devagar, um por vez, e pare depois de cada um.
DIGA — Nenhum dos sete depende de biblioteca, de versão ou de fornecedor. É o que sobra quando o LangGraph tiver outro nome e o modelo de hoje for obsoleto.
SE PERGUNTAREM 'qual é o mais importante?' — O sétimo, porque ele é o que corrige os outros seis quando eu estiver errado.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 min]
DIGA — Leia junto com a rubrica da apostila e deixe claro o prazo e o formato de entrega antes de encerrar.
FAÇA — Insista no item 5. Turma acostumada a demonstração ensaiada acha que mostrar falha é perder ponto; aqui é o contrário, e vale repetir duas vezes.
DIGA TAMBÉM — O item 4 é o que eu mais leio quando corrijo. Um sistema que funciona sem que a pessoa saiba por quê vale menos que um sistema com defeito que a pessoa explica com precisão.
SE PERGUNTAREM 'posso usar o NEXUS como base?' — Pode e deve, com o domínio trocado. Reescrever do zero gasta o tempo que deveria ir para a análise.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1920240" cy="685800"/>
          </a:xfrm>
          <a:prstGeom prst="roundRect">
            <a:avLst>
              <a:gd name="adj" fmla="val 16000"/>
            </a:avLst>
          </a:prstGeom>
          <a:solidFill>
            <a:srgbClr val="E893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Hugging Face e a solução final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modelos com critério, avaliar o que foi construído e colocar no ar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572000"/>
            <a:ext cx="2446020" cy="1234440"/>
          </a:xfrm>
          <a:prstGeom prst="roundRect">
            <a:avLst>
              <a:gd name="adj" fmla="val 7407"/>
            </a:avLst>
          </a:prstGeom>
          <a:solidFill>
            <a:srgbClr val="241E3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709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074920"/>
            <a:ext cx="20802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Hub: escolher com método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60420" y="4572000"/>
            <a:ext cx="2446020" cy="1234440"/>
          </a:xfrm>
          <a:prstGeom prst="roundRect">
            <a:avLst>
              <a:gd name="adj" fmla="val 7407"/>
            </a:avLst>
          </a:prstGeom>
          <a:solidFill>
            <a:srgbClr val="241E3D"/>
          </a:solidFill>
          <a:ln/>
        </p:spPr>
      </p:sp>
      <p:sp>
        <p:nvSpPr>
          <p:cNvPr id="10" name="Text 8"/>
          <p:cNvSpPr/>
          <p:nvPr/>
        </p:nvSpPr>
        <p:spPr>
          <a:xfrm>
            <a:off x="3543300" y="4709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43300" y="5074920"/>
            <a:ext cx="20802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Tokenização e chat template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4572000"/>
            <a:ext cx="2446020" cy="1234440"/>
          </a:xfrm>
          <a:prstGeom prst="roundRect">
            <a:avLst>
              <a:gd name="adj" fmla="val 7407"/>
            </a:avLst>
          </a:prstGeom>
          <a:solidFill>
            <a:srgbClr val="241E3D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4709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63640" y="5074920"/>
            <a:ext cx="20802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prontos, embeddings e rerank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801100" y="4572000"/>
            <a:ext cx="2446020" cy="1234440"/>
          </a:xfrm>
          <a:prstGeom prst="roundRect">
            <a:avLst>
              <a:gd name="adj" fmla="val 7407"/>
            </a:avLst>
          </a:prstGeom>
          <a:solidFill>
            <a:srgbClr val="241E3D"/>
          </a:solidFill>
          <a:ln/>
        </p:spPr>
      </p:sp>
      <p:sp>
        <p:nvSpPr>
          <p:cNvPr id="16" name="Text 14"/>
          <p:cNvSpPr/>
          <p:nvPr/>
        </p:nvSpPr>
        <p:spPr>
          <a:xfrm>
            <a:off x="8983980" y="4709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83980" y="5074920"/>
            <a:ext cx="20802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Avaliação, deploy e o NEXUS final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oito horas de hoje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184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– 10:30 · O Hub e o método de escolha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75104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escolher um modelo por requisito, e não por ranking. Tokenização e chat template.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47802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45059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 – 12:15 · Pipelines prontos, e laboratório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807208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Sentiment, zero-shot, question answering, summarization. Nem toda decisão precisa de LLM.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3101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28269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13:15 – 14:45 · Embeddings, rerank e avaliação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639312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embedding com critério, rerank em dois estágios, e medir se o sistema presta.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1422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11480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 – 16:15 · smolagents, deploy e o NEXUS final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471416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CodeAct, Spaces, um modelo por papel, e o método de depuração em cinco passos.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9743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494690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16:15 – 17:00 · Fechamento e projeto final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5303520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sete princípios, o que o curso não cobriu, e o enunciado do projeto.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9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560320" y="2057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Hub e o método de escolha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60320" y="3200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coisas com o mesmo nome, e um método para escolher.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Hub, bibliotecas e ferramentas de agente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61872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Hub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de modelos, datasets e Spaces. É onde você ESCOLHE o modelo. Acessível pelo site e pela biblioteca huggingface_hub.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4736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65904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11" name="Text 9"/>
          <p:cNvSpPr/>
          <p:nvPr/>
        </p:nvSpPr>
        <p:spPr>
          <a:xfrm>
            <a:off x="4565904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6528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bibliotecas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5904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transformers, sentence-transformers, datasets, peft, accelerate. É onde o modelo RODA, inclusive dentro do seu processo Python.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9392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9056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/>
        </p:spPr>
      </p:sp>
      <p:sp>
        <p:nvSpPr>
          <p:cNvPr id="16" name="Text 14"/>
          <p:cNvSpPr/>
          <p:nvPr/>
        </p:nvSpPr>
        <p:spPr>
          <a:xfrm>
            <a:off x="829056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11184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agente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90560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smolagents e integrações MCP. O harness mais legível que existe hoje: núcleo pequeno, feito para ser lido.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de escolha de modelo: faça ao vivo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184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a tarefa e o orçamento de memória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75104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text-generation? feature-extraction? zero-shot-classification? E quanta RAM ou VRAM você tem de verdade.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49859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985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47116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a licença antes de se apegar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827782"/>
            <a:ext cx="1024128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 e MIT são permissivas. Llama e Gemma têm licenças próprias com restrições. Isso importa se o projeto for comercial.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56387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638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53644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o model card de verdade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893058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Idiomas suportados, tamanho de contexto, se foi treinado para tool calling, e qual é o chat template.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416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38912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o formato e a atividade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745736"/>
            <a:ext cx="1024128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safetensors para transformers, GGUF para Ollama e llama.cpp. Muitos downloads recentes indicam comunidade e correções.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 QUE DECIDE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Quanta memória o modelo vai ocupar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2194560"/>
                <a:gridCol w="37490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Precisão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Bytes por parâmetro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de 8B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Observação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FP16 / BF16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cerca de 16 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Qualidade de referência; exige GPU boa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cerca de 8 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Perda pequena, boa relação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Q4_K_M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cerca de 0,6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cerca de 5 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padrão prático para rodar local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cerca de 0,4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cerca de 3 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Cabe, e a qualidade cai de forma visível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CÓDIGO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Filtrando o Hub programaticamente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297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site é bom para explorar. O código é melhor para comparar e para deixar registrado no relatório o critério usado.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61488"/>
            <a:ext cx="4297680" cy="3227832"/>
          </a:xfrm>
          <a:prstGeom prst="roundRect">
            <a:avLst>
              <a:gd name="adj" fmla="val 2833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907792"/>
            <a:ext cx="3858768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Conectando as duas metades do curso: o Hub é o catálogo, o Ollama é o runtime.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pull hf.co/usuario/repo-gguf:Q4_K_M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303520" y="1691640"/>
            <a:ext cx="621792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5504688" y="1828800"/>
            <a:ext cx="581558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huggingface_hub import HfApi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= HfApi()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m in api.list_models(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task="feature-extraction",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library="sentence-transformers",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sort="downloads", direction=-1, limit=10):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print(f"{m.id:55} {m.downloads:&gt;10}")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rodando um GGUF do Hub no Ollama: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$ ollama pull hf.co/&lt;usuario&gt;/&lt;repo&gt;:Q4_K_M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PROCURAR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Lendo um model card com olhos de engenheiro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389120"/>
                <a:gridCol w="39319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Seção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você procura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Sinal de alerta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Idiomas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Português está na lista de treino?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inglês, ou lista genérica sem detalhe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Quantos tokens ele aguenta de verdade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 grande sem menção a avaliação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calling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Foi treinado para isso, e em que formato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Silêncio total sobre o assunto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template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Existe e está no tokenizer_config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Ausente: você vai ter que montar à mão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Licença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Permissiva, ou com restrição de uso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Licença própria com cláusulas de uso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DE EXPLORAÇÃO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Ambiente isolado: virtualenv e Jupyter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embeddings, testar classificador, inspecionar tokenização: um notebook é mais rápido de iterar do que script mais terminal.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61488"/>
            <a:ext cx="4480560" cy="3227832"/>
          </a:xfrm>
          <a:prstGeom prst="roundRect">
            <a:avLst>
              <a:gd name="adj" fmla="val 2833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907792"/>
            <a:ext cx="4041648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um ambiente SEPARADO do resto do curso? transformers e sentence-transformers trazem uma árvore de dependências pesada que não precisa estar nas máquinas que só falam com o Ollama por HTTP.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é para exploração. Quando o experimento funcionar, o código migra para um arquivo .py versionado.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0" y="1691640"/>
            <a:ext cx="603504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5687568" y="1828800"/>
            <a:ext cx="563270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python3 -m venv .venv-hf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source .venv-hf/bin/activate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pip install jupyter transformers \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sentence-transformers huggingface_hub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jupyter notebook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dentro do notebook: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transformers import AutoTokenizer, pipeline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 = AutoTokenizer.from_pretrained(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"Qwen/Qwen3-0.6B")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clf = pipeline("sentiment-analysis")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DO BLOCO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decisões de escolha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61872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com 8 GB de RAM, sem GPU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 maior modelo viável, e em que quantização?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4736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65904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11" name="Text 9"/>
          <p:cNvSpPr/>
          <p:nvPr/>
        </p:nvSpPr>
        <p:spPr>
          <a:xfrm>
            <a:off x="4565904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6528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será vendido a clientes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5904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primeira coisa a verificar no Hub?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9392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9056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/>
        </p:spPr>
      </p:sp>
      <p:sp>
        <p:nvSpPr>
          <p:cNvPr id="16" name="Text 14"/>
          <p:cNvSpPr/>
          <p:nvPr/>
        </p:nvSpPr>
        <p:spPr>
          <a:xfrm>
            <a:off x="829056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11184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busca piorou depois de trocar o embedding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90560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linha do model card você não leu?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9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560320" y="2057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Abrindo a caixa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60320" y="3200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 antes do prompt chegar ao modelo.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descobertas que a turma precisa fazer com as mãos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297680" cy="1030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Português custa mais tokens que inglês. A mesma frase traduzida costuma gastar de vinte a quarenta por cento mais, o que significa contexto útil menor e resposta mais lenta.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996184"/>
            <a:ext cx="4297680" cy="2993136"/>
          </a:xfrm>
          <a:prstGeom prst="roundRect">
            <a:avLst>
              <a:gd name="adj" fmla="val 3055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3142488"/>
            <a:ext cx="3858768" cy="2700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Números são fatiados de formas estranhas. Um valor como 22800 pode virar dois ou três tokens, sem relação com os dígitos.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não impede o modelo de calcular, e explica por que ele lida com número de um jeito diferente de como lida com palavra.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303520" y="1691640"/>
            <a:ext cx="621792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5504688" y="1828800"/>
            <a:ext cx="581558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transformers import AutoTokenizer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 = AutoTokenizer.from_pretrained("Qwen/Qwen3-0.6B")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ids = tok.encode("Sistemas multiagente com modelos locais")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print(len(ids))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print([tok.decode([i]) for i in ids])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print(len(tok.encode("950 vezes 24")))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print([tok.decode([i]) for i in tok.encode("22800")])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 PRÁTICA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custo de tokenização muda no seu projeto</a:t>
            </a:r>
            <a:endParaRPr lang="en-US" sz="3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6751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aparece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Efeito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Janela útil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janela de 8k comporta menos conversa em português do que em inglês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Latência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Mais tokens de saída significam mais tempo, e em CPU isso é linear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em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Cobrança é por token; o mesmo texto custa mais caro em português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Chunking do RAG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 caracteres em português dão mais tokens do que a intuição em inglês sugere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de saída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max_tokens calibrado em inglês corta respostas em português no meio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TEMPLATE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conceito mais subestimado do curso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11480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saída é o texto LITERAL que o modelo recebe, com os tokens especiais do formato. Ollama, llama.cpp e vLLM aplicam isso automaticamente, e é por isso que ninguém percebe que existe.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230880"/>
            <a:ext cx="4114800" cy="2758440"/>
          </a:xfrm>
          <a:prstGeom prst="roundRect">
            <a:avLst>
              <a:gd name="adj" fmla="val 3315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3377184"/>
            <a:ext cx="3675888" cy="2465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por isso que: usar o template errado degrada o modelo sem dar erro nenhum; tool calling só funciona se o template souber renderizar ferramentas; e a flag --jinja do llama-server existe.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120640" y="1691640"/>
            <a:ext cx="640080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5321808" y="1828800"/>
            <a:ext cx="599846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mensagens = [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{"role": "system", "content": "Voce e util."},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{"role": "user", "content": "Oi"},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print(tok.apply_chat_template(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mensagens, tokenize=False, add_generation_prompt=True))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&lt;|im_start|&gt;system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Voce e util.&lt;|im_end|&gt;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&lt;|im_start|&gt;user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Oi&lt;|im_end|&gt;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&lt;|im_start|&gt;assistant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 template tambem renderiza ferramentas: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print(tok.apply_chat_template(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mensagens, tools=[schema_json], tokenize=False))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QUEBRA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Sintomas de chat template errado</a:t>
            </a:r>
            <a:endParaRPr lang="en-US" sz="3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383280"/>
                <a:gridCol w="36576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Sintoma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 provável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Correção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responde bem, mas ignora o 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 sem suporte a 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Concatene as instruções na primeira mensagem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calling não funciona nunca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 sem renderização de ferramentas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--jinja, ou troque de modelo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Respostas com marcadores visíveis no texto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 aplicado duas vezes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aplique manualmente se o servidor já aplica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Qualidade cai muito com o mesmo modelo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 genérico em vez do próprio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Confira o tokenizer_config do repositório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modelo continua o próprio texto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Faltou add_generation_prompt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Ative o parâmetro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DO BLOCO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perguntas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61872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mesmo texto ocupa mais tokens em português?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onde isso aparece no projeto?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4736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65904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11" name="Text 9"/>
          <p:cNvSpPr/>
          <p:nvPr/>
        </p:nvSpPr>
        <p:spPr>
          <a:xfrm>
            <a:off x="4565904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6528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modelo realmente recebe?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5904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lista de dicionários, ou texto?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9392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9056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/>
        </p:spPr>
      </p:sp>
      <p:sp>
        <p:nvSpPr>
          <p:cNvPr id="16" name="Text 14"/>
          <p:cNvSpPr/>
          <p:nvPr/>
        </p:nvSpPr>
        <p:spPr>
          <a:xfrm>
            <a:off x="829056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11184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funciona por causa de quê?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90560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modelo, do servidor ou do template?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9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560320" y="2057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Pipelines prontos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60320" y="3200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tarefas que já estão resolvidas.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QUE MUDA O JULGAMENTO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a tarefa tem nome, já existe um modelo pequeno</a:t>
            </a:r>
            <a:endParaRPr lang="en-US" sz="3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a resolve melhor que um LLM.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388360"/>
            <a:ext cx="10149840" cy="264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sentimento tem nome. Extração de resposta tem nome. Classificação tem nome. Pesquisar sobre um assunto, cruzar com nossos documentos e escrever um relatório crítico não tem nome, e é aí que o agente ganha.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CATÁLOGO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tarefas, cinco modelos, tempos de CPU</a:t>
            </a:r>
            <a:endParaRPr lang="en-US" sz="3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1828800"/>
                <a:gridCol w="21031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típico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Tamanho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Latência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sentiment-analysis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nlptown/bert-base-multilingual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cerca de 670 MB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cerca de 30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zero-shot-classification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MoritzLaurer/mDeBERTa-v3-base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cerca de 560 MB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cerca de 50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question-answering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deepset/xlm-roberta-base-squad2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cerca de 1,1 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cerca de 40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csebuetnlp/mT5_multilingual_XLSum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cerca de 2,3 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cerca de 300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text-generation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Qwen/Qwen3-0.6B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cerca de 1,2 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cerca de 200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DE ARQUITETURA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Nem toda decisão precisa de um LLM.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149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classificador de trezentos megabytes que acerta 95% das vezes é melhor que um LLM de 4B que acerta 92% e demora sessenta vezes mais. Use o LLM onde é preciso generalizar; use modelo pequeno onde a tarefa é fechada. O roteamento inicial do supervisor é uma tarefa fechada.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DIRETA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classificador no lugar da primeira decisão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3931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em cerca de 50 milissegundos, contra cerca de 3 segundos de uma chamada ao LLM local. E é determinístico.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61488"/>
            <a:ext cx="3931920" cy="3227832"/>
          </a:xfrm>
          <a:prstGeom prst="roundRect">
            <a:avLst>
              <a:gd name="adj" fmla="val 2833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907792"/>
            <a:ext cx="3493008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campo origem_decisao permite medir depois quantas decisões foram baratas, e justificar a arquitetura com número, e não com opinião.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937760" y="1691640"/>
            <a:ext cx="658368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5138928" y="1828800"/>
            <a:ext cx="618134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transformers import pipeline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clf = pipeline("zero-shot-classification",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model="MoritzLaurer/mDeBERTa-v3-base-mnli-xnli")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clf("Quanto foi o faturamento do trimestre?",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candidate_labels=["pesquisa", "calculo",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"escrita", "conversa"])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print(r["labels"][0], round(r["scores"][0], 3))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no_supervisor(estado):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estado.get("rodadas", 0) == 0: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rot, nota = rotear_barato(estado["pergunta"])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rot: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{"proximo": rot,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"origem_decisao": "classificador"}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 # so entao gasta uma chamada de LLM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EM LOTE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116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parâmetro separa o script útil do inutilizável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094992"/>
            <a:ext cx="448056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Processar mil avaliações uma a uma leva minutos. Em lotes de dezesseis, leva segundos.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930144"/>
            <a:ext cx="4480560" cy="3059176"/>
          </a:xfrm>
          <a:prstGeom prst="roundRect">
            <a:avLst>
              <a:gd name="adj" fmla="val 2989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3076448"/>
            <a:ext cx="4041648" cy="2766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truncation=True evita que uma avaliação longa derrube o script inteiro. Presente em todo processamento de dado real.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0" y="2094992"/>
            <a:ext cx="6035040" cy="3894328"/>
          </a:xfrm>
          <a:prstGeom prst="roundRect">
            <a:avLst>
              <a:gd name="adj" fmla="val 234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5687568" y="2232152"/>
            <a:ext cx="5632704" cy="362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transformers import pipeline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analisador = pipeline(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"sentiment-analysis",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model="nlptown/bert-base-multilingual-"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"uncased-sentiment")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pd.read_csv("dados/avaliacoes.csv")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resultados = analisador(df["texto"].tolist(),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batch_size=16,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truncation=True)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 rotulo e string ("4 stars"), nao numero: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cada modelo rotula a sua maneira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df["estrelas"] = [int(r["label"][0]) for r in resultados]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df["confianca"] = [round(r["score"], 3) for r in resultados]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print(df.groupby("produto")["estrelas"]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.agg(["mean", "count"]).sort_values("mean"))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APLICADO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corte por score é a lição de arquitetura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Classificar produtos em seis categorias sem ter treinado nada para isso. O mesmo pipeline do roteamento, num problema de negócio.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61488"/>
            <a:ext cx="4480560" cy="3227832"/>
          </a:xfrm>
          <a:prstGeom prst="roundRect">
            <a:avLst>
              <a:gd name="adj" fmla="val 2833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907792"/>
            <a:ext cx="4041648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classificador que sempre devolve alguma categoria é perigoso. Um que separa o que não sabe e manda para revisão humana é utilizável.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0" y="1691640"/>
            <a:ext cx="603504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5687568" y="1828800"/>
            <a:ext cx="563270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categorias = ["eletronicos", "vestuario",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"alimentos", "casa e decoracao",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"esporte", "livros"]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clf = pipeline("zero-shot-classification",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model="MoritzLaurer/mDeBERTa-v3-base-mnli-xnli")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categorizar(descricao: str) -&gt; tuple[str, float]: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clf(descricao, candidate_labels=categorias)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r["labels"][0], round(r["scores"][0], 3)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df["categoria"], df["score"] = zip(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*df["descricao"].map(categorizar))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score baixo = a categoria certa nao esta na lista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duvidosos = df[df["score"] &lt; 0.5]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print(f"{len(duvidosos)} itens precisam de revisao")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VIZINHOS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com LLM contra question answering extrativo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98448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com LLM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4709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GERADA pelo modelo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alucinar, mesmo com contexto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o que não está lá, inventando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Reformula, resume, junta fontes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 5 segundos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3E7D5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22008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extrativo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709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RECORTADA do texto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alucina: só copia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 score baixo quando não sabe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reformula nem resume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 de 40 milissegundos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HÍBRIDO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Rápido no caso comum, capaz no caso difícil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6634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Junte os dois: recuperação semântica para reduzir o universo, extração para responder, geração só quando necessário.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61488"/>
            <a:ext cx="4663440" cy="3227832"/>
          </a:xfrm>
          <a:prstGeom prst="roundRect">
            <a:avLst>
              <a:gd name="adj" fmla="val 2833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907792"/>
            <a:ext cx="4224528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Meça quantas das dez perguntas foram resolvidas sem chamar o LLM nenhuma vez. Esse número é o valor do exercício.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0" y="1691640"/>
            <a:ext cx="585216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5870448" y="1828800"/>
            <a:ext cx="544982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qa = pipeline("question-answering",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model="deepset/xlm-roberta-base-squad2")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CORTE = 0.35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responder(pergunta: str) -&gt; str: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trechos = banco.similarity_search(pergunta, k=3)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contexto = "\n\n".join(d.page_content for d in trechos)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qa(question=pergunta, context=contexto)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r["score"] &gt;= CORTE: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f"{r['answer']}  [citacao literal]"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so agora o LLM entra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llm.invoke([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SystemMessage(f"Responda usando so:\n{contexto}"),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HumanMessage(pergunta)]).content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Laboratório da manhã: substituir uma decisão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184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o ambiente e rodar dois pipelines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75104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e zero-shot, cronometrados, com o modelo carregado uma vez só.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47802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45059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a primeira decisão do supervisor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807208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Classificador zero-shot com corte por confiança, e queda para o LLM abaixo do corte.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3101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28269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a concordância em vinte perguntas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639312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Classificador contra LLM. Anote a taxa e o tempo médio de cada um.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1422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11480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a origem de cada decisão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471416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campo origem_decisao no estado, e a contagem ao fim da execução.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9743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494690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Extensão: o FAQ híbrido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5303520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extrativo antes do LLM, com duas perguntas fora da base para testar as recusas.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9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560320" y="2057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Embeddings, rerank e avaliação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60320" y="3200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com critério o que até agora foi escolhido no chute.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Escolhendo um modelo de embedding</a:t>
            </a:r>
            <a:endParaRPr lang="en-US" sz="34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0408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que importa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Multilíngue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base do aluno está em português; modelo só de inglês perde muito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Dimensão do vetor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 é mais rápido e menor que 1024, com pouca perda em base pequena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Tamanho máximo de entrada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o chunk tem 800 caracteres, 512 tokens já basta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Prefixos de instrução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Algumas famílias pedem prefixo em consulta e em passagem. Ignorar isso derruba a qualidade sem dar erro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Licença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Mesmo critério dos LLMs; verifique antes de embutir no produto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ESTÁGIOS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97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Rerank: a melhoria de RAG com melhor relação custo-benefício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906016"/>
            <a:ext cx="3931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vetorial é rápida e imprecisa. Um cross-encoder é lento e preciso. Combine: busque vinte, reordene, entregue quatro.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975864"/>
            <a:ext cx="3931920" cy="3013456"/>
          </a:xfrm>
          <a:prstGeom prst="roundRect">
            <a:avLst>
              <a:gd name="adj" fmla="val 3034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3122168"/>
            <a:ext cx="3493008" cy="2720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ganho de qualidade nos trechos costuma ser grande, e o custo é baixo porque o cross-encoder só vê vinte pares, e não a base inteira.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Meça antes e depois nas mesmas cinco perguntas: é o exercício.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937760" y="1906016"/>
            <a:ext cx="6583680" cy="4083304"/>
          </a:xfrm>
          <a:prstGeom prst="roundRect">
            <a:avLst>
              <a:gd name="adj" fmla="val 2239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5138928" y="2043176"/>
            <a:ext cx="6181344" cy="3808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sentence_transformers import CrossEncoder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reranker = CrossEncoder(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"cross-encoder/mmarco-mMiniLMv2-L12-H384-v1")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buscar_com_rerank(consulta, k=4):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brutos = banco.similarity_search(consulta, k=20)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pares = [(consulta, d.page_content) for d in brutos]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notas = reranker.predict(pares)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ordenados = sorted(zip(notas, brutos),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key=lambda x: -x[0])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[d for _, d in ordenados[:k]]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DA BUSCA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Reformulação de query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2976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 melhora a ORDENAÇÃO dos candidatos. Reformulação melhora o que entra na busca ANTES de ela acontecer. A pergunta do usuário raramente é a melhor consulta para um vector store: ela é conversacional, tem pronomes e referências implícitas.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465576"/>
            <a:ext cx="4297680" cy="2523744"/>
          </a:xfrm>
          <a:prstGeom prst="roundRect">
            <a:avLst>
              <a:gd name="adj" fmla="val 3623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3611880"/>
            <a:ext cx="3858768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pergunta como e o de 2023, num histórico sobre faturamento de 2024, vira faturamento da Cooperativa Vale Verde em 2023.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Reformulação, busca e rerank atacam pontos diferentes do mesmo pipeline e se combinam sem conflito.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303520" y="1691640"/>
            <a:ext cx="621792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5504688" y="1828800"/>
            <a:ext cx="581558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"""Reescreva a pergunta como consulta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autocontida, sem pronomes nem referencias.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Devolva so a consulta.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Historico: {historico}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Pergunta: {pergunta}"""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reescrever(llm, pergunta, historico):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llm.invoke(PROMPT.format(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historico=historico,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pergunta=pergunta)).content.strip()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FERRAMENTAS, DOIS PROBLEMAS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Observabilidade é o que o pipeline FEZ.</a:t>
            </a:r>
            <a:endParaRPr lang="en-US" sz="3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é se o que ele fez estava CERTO.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10149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aqui medimos que funcionou numa pergunta. Um sistema em produção precisa de medição contínua dos dois lados, e são ferramentas diferentes, não a mesma coisa com nomes diferentes. O traço do dia 4 responde a primeira; o conjunto de avaliação responde a segunda.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DE RAG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métricas, três tipos de falha</a:t>
            </a:r>
            <a:endParaRPr lang="en-US" sz="34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297680"/>
                <a:gridCol w="40233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 que responde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Pega qual falha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resposta é sustentada pelo contexto recuperado?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Alucinação mesmo com RAG: é o prompt do gerador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answer_relevancy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resposta de fato responde à pergunta?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Resposta correta mas fora do assunto ou incompleta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context_precision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trechos recuperados eram relevantes?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Falha de busca: chunking, embedding ou k mal ajustados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CONJUNTO DE AVALIAÇÃO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Dez perguntas, e a tabela que decide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3794760"/>
          </a:xfrm>
          <a:prstGeom prst="roundRect">
            <a:avLst>
              <a:gd name="adj" fmla="val 2410"/>
            </a:avLst>
          </a:prstGeom>
          <a:solidFill>
            <a:srgbClr val="0F0C1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424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avaliacao/casos.jsonl - uma linha por caso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{"id": "q1", "pergunta": "Qual foi o faturamento de 2024?",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"esperado": "R$ 4,2 milhoes", "fonte": "2024_relatorio.md"}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{"id": "q2", "pergunta": "Some 2023 e 2024 e diga a media.",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"esperado": "R$ 3,85 milhoes", "fonte": "2023_relatorio.md,2024_relatorio.md"}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{"id": "q3", "pergunta": "Quem e o presidente da cooperativa em 2030?",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"esperado": "RECUSAR", "fonte": ""}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rodar e comparar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cada caso: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resposta, fontes, tokens, segundos = nexus(caso["pergunta"])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acertou   = confere(resposta, caso["esperado"])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citou_ok  = set(fontes) &gt;= set(caso["fonte"].split(","))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registrar(caso["id"], acertou, citou_ok, tokens, segundos)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55778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caso q3 é o mais importante do conjunto: a resposta certa é recusar. Um sistema que nunca recusa não é confiável, é apenas confiante.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NÃO HÁ RESPOSTA ÚNICA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como juiz, e os cuidados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184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quando a resposta é texto livre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75104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string não funciona para um relatório de trezentas palavras. Um juiz com rubrica funciona.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49859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985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47116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rubrica precisa ser verificável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827782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critério respondido com sim ou não, olhando o texto. Nota de zero a dez sem rubrica é ruído.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3512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32384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um modelo diferente do que gerou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680460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Juiz e gerador iguais tendem a concordar consigo mesmos. É o mesmo argumento do Crítico independente do dia 4.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20395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0395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17652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Calibre contra julgamento humano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533138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Rotule vinte casos à mão e compare com o juiz. Se a concordância for baixa, conserte a rubrica antes de confiar.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Laboratório da tarde: medir para decidir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184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o modelo de embedding e reindexar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75104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por critério, leia o card, e verifique se ele exige prefixo.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47802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45059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Ligar o rerank em dois estágios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807208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vinte, reordenar, entregar quatro. Meça o tempo antes e depois.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3101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28269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dez casos de avaliação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639312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pelo menos dois cuja resposta correta é recusar.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1422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11480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a bateria antes e depois do rerank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471416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colunas: acertou, citou a fonte certa, tokens, segundos.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9743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494690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Concluir com número, não com impressão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5303520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frase: o rerank mudou o acerto de X para Y e custou Z segundos a mais.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9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560320" y="2057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smolagents e deploy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60320" y="3200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um harness inteiro, e colocar algo no ar.</a:t>
            </a:r>
            <a:endParaRPr lang="en-US" sz="1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 FORMA DE AGIR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CodeAgent: o modelo escreve código, não JSON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297680" cy="1030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conceitual: o agente não emite tool call em JSON. Ele escreve código Python que chama as ferramentas, e o harness executa esse código num sandbox.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996184"/>
            <a:ext cx="4297680" cy="2993136"/>
          </a:xfrm>
          <a:prstGeom prst="roundRect">
            <a:avLst>
              <a:gd name="adj" fmla="val 3055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3142488"/>
            <a:ext cx="3858768" cy="2700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Vantagem: composição natural, com laços, condicionais e variáveis intermediárias, e menos idas e voltas.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Desvantagem: executar código gerado por LLM exige sandbox de verdade. Por isso o smolagents oferece execução em Docker ou em serviço isolado.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303520" y="1691640"/>
            <a:ext cx="621792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5504688" y="1828800"/>
            <a:ext cx="581558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smolagents import CodeAgent, TransformersModel, tool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calcular(expressao: str) -&gt; str: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"""Avalia uma expressao aritmetica.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Args: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expressao: a expressao, ex '2+2'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= TransformersModel("Qwen/Qwen3-1.7B")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agente = CodeAgent(tools=[calcular], model=modelo)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agente.run("Some os numeros de 1 a 100 e divida por 7")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 modelo gera: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soma = sum(range(1, 101))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print(calcular(f"{soma} / 7"))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GUIADA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Vinte minutos lendo um harness inteiro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184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 o loop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75104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existe, é curto, e é reconhecível. Compare com as suas sessenta linhas do dia 1.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47802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45059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 as condições de parada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807208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são? Onde estão? São as mesmas quatro que você implementou?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3101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28269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 a montagem de contexto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639312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prompt final é montado, e o que entra nele além das mensagens.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1422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11480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 o ponto de execução da ferramenta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471416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ali que um PreToolUse entraria. Existe algum gancho pronto?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9743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494690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 o sandbox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5303520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código gerado é isolado, e o que acontece quando não há isolamento configurado.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DO TEXTO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metodologia, num domínio que não foi ensinado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846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Remoção de fundo é tarefa de visão, resolvida por modelos de segmentação. O ponto pedagógico não é a imagem.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61488"/>
            <a:ext cx="4846320" cy="3227832"/>
          </a:xfrm>
          <a:prstGeom prst="roundRect">
            <a:avLst>
              <a:gd name="adj" fmla="val 2833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907792"/>
            <a:ext cx="4407408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no Hub por tarefa, ler o card, instalar, chamar, avaliar. O aluno acabou de aplicar a metodologia da manhã a algo que não foi ensinado, que é o que se espera dele depois do curso.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852160" y="1691640"/>
            <a:ext cx="566928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6053328" y="1828800"/>
            <a:ext cx="526694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pip install rembg pillow onnxruntime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rembg import remove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PIL import Image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remover_fundo(entrada: str, saida: str) -&gt; str: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img = Image.open(entrada)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resultado = remove(img)   # RGBA, fundo transparente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resultado.save(saida)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saida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interface, para quem nao tem Python: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gradio as gr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= gr.Interface(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fn=lambda img: remove(img),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inputs=gr.Image(type="pil"),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outputs=gr.Image(type="pil"),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title="Removedor de fundo")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demo.launch()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SPACES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arquivos e um git push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84632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Spaces hospeda de graça no tier de CPU. O cabeçalho YAML do README é o que ele lê como configuração.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26792"/>
            <a:ext cx="4846320" cy="3462528"/>
          </a:xfrm>
          <a:prstGeom prst="roundRect">
            <a:avLst>
              <a:gd name="adj" fmla="val 2641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673096"/>
            <a:ext cx="4407408" cy="316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Space ficar preso em Building, confira o sdk_version: uma versão que não existe trava o build sem mensagem clara.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852160" y="1691640"/>
            <a:ext cx="566928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6053328" y="1828800"/>
            <a:ext cx="526694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meu-space/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app.py             # a interface Gradio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requirements.txt   # gradio, rembg, pillow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README.md          # com o cabecalho abaixo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README.md ---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title: Removedor de Fundo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emoji: camera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colorFrom: indigo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colorTo: purple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sdk: gradio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sdk_version: 5.9.1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app_file: app.py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terminal ---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huggingface-cli login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\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https://huggingface.co/spaces/USUARIO/removedor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 &amp;&amp; git commit -m "primeira versao"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main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QUE ALGUÉM TENTE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avisos sobre o Spaces</a:t>
            </a:r>
            <a:endParaRPr lang="en-US" sz="34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39319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Aviso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quê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fazer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tier gratuito é CPU com 16 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 para modelos pequenos; um LLM de 4B não cabe confortavelmente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publique o NEXUS lá; só a demonstração pequena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Space é um repositório Git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chave comitada é uma chave vazada, e o histórico guarda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os secrets do repositório. Nunca no código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SISTEMA RODA DE VERDADE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destinos, quatro perfis</a:t>
            </a:r>
            <a:endParaRPr lang="en-US" sz="34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206240"/>
                <a:gridCol w="41148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Bom para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Cuidado principal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Máquina do usuário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 interna, dado sensível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máquina precisa do modelo e da manutenção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Servidor próprio com GPU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Equipe inteira, vLLM servindo vários agentes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Fila, concorrência e memória compartilhada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em nuvem privada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 que já tem plataforma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de GPU ociosa; considere autoescala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Serviço gerenciado de agentes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não quer operar infraestrutura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dado sai da sua rede; verifique antes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FECHO DO BLOCO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projeto que só roda no seu terminal</a:t>
            </a:r>
            <a:endParaRPr lang="en-US" sz="3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existe para mais ninguém.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10149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importa se o destino é um Space gratuito, um container interno ou o notebook de um colega: em algum momento outra pessoa precisa conseguir usar o que você construiu, sem você por perto. Esse é o teste final de qualquer sistema.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9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560320" y="2057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NEXUS final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60320" y="3200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por papel, o método de depuração e o fechamento.</a:t>
            </a:r>
            <a:endParaRPr lang="en-US" sz="17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PRINCIPAL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modelo por papel, com justificativa</a:t>
            </a:r>
            <a:endParaRPr lang="en-US" sz="34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1188720"/>
                <a:gridCol w="53035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quê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qwen3:1.7b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Roda a cada transição; decisão curta e estruturada. É onde modelo pequeno economiza mais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pesquisador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qwen3:4b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Precisa seguir instrução e ler trechos longos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analista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qwen3:1.7b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orquestra a ferramenta calcular; a conta não é dele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qwen3:8b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Roda uma vez; vale o modelo mais capaz. Temperatura maior evita texto repetitivo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qwen3:4b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 ser rigoroso e determinístico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JUSTIFICAR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ficha de escolha de modelo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184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tarefa deste papel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75104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frase, e sem adjetivos. Decidir entre cinco opções é diferente de escrever quatrocentas palavras.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49859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985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47116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vezes ele roda por execução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827782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roda a cada transição merece o modelo mais barato que resolve.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3512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32384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quebra se o modelo for pequeno demais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680460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inválido? Texto pobre? Escolha errada de ferramenta? Cada falha aponta um requisito.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20395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0395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17652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foi a medição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533138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Vinte execuções, taxa de acerto, tempo médio. É a linha que transforma escolha em decisão.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fazer quando não funciona, nesta ordem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184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está recebendo o que você acha?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75104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Imprima o prompt final, com template aplicado. Metade dos problemas morre aqui.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47802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45059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ferramenta funciona sozinha, no REPL?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807208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Chame invoke direto na ferramenta. Se falha aqui, não é problema de agente.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3101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28269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consegue chamar a ferramenta?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639312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bind_tools e olhe tool_calls. Vazio? É o modelo, o servidor ou o schema.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1422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11480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roteamento e o estado estão certos?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471416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o roteador com estados falsos, sem LLM. Campo vazio no estado costuma ser reducer faltando.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9743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494690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passos e quantos tokens?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5303520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Explodiu: é loop. Muito curto: é parada prematura. Só DEPOIS disso tudo, mexa no prompt.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PERCORRIDO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sessenta linhas a um sistema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480310" cy="1920240"/>
          </a:xfrm>
          <a:prstGeom prst="roundRect">
            <a:avLst>
              <a:gd name="adj" fmla="val 4762"/>
            </a:avLst>
          </a:prstGeom>
          <a:solidFill>
            <a:srgbClr val="F2F0F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11680"/>
            <a:ext cx="22059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C3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2926080"/>
            <a:ext cx="22059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escrito à mão, no dia 1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40430" y="1828800"/>
            <a:ext cx="2480310" cy="1920240"/>
          </a:xfrm>
          <a:prstGeom prst="roundRect">
            <a:avLst>
              <a:gd name="adj" fmla="val 4762"/>
            </a:avLst>
          </a:prstGeom>
          <a:solidFill>
            <a:srgbClr val="F2F0F7"/>
          </a:solidFill>
          <a:ln/>
        </p:spPr>
      </p:sp>
      <p:sp>
        <p:nvSpPr>
          <p:cNvPr id="8" name="Text 6"/>
          <p:cNvSpPr/>
          <p:nvPr/>
        </p:nvSpPr>
        <p:spPr>
          <a:xfrm>
            <a:off x="3577590" y="2011680"/>
            <a:ext cx="22059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C3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77590" y="2926080"/>
            <a:ext cx="22059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 no sistema final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40780" y="1828800"/>
            <a:ext cx="2480310" cy="1920240"/>
          </a:xfrm>
          <a:prstGeom prst="roundRect">
            <a:avLst>
              <a:gd name="adj" fmla="val 4762"/>
            </a:avLst>
          </a:prstGeom>
          <a:solidFill>
            <a:srgbClr val="F2F0F7"/>
          </a:solidFill>
          <a:ln/>
        </p:spPr>
      </p:sp>
      <p:sp>
        <p:nvSpPr>
          <p:cNvPr id="11" name="Text 9"/>
          <p:cNvSpPr/>
          <p:nvPr/>
        </p:nvSpPr>
        <p:spPr>
          <a:xfrm>
            <a:off x="6377940" y="2011680"/>
            <a:ext cx="22059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C3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377940" y="2926080"/>
            <a:ext cx="22059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diferentes por função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41130" y="1828800"/>
            <a:ext cx="2480310" cy="1920240"/>
          </a:xfrm>
          <a:prstGeom prst="roundRect">
            <a:avLst>
              <a:gd name="adj" fmla="val 4762"/>
            </a:avLst>
          </a:prstGeom>
          <a:solidFill>
            <a:srgbClr val="F2F0F7"/>
          </a:solidFill>
          <a:ln/>
        </p:spPr>
      </p:sp>
      <p:sp>
        <p:nvSpPr>
          <p:cNvPr id="14" name="Text 12"/>
          <p:cNvSpPr/>
          <p:nvPr/>
        </p:nvSpPr>
        <p:spPr>
          <a:xfrm>
            <a:off x="9178290" y="2011680"/>
            <a:ext cx="22059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C3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178290" y="2926080"/>
            <a:ext cx="22059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chamadas a API paga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4069080"/>
            <a:ext cx="10881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Volte ao dia 1 e releia as sessenta linhas do primeiro agente. Tudo o que veio depois, LangChain, LangGraph, supervisor, Send, checkpointer, Hugging Face, são camadas sobre aquele loop.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FECHANDO A TABELA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cinco camadas, ao fim da semana</a:t>
            </a:r>
            <a:endParaRPr lang="en-US" sz="34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3210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Camada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ela está no NEXUS final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Cinco prompts de papel, descriptions de ferramenta, ordem de preferência entre elas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Hooks de PreToolUse, sandbox de caminho, limite de passos e de rodadas, aprovação humana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Crítico com rubrica, o retry de validação, os testes sem LLM, o conjunto de avaliação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Checkpointer com thread_id por dono, store semântico, poda de contexto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 com especialistas, paralelismo por Send, um modelo por papel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HONESTIDADE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este curso NÃO cobriu</a:t>
            </a:r>
            <a:endParaRPr lang="en-US" sz="34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6751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cobrimos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continuar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Avaliação em escala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Benchmarks, conjuntos de regressão grandes, avaliação contínua em produção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avançado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GraphRAG, busca híbrida com BM25, HyDE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Fine-tuning e LoRA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peft, trl e as bibliotecas de treino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Segurança em profundidade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Injeção de prompt, sandbox real, princípio do menor privilégio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Filas, retries, custo, SLO, autoescala de GPU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Escrever um servidor MCP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Nós consumimos MCP; escrever o seu é o passo seguinte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Agentes de computador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Navegador, interface gráfica, harnesses focados em repositório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 PÓS-CURSO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continuar estudando com método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184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o código de um harness pequeno, inteiro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75104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smolagents é o melhor candidato. Ler um sistema completo ensina mais que dez tutoriais.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47802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45059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Reimplemente uma peça do zero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807208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ensina como reescrever o ToolNode e comparar com o original.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3101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28269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Mantenha o caderno de falhas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639312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é o seu conjunto de testes de regressão informal, e o insumo do próximo projeto.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1422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11480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Acompanhe changelogs, não influenciadores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471416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LangGraph, vLLM e transformers têm notas de versão boas e honestas.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9743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494690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Meça antes de opinar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5303520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Dizer que um modelo é melhor para agente sem uma tabela é ruído.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SETE PRINCÍPIOS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levar como princípio, não como código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149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 modelo é uma peça; o sistema é o harness.   2. Contexto é recurso escasso: gaste-o com intenção.   3. Ferramenta boa erra com mensagem útil.   4. Todo ciclo precisa de um limite explícito.   5. Nem toda decisão precisa de LLM.   6. Comece com um agente; divida com evidência.   7. Meça antes de opinar.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Dez dias, um domínio, três agentes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184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um domínio real, não pesquisa genérica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75104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Jurídico, financeiro, suporte, compras, acadêmico, operações. O NEXUS já é pesquisa genérica.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47802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45059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Mínimo: 3 agentes, 5 ferramentas, 2 modelos, 1 componente não-LLM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807208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local. Nenhuma chamada a API paga.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3101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28269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 perguntas de teste com resposta anotada à mão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639312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 tabela de resultados, com pelo menos duas perguntas cuja resposta certa é recusar.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1422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11480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documento de análise com três falhas em profundidade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471416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aconteceu, a hipótese, o que você tentou, o que funcionou. É o que separa o trabalho bom do mediano.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9743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494690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apresentação, mostre uma pergunta que o sistema erra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5303520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uma falha vale mais do que escondê-la. Sistemas de agente falham; a competência está em saber por quê.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5 - Hugging Face, escolha de modelos, avaliação e deploy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 5 - Hugging Face, avaliação e a solução final</dc:title>
  <dc:subject>PptxGenJS Presentation</dc:subject>
  <dc:creator>Curso Multi-Agente com Modelos Locais</dc:creator>
  <cp:lastModifiedBy>Curso Multi-Agente com Modelos Locais</cp:lastModifiedBy>
  <cp:revision>1</cp:revision>
  <dcterms:created xsi:type="dcterms:W3CDTF">2026-08-31T15:43:25Z</dcterms:created>
  <dcterms:modified xsi:type="dcterms:W3CDTF">2026-08-31T15:43:25Z</dcterms:modified>
</cp:coreProperties>
</file>