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DIGA — Hoje é o dia que mais muda a forma de escrever o código de vocês. Ontem trocamos peças; hoje trocamos a representação: controle de fluxo deixa de ser código e vira estrutura de dados.
FAÇA — Retome as quatro perguntas que ficaram no quadro ontem: pausar para aprovação, retomar amanhã, dois caminhos conforme o resultado, três análises em paralelo. Diga que as quatro são respondidas hoje, exceto o paralelismo entre agentes, que é amanhã.
SE PERGUNTAREM 'preciso ter terminado o RAG de ontem?' — Ajuda e não é bloqueante. O dia começa no grafo, e o RAG entra como uma ferramenta a mais na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09:05 - 09:35, 30 min]
O QUE ESTE BLOCO ENTREGA - a turma entende que LangGraph não é um framework melhor, e sim outra representação do mesmo problema.
ROTEIRO - cinco pedidos que quebram o loop (6) · a troca de representação (4) · o loop de ontem desenhado (6) · o que grafo compra (5) · quando NÃO usar grafo (5) · checkpoint (4).
SE O TEMPO APERTAR - 'quando NÃO usar' pode sair, mas é o slide que evita adoção por moda.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Junte os cinco e você tem uma função de trezentas linhas que ninguém entende, inclusive quem escreveu. E repare que nenhum dos cinco pedidos é exótico: todos aparecem no primeiro projeto real.
FAÇA — Pergunte quais dos cinco a turma já precisou fazer no trabalho. Costuma ser três ou quatro. Isso ancora o resto do dia.
SE PERGUNTAREM 'não dá para resolver com classes e um pouco de disciplina?' — Dá, e o que você vai construir é um motor de grafo pior. O ponto não é que seja impossível, é que já existe e é padronizado.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DIGA — Este é o argumento central do dia. Não venda o LangGraph como framework melhor: venda como mudança de representação. A diferença entre as duas vendas é que a segunda diz o que você ganha e o que paga.
FAÇA — Escreva no quadro: CONTROLE DE FLUXO VIRA DADO. Vai ficar lá o dia inteiro.
SE PERGUNTAREM 'e o custo?' — Curva de aprendizado de meio dia, mais uma dependência, mais indireção ao depurar. Para um script de vinte linhas não compensa. Para qualquer coisa com estado ou pausa, compensa no primeiro 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Isto não é um grafo novo: é o loop que vocês escreveram no dia 1, desenhado. As duas caixas são as duas metades daquele for, e a aresta condicional é o if not tool_calls.
FAÇA — Peça que desenhem o loop deles no papel ANTES de mostrar este slide. A maioria desenha exatamente isto, e descobrir isso sozinho vale mais que ouvir.
DIGA TAMBÉM — Repare que a seta de retorno, que ontem era uma linha de append, aqui é uma aresta nomeada. Ela deixou de ser detalhe de implementação e virou parte do desenho.
SE PERGUNTAREM 'onde ficou o max_passos?' — Vira um campo do estado e uma verificação dentro da função de roteamento. Deixou de ser variável de loop e virou dado, e é por isso que agora dá para inspecionar e persistir.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A linha mais subestimada é a terceira. Testar decisão de roteamento sem carregar modelo transforma o agente em software normal, com CI e tudo.
FAÇA — Aponte a última linha e diga que ela é o recurso que mais surpreende: dá para voltar a um checkpoint anterior e seguir por outro caminho. Vamos ver isso ainda hoje.
SE PERGUNTAREM 'e o custo de performance?' — Desprezível perto do custo de uma chamada de LLM. O checkpointer escreve em SQLite a cada nó, e isso é da ordem de milissegundos contra segundos de inferência.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Este slide existe para evitar adoção por moda. Grafo tem custo: mais indireção, mais conceitos, mais uma dependência. Se o seu problema é a coluna da esquerda, usar grafo é sobre-engenharia.
FAÇA — Peça um caso real da turma e classifiquem juntos. Costuma sair alguém com um caso da esquerda que já estava planejando um grafo.
SE PERGUNTAREM 'e se eu não souber ainda em qual coluna estou?' — Comece pela esquerda. Migrar de LCEL para grafo é fácil; desmontar um grafo desnecessário é chato e ninguém 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FAÇA — Deixe a turma responder antes de revelar. As três respostas estão no slide de propósito: é o mapeamento que faz a transição doer menos.
DIGA — Se as três estiverem claras, o resto do dia é vocabulário e prática.
SE PERGUNTAREM 'e a lista de mensagens?' — Virou um campo do estado com um reducer, e é exatamente o próximo bloco.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09:35 - 10:30, 55 min]
O QUE ESTE BLOCO ENTREGA - a turma constrói um grafo funcional do zero e sabe explicar o papel de cada uma das quatro peças.
ROTEIRO - estado e reducers (8) · o erro número um dos reducers (5) · nós, arestas e compilação (8) · desenhar antes de rodar (5) · nó de ferramentas à mão ou pronto (6) · o grafo completo em uma tela (6) · checkpoint (5).
SE O TEMPO APERTAR - o slide de desenhar pode virar demonstração de trinta segundos. Reducers não sai: é a origem dos bugs mais silenciosos do dia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DIGA — Gaste tempo aqui de verdade. Reducer é o conceito que a turma leva mais tempo para internalizar, e é o que causa os bugs mais silenciosos no dia 4, quando vários nós escrevem no mesmo campo ao mesmo tempo.
FAÇA — Escreva no quadro a regra em uma linha: sem reducer, substitui; com reducer, combina. E mostre que a escolha do reducer É uma decisão de projeto: operator.add para acumular fontes, mas substituição para tentativas, porque acumular tentativa não faz sentido.
DIGA TAMBÉM — O nó devolve só o delta, não o estado inteiro. Quem devolve o estado inteiro sobrescreve campos que outro nó acabou de escrever.
SE PERGUNTAREM 'e se dois nós paralelos escreverem no mesmo campo sem reducer?' — O LangGraph levanta erro, e é um bom erro: ele te obriga a decidir como combinar. É exatamente o problema do dia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Repare no penúltimo item da esquerda: não dá erro. O grafo roda, o agente responde, e a resposta é ruim. Esse é o pior tipo de bug, e é por isso que este slide existe separado.
FAÇA — Rode ao vivo a versão sem reducer e mostre o loop infinito. Trinta segundos de demonstração valem mais que cinco minutos de aviso.
SE PERGUNTAREM 'por que add_messages não é o padrão?' — Porque nem todo campo de lista quer anexar. Se o padrão fosse anexar, você teria o problema oposto em campos que deveriam substituir. Ser explícito é a escolha certa aqui.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DIGA — Quatro conceitos e quinze linhas. Nó é função, aresta é ligação, conditional edge é função que devolve o nome do próximo nó, e compile transforma a descrição num objeto executável.
FAÇA — Digite ao vivo, na ordem do slide. Depois rode grafo.get_graph().draw_ascii() na frente da turma: o desenho aparecendo do próprio código costuma ser o momento em que a ficha cai.
DIGA TAMBÉM — A função rotear é Python puro. Ela não chama modelo nenhum, e é por isso que ela é testável. Guarde isso: vamos escrever teste para ela no fim do dia.
SE PERGUNTAREM 'o nó pode devolver o estado inteiro?' — Pode, e é um erro comum. Devolver só o delta é o que permite que reducers façam sentido e que nós paralelos não briguem.
SE PERGUNTAREM 'dá para ter nó assíncrono?' — Dá: defina com async def e use ainvoke ou astream. O resto é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Hábito simples que separa quem depura rápido de quem depura no escuro. E ele fica ainda mais valioso no dia 4, quando o grafo tiver sete nós.
FAÇA — Coloque o draw_ascii num teste que roda no CI e falha se a topologia mudar sem aviso. É uma ideia que costuma agradar quem trabalha com revisão de código.
SE PERGUNTAREM 'o PNG precisa de internet?' — O draw_mermaid_png usa um serviço externo por padrão. Existe opção de renderizar local; para sala de aula, o draw_ascii resolve e não depende de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A ordem importa e é a mesma pedagogia do create_agent de ontem: manual primeiro, pronto depois. Quem começa pelo ToolNode não sabe o que ele faz, e não sabe onde olhar quando ele fizer algo inesperado.
FAÇA — Escreva a versão à mão ao vivo, rode, e só então troque pelo ToolNode e mostre que o resultado é idêntico.
SE PERGUNTAREM 'quando o ToolNode não serve?' — Quando você precisa interceptar cada chamada com política própria, que é exatamente o bloco de hooks desta tarde. Aí você escreve o seu, ou envolve o ToolNode.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Compare com o loop do dia 1 e conte as linhas: são parecidas. O que mudou não é quantidade de código, é onde a informação mora.
FAÇA — Aponte a linha do passos no rotear. Ontem isso era o range do for; hoje é um campo que você pode ler, salvar e mostrar na interface.
DIGA TAMBÉM — Repare que o SystemMessage é adicionado na chamada, e não guardado no estado. Isso é decisão de projeto: mantém o estado limpo e permite trocar o prompt entre execuções sem migrar dado salvo.
SE PERGUNTAREM 'e as outras condições de parada?' — Entram na mesma função rotear: repetição e teto de tokens viram mais dois campos do estado e mais dois ifs. É o exercício da manhã.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FAÇA — Deixe a turma responder. Respostas: (1) devolver o estado inteiro sobrescreve o que outro nó escreveu; devolva só o delta; (2) falta o reducer add_messages, e a observação não está voltando; (3) um campo com reducer operator.add, para acumular em vez de substituir.
DIGA — Se acertarem as três, o laboratório da manhã flui. Se travarem na terceira, volte ao slide de reducers.
SE PERGUNTAREM 'na 2 não pode ser prompt?' — Pode, mas é a segunda hipótese. Confira o reducer primeiro, porque é o defeito mais comum e o mais barato de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10:45 - 11:30, 45 min]
O QUE ESTE BLOCO ENTREGA - a turma tem conversa com memória sem escrever código de memória, e sabe separar sessão de usuário.
ROTEIRO - o checkpointer (7) · inspecionar e navegar o estado (6) · session managers e o dono da memória (6) · qual backend de checkpoint (5) · memória infinita não é bênção (6) · poda como nó do grafo (6) · enunciado do laboratório (3) · laboratório (48).
SE O TEMPO APERTAR - a poda pode virar exercício opcional. Session managers não sai: é falha de segurança quando fica de fora.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DIGA — Ontem a memória era a linha vazia da tabela das cinco camadas. Hoje ela é uma linha de configuração. É o maior ganho isolado do LangGraph, e sozinho já paga a mudança.
FAÇA — Demonstre ao vivo os dois threads: pergunte o nome no thread da Ana e depois no do Bruno. Ver o segundo responder que não sabe é o momento em que a turma entende.
DIGA TAMBÉM — Repare que não há classe Memoria, nem lista global, nem serialização. O estado inteiro é salvo porque ele já era um dado, e não variáveis espalhadas.
SE PERGUNTAREM 'ele salva depois de cada nó mesmo?' — Sim, e é isso que permite retomar exatamente de onde parou, inclusive no meio de uma execução interrompida.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Introduza aqui a ideia que sustenta a tarde: pausado é um estado legítimo e persistido, e não um processo esperando em memória. O agente pode estar pausado por três dias, num servidor que reiniciou duas vezes.
FAÇA — Rode o get_state_history na conversa da demonstração anterior e mostre a lista de checkpoints. Depois volte três passos e siga por outro caminho, ao vivo. Costuma ser o momento mais impressionante do dia.
SE PERGUNTAREM 'isso não vira um banco gigante?' — Vira, se você nunca limpar. Em produção você define retenção: por exemplo, apagar checkpoints intermediários de threads finalizadas há mais de trinta dias.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Este slide é curto e é o mais importante do bloco. O erro de aceitar thread_id vindo do cliente é exatamente equivalente a aceitar um id de usuário vindo do cliente, e ninguém faria isso num sistema web. Em agente, acontece o tempo todo.
FAÇA — Escreva no quadro o padrão: thread_id igual ao id do usuário autenticado, mais separador, mais id da conversa. Uma linha, e ela resolve o problema.
DIGA TAMBÉM — Isto é a camada de constraints aplicada à memória. Não é uma decisão de UX: é controle de acesso.
SE PERGUNTAREM 'e um agente sem usuário, tipo um job noturno?' — Aí o dono é o job, e o thread_id é o nome do job mais a data. O princípio é o mesmo: a chave deve ser derivada de algo que o servidor controla.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O erro que aparece na sala é database is locked: dois processos apontando para o mesmo arquivo SQLite. Não é bug do LangGraph, é como o SQLite funciona.
FAÇA — Diga qual você usa na demonstração e por quê. Para o curso, SqliteSaver resolve tudo.
SE PERGUNTAREM 'dá para trocar depois?' — Dá, é uma linha. Mas o dado não migra sozinho: histórico salvo em SQLite não aparece no Postgres. Planeje a migração se o histórico importar.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Este é o momento em que context engineering deixa de ser conceito e vira código. E repare no segundo item: a maioria das pessoas só se preocupa quando estoura, e o dano começa muito antes.
FAÇA — Mostre no traço de uma execução real quantos tokens o histórico já ocupa depois de cinco perguntas. O número costuma assustar.
DIGA TAMBÉM — Existe uma terceira estratégia, mais radical, que vem do dia 4: em vez de resumir, começar uma sessão nova com um estado de transferência estruturado. Resumo perde precisão; estado estruturado não.
SE PERGUNTAREM 'sumarizar não perde informação?' — Perde, e é o custo. Por isso o que é importante deve virar campo do estado, e não ficar solto no histórico esperando sobreviver ao resumo.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O ponto de arquitetura é onde a política mora. Como nó, ela aparece no desenho, tem teste próprio, e alguém revisando o grafo vê que ela existe. Como if dentro do loop, ela é invisível.
FAÇA — Aponte o RemoveMessage: é assim que se apaga do histórico com o reducer add_messages, por id. Tentar reatribuir a lista não funciona, porque o reducer anexa.
DIGA TAMBÉM — Repare que o resumo vai para um campo próprio do estado, e não de volta ao histórico. Assim ele não é podado na próxima rodada.
SE PERGUNTAREM 'onde entra esse nó no grafo?' — Antes do agente, com uma conditional edge que só desvia para ele quando o histórico passa do limite. Colocar em todo passo desperdiça uma chamada de modelo por volta.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+ 48 min de laboratório]
FAÇA — Leia os cinco e circule. O item 2 é onde a maioria trava, porque exige entender que o estado substitui a variável de loop.
DIGA — O item 4 é curto e vale muito: é a diferença entre um exercício de curso e um código que você deixaria perto de dado real.
NÃO FAÇA — Não deixe ninguém pular o draw_ascii. É o que pega nó órfão e aresta faltando antes de a pessoa gastar meia hora depurando.
SE PERGUNTAREM 'posso usar create_react_agent?' — Depois. Ele monta esse grafo pronto, e o objetivo do exercício é justamente montar à mão uma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13:15 - 14:05, 50 min]
O QUE ESTE BLOCO ENTREGA - a turma sai sabendo transformar regra escrita em regra executada, e com um registro de políticas testável no NEXUS.
ROTEIRO - sugestão contra restrição (6) · o ciclo de vida dos hooks (6) · políticas como funções (7) · a recusa é instrução (4) · sandbox em quatro níveis (5) · steering (6) · o achado contraintuitivo (4) · checkpoint (4).
SE O TEMPO APERTAR - sandbox vira leitura; o registro de políticas não sai, porque é entregável do laboratório da tarde.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A documentação da Anthropic é explícita nisso: diferentemente das instruções de um arquivo de contexto, que são consultivas, os hooks são determinísticos. A regra prática cabe numa frase: tudo que tiver consequência séria, apagar dado, publicar, gastar dinheiro, tocar em produção, precisa de restrição e não de sugestão.
FAÇA — Pergunte à turma quantas regras do prompt de sistema deles seriam restrições se pudessem. Costuma ser a maioria, e é o argumento do bloco.
DIGA TAMBÉM — Repare no terceiro item da esquerda: sugestão degrada com contexto longo. É o context rot outra vez, agora atacando as suas regras de segurança. A regra que estava no começo do prompt é justamente a que se perde.
SE PERGUNTAREM 'então o prompt não serve para regra nenhuma?' — Serve para o que não tem consequência séria: tom, formato, preferência de estilo. Reserve o prompt para orientar e o código para impedir.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O PreToolUse é o único que pode negar. Todos os outros observam ou reagem; ele decide. É essa capacidade de recusa que separa hook de logging, e é a mesma distinção do callback de ontem: callback observa, hook decide.
FAÇA — Aponte o Stop e explique o uso menos óbvio: verificar de forma determinística se a tarefa realmente terminou. É onde você impede o agente de dizer pronto sem rodar o teste.
SE PERGUNTAREM 'esses nomes são do Claude Code?' — São, e o conceito é geral. No nosso grafo, o PreToolUse é o ponto antes do ToolNode e o Stop é a conditional edge que decide ir para END. O que muda é o nome; a estrutura é a mesma.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DIGA — Quinze linhas transformam uma boa intenção em um mecanismo. O padrão de registro por decorador não é enfeite: ele permite que cada política more perto do módulo que ela protege, e que a lista cresça sem tocar no executor.
FAÇA — Escreva uma segunda política ao vivo, com a turma sugerindo qual. Costuma sair limite de tamanho de arquivo ou proibição de comando destrutivo.
DIGA TAMBÉM — Repare no contrato: devolver None é permitir, devolver string é negar com motivo. Contrato simples é contrato que as pessoas seguem.
SE PERGUNTAREM 'e política que precisa consultar o estado?' — Passe o estado como terceiro parâmetro. O padrão continua igual; o que muda é a assinatura.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DIGA — Esta é a ponte entre constraints e feedback. A recusa é uma restrição, mas o TEXTO da recusa é feedback. As duas camadas se encontram na mesma linha de código.
FAÇA — Peça que reescrevam ao vivo a mensagem de recusa da política que acabaram de escrever, no formato: o que foi negado, por quê, e o que fazer em vez disso.
SE PERGUNTAREM 'não estou dando um mapa para o agente contornar?' — Você está dando um mapa para ele acertar. A restrição continua valendo: dizer onde é permitido escrever não permite escrever fora.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A frase do título é o ponto: hook é lista de proibições que você imaginou; sandbox é o que sobra quando você não imaginou. Segurança séria precisa dos dois, porque a criatividade do modelo em achar caminhos não previstos é real.
FAÇA — Cite os dois extremos: o Codex CLI no modo padrão só escreve no diretório de trabalho e mantém a rede desligada; o Agent Zero entrega um Linux inteiro, mas dentro de um container descartável. As duas escolhas são coerentes, e o que as sustenta é o isolamento.
SE PERGUNTAREM 'preciso disso num agente interno?' — Precisa do primeiro nível sempre. Os outros três dependem de o agente executar código ou comando arbitrário. Se ele executa shell, precisa de container; não há meio-termo.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Steering é o terceiro mecanismo, e ele fica entre instruction e constraint. A instruction fala antes; a constraint impede; o steering corrige durante. Os três juntos são o que faz um agente longo terminar bem.
FAÇA — Dê o exemplo concreto do detector de repetição do dia 1: em vez de só abortar, ele pode injetar uma mensagem dizendo que a abordagem repetiu e sugerindo outra. Abortar é constraint; sugerir outra é steering.
DIGA TAMBÉM — Num grafo, steering é fácil porque o estado está acessível: um nó lê o histórico, detecta o padrão e devolve um delta. Num loop de trezentas linhas, isso é mais um if.
SE PERGUNTAREM 'isso não é o mesmo que Reflexion?' — Reflexion é o agente criticando a si mesmo. Steering é o harness corrigindo o agente. A diferença é quem detecta o desvio: no primeiro, o modelo; no segundo, o seu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DIGA — Frase de Birgitta Boeckeler, da Thoughtworks, na análise do caso do Codex. Vale escrever no quadro: é o argumento que justifica todo o trabalho de restrição deste bloco.
FAÇA — Ligue à arquitetura em camadas fixas que o time do Codex adotou: o agente não escolhe onde o arquivo vai, porque a estrutura já decidiu. Menos escolhas, menos erros.
SE PERGUNTAREM 'isso não limita o que o agente pode resolver?' — Limita o COMO, não o QUÊ. E o efeito medido é que ele resolve mais coisas, não menos, porque não se perde em caminhos ruins.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FAÇA — Deixe a turma responder. Respostas: (1) instruction, porque não tem consequência séria e é preferência de estilo; (2) constraint, porque é irreversível e precisa de garantia determinística; (3) steering, porque depende do que já aconteceu na execução.
DIGA — Se as três estiverem claras, a turma tem o vocabulário completo da camada de constraints.
SE PERGUNTAREM 'a 3 não poderia ser constraint?' — A parte de abortar no limite é constraint. A parte de sugerir outra abordagem é steering. O mesmo requisito pode ter as duas metades, e separar isso é o que faz o agente terminar em vez de só 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14:05 - 14:45, 40 min]
O QUE ESTE BLOCO ENTREGA - a turma sabe conectar ferramentas de terceiros por MCP e entende carregamento sob demanda como resposta ao custo de contexto.
ROTEIRO - a tensão do contexto (5) · skills (6) · plugins (4) · MCP (7) · MCP no nosso grafo (5) · Agent-Computer Interface (6) · fecho (3).
SE O TEMPO APERTAR - plugins vira uma frase; MCP não sai, porque é o que a turma vai encontrar em todo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Esta tensão não existia no dia 1, quando tínhamos duas ferramentas. Ela aparece por volta da décima, e vira problema sério por volta da vigésima. É a tabela de escala que vimos ontem, agora com solução.
FAÇA — Some em voz alta: vinte ferramentas com descrição de cinquenta tokens cada são mil tokens antes da primeira palavra da tarefa. Em janela de 8k, é oito por cento do orçamento gasto em menu.
SE PERGUNTAREM 'não dá para resumir as descrições?' — Dá até certo ponto, e aí você cai no problema do dia 2: description curta demais não dispara. Carregamento sob demanda resolve melhor que compressão.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O princípio é o mesmo da docstring do dia 2, um nível acima: cada skill faz uma coisa e só uma, e a descrição deve soar como você passando uma tarefa a um colega em uma frase. É pela descrição que o agente decide carregar, e descrição vaga não dispara.
FAÇA — Mostre a estrutura de pastas e o cabeçalho. Depois pergunte à turma qual skill eles escreveriam para o próprio trabalho. Costuma sair alguma rotina de checagem que hoje é feita à mão.
DIGA TAMBÉM — O ganho de contexto é real: dez skills custam dez descrições curtas, e não dez procedimentos completos.
SE PERGUNTAREM 'dá para fazer isso no nosso grafo?' — Dá, e é simples: uma ferramenta carregar_skill que lê o arquivo e devolve o conteúdo, mais um índice das descrições no prompt. Vinte linhas.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DIGA — Plugin é empacotamento. Se a turma entender skills, hooks e MCP, plugin é só a caixa que agrupa os três com um número de versão.
FAÇA — Faça a ligação com o dia 1: as quatro equipes reais mantinham o harness sob controle de versão. Plugin é a forma industrializada disso.
SE PERGUNTAREM 'vale a pena para um time pequeno?' — A partir de três ou quatro pessoas compartilhando o mesmo agente, sim, porque acaba a divergência de configuração. Abaixo disso, um repositório com os arquivos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DIGA — Retome o que foi dito no dia 1 e agora com código à vista: MCP é o USB-C das ferramentas de agente. Padronizar o conector não decide o que você liga nem para quê.
FAÇA — Cite a escala real: o agente Goose, da Block, conecta mais de três mil serviços por MCP, e a Stripe apoia nele o pipeline de mil e trezentos PRs por semana. Não é padrão de laboratório.
DIGA TAMBÉM — O ganho concreto para vocês é não escrever integração. Se existe servidor MCP para o sistema que você usa, a ferramenta chega pronta e descrita.
SE PERGUNTAREM 'é seguro conectar servidor de terceiro?' — Não por padrão. Um servidor MCP roda código na sua máquina e as descrições dele entram no seu contexto. Trate como dependência: leia o que faz, fixe a versão, e aplique as mesmas políticas de PreToolUse às ferramentas 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Aponte a última linha e diga em voz alta: elas entram na mesma lista. O ToolNode não sabe a diferença, o rotear não sabe, o modelo não sabe. É exatamente isso que um bom protocolo deve conseguir.
FAÇA — Se der, rode ao vivo com o servidor de sistema de arquivos e liste as ferramentas que ele trouxe. Ver os nomes aparecerem sem você ter escrito nada convence.
SE PERGUNTAREM 'e o transporte HTTP?' — Existe, e é o que se usa para servidor remoto. stdio é para servidor local, que sobe como subprocesso. Para o curso, stdio basta.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ACI, Agent-Computer Interface, é termo da Anthropic, e a tese é forte: investir em documentação e teste de ferramenta importa tanto quanto investir em design de interface para humanos. Nada aqui é novo para quem fez o dia 2; o que muda é o nome e o reconhecimento de que isso é disciplina de projeto, e não capricho.
FAÇA — Peça que abram uma ferramenta MCP de terceiro e avaliem a description dela contra estas quatro linhas. Muitas falham, e isso explica por que às vezes o agente usa mal uma ferramenta pronta.
SE PERGUNTAREM 'dá para melhorar a description de uma ferramenta de terceiro?' — Dá: você pode envolver a ferramenta numa sua, com nome e description melhores, e delegar a execução. É uma prática comum e barata.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DIGA — Feche o bloco com esta frase e anuncie que o próximo é a parte prática: ferramentas de web e aprovação humana.
FAÇA — Volte à tabela das cinco camadas do dia 1 e marque constraints como coberta.
SE PERGUNTAREM 'capability é uma sexta camada?' — Não. Ferramentas são o corpo que as instructions comandam e que os constraints limitam. Manter cinco nomes é o que torna o vocabulário útil.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15:00 - 15:30, 30 min]
O QUE ESTE BLOCO ENTREGA - o agente ganha três ferramentas de web e a turma entende o trade-off de privacidade que isso cria.
ROTEIRO - a tensão que ninguém nomeia (4) · busca sem cadastro (6) · ler_pagina (6) · página que só existe depois do JavaScript (5) · ordem explícita entre ferramentas parecidas (5) · o que o dia comprou (4).
SE O TEMPO APERTAR - o scraping dinâmico pode virar demonstração; a tabela de ordem explícita não sai, porque é o que faz o agente escolher certo.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DIGA — Não esconda esse trade-off da turma. Um aluno que sai do curso achando que local é binário vai tomar decisão ruim no primeiro projeto real.
FAÇA — Dê o exemplo concreto: se a pergunta é qual o tratamento indicado para o paciente com o quadro X, a consulta enviada ao buscador já é dado sensível, mesmo sem nome nenhum.
SE PERGUNTAREM 'como resolver quando não pode sair?' — Ou você indexa a fonte localmente, que é o RAG de ontem, ou usa um buscador interno, ou o agente simplesmente não tem essa capacidade. As três são respostas legítimas; fingir que não há problema não 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A ferramenta trata a exceção e devolve string. É a regra do dia 2 valendo aqui: uma ferramenta que levanta exceção derruba o loop inteiro, e busca na web falha o tempo todo, por rede, por limite de taxa, por mudança do serviço.
FAÇA — Rode e mostre a saída formatada. Aponte que o formato de saída da ferramenta é projeto: título, trecho e fonte, cada um em sua linha, é o que faz o modelo conseguir citar.
DIGA TAMBÉM — O limite de k defendido com max e min é a mesma defesa em profundidade do dia 2. Mesmo com Pydantic no lugar, a função se protege.
SE PERGUNTAREM 'e a qualidade em comparação com API paga?' — Pior, e serve para o curso. Em produção, um serviço pago devolve resultado mais limpo e com menos ruído. O código do agente não muda: só a implementação da ferramenta.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Sem o decompose, o modelo gasta mil tokens lendo menu, rodapé e JavaScript. Isso não é só desperdício: é context rot induzido por você.
FAÇA — Mostre a diferença ao vivo: conte os caracteres da página com e sem decompose. A queda costuma ser de setenta a noventa por cento.
DIGA TAMBÉM — O timeout de quinze segundos é constraint: sem ele, uma página lenta trava o agente inteiro e a única saída é matar o processo.
SE PERGUNTAREM 'e o robots.txt?' — Respeitá-lo é o comportamento correto e, em vários contextos, é obrigação legal. Numa ferramenta de produção, verifique antes de baixar, e identifique-se no User-Agent como está aí.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Custo típico: cinco a quinze segundos, contra meio a dois segundos do ler_pagina. É o último recurso, e a docstring precisa dizer isso, porque o modelo não sabe quanto custa cada ferramenta.
FAÇA — Comente o vazamento de processo. É um bug real que aparece em sala e é difícil de diagnosticar, porque o sintoma é a máquina ficando lenta, não um erro.
SE PERGUNTAREM 'não é melhor usar Playwright?' — É melhor na maioria dos casos, e a estrutura do código é a mesma. Selenium está aqui porque é o que mais gente já tem instalado.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Coloque esta tabela no prompt de sistema, em linguagem natural. O modelo escolhe mal entre quatro ferramentas parecidas se ninguém disser qual é a ordem de preferência, e o custo de cada uma é invisível para ele.
FAÇA — Faça o experimento em sala: rode a mesma pergunta com a ordem declarada e sem ela, cinco vezes cada, e conte quantas vezes o agente foi direto ao navegador quando bastava a busca local.
SE PERGUNTAREM 'isso não é instruction que vira constraint?' — Boa observação. Aqui é instruction, porque escolher errado não tem consequência séria, só custa tempo. Se custasse dinheiro por chamada, viraria constraint com contador.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DIGA — Este é o slide de virada do dia. Se a turma entender só uma coisa hoje, que seja esta: capacidade e decisão são camadas separadas, e mexer numa não obriga a mexer na outra.
FAÇA — Volte ao desenho do grafo e mostre que ele é o mesmo de manhã, com cinco ferramentas em vez de duas.
SE PERGUNTAREM 'e se eu precisar de um nó só para a web?' — Aí você já está falando de especialização por contexto, e isso é o dia 4. Enquanto a lista couber num contexto só, um nó de ferramentas basta.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15:30 - 16:30, 60 min]
O QUE ESTE BLOCO ENTREGA - o NEXUS pausa antes de ação irreversível, pede aprovação, e retoma corretamente tanto no sim quanto no não.
ROTEIRO - o que exige aprovação (4) · interrupção estática (6) · interrupt dinâmico (7) · o caminho do não (4) · Command (5) · enunciado (3) · laboratório (30).
SE O TEMPO APERTAR - Command pode ser só apresentado, já que ele volta no dia 4. O caminho do não não sai: metade das turmas implementa só o sim.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DIGA — Estes três critérios cobrem quase tudo. O que NÃO precisa de aprovação é o resto: ler, buscar, calcular, escrever rascunho em pasta temporária. Pedir aprovação para tudo treina o usuário a clicar sim sem ler, e aí a aprovação deixou de existir.
FAÇA — Peça um exemplo do trabalho de alguém e classifique. Costuma aparecer envio de e-mail, e é o caso perfeito.
SE PERGUNTAREM 'e se a aprovação atrasar demais?' — Aí você desenha um caminho alternativo: expirar depois de N horas, ou aprovar automaticamente casos abaixo de um limite. O importante é que a decisão seja explícita, e não um esquecimento.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Mostre o cenário real, e não o input do terminal: agente rodando num servidor, aprovação chegando por um botão numa página, horas depois, possivelmente de outra pessoa. É a persistência que permite isso, e é por isso que aprovação humana veio depois do checkpointer.
FAÇA — Rode ao vivo, mate o processo enquanto está pausado, suba de novo e retome. É a demonstração que mais impressiona no dia.
NÃO FAÇA — Não deixe a turma achar que o input() é a solução. Ele é didático e é a única parte do slide que não vai para produção.
SE PERGUNTAREM 'dá para parar só para ALGUMAS ferramentas?' — Com interrupt_before, não: ele para antes do nó inteiro. Para granularidade por ferramenta, use o interrupt dinâmico do próximo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DIGA — A diferença para o slide anterior é que aqui o nó decide, com base no estado, se vale pausar. Você pode pausar só quando a ferramenta é salvar_relatorio, ou só quando o valor passa de um limite.
FAÇA — Aponte o payload do interrupt: ele é o que a interface vai mostrar ao humano. Desenhe esse payload com cuidado, porque uma aprovação que não mostra o que vai acontecer é um botão de sim automático.
DIGA TAMBÉM — Isto é constraint com humano no ciclo. É o que você usa quando não existe verificação automática possível, e é a última linha da tabela de padrões do dia 1.
SE PERGUNTAREM 'o grafo fica ocupando memória enquanto espera?' — Não. O estado está no checkpoint, o processo pode encerrar. Pausado é um dado, não um processo bloqueado.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DIGA — Insista neste ponto. É o bug número um do bloco, e ele aparece como agente travado em loop pedindo a mesma aprovação.
FAÇA — Peça que provoquem o caminho do não no laboratório, e não só o do sim. Coloque isso como item explícito da entrega.
SE PERGUNTAREM 'o que escrever na recusa?' — O mesmo padrão do erro útil: o que foi negado, por que, e o que fazer em vez disso. Se o usuário deu um motivo, repasse o motivo: é a informação mais valiosa que o agente vai receber naquela execução.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Command junta duas coisas que antes eram separadas: o que muda no estado e para onde vai. Use quando a decisão de rota depende do mesmo cálculo que produz a atualização; usar conditional edge nesse caso obriga a recalcular.
FAÇA — Antecipe: amanhã isso vira transferir_para_analista, com graph igual a Command.PARENT, e é assim que um subagente devolve controle ao supervisor.
SE PERGUNTAREM 'quando prefiro conditional edge?' — Quando a decisão de rota é uma função pura do estado e você quer testá-la isolada. A conditional edge é mais fácil de testar; o Command é mais direto de escrever.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+ 30 min de laboratório]
FAÇA — Circule. O item 5 é o que consolida o entendimento de que estado persistido é diferente de processo esperando.
DIGA — Para quem terminar antes: acrescente uma política que exige que o relatório tenha pelo menos uma citação de fonte antes de poder ser salvo. É constraint sobre conteúdo, não sobre caminho.
SE PERGUNTAREM 'preciso de interface web?' — Não hoje. O input() no terminal serve para o exercício, desde que fique claro que ele é o que não vai para produção.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16:30 - 17:00, 30 min]
O QUE ESTE BLOCO ENTREGA - a turma sabe transmitir progresso e testar toda a lógica de decisão sem carregar modelo.
ROTEIRO - os quatro modos de stream (5) · testes de roteamento (6) · o NEXUS de hoje em números (4) · erros clássicos (6) · recapitulação das cinco camadas (5) · gancho do dia 4 (4).
SE O TEMPO APERTAR - o slide de números pode sair; erros clássicos e o gancho ficam.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Um agente que mostra buscando documentos, três trechos encontrados, redigindo, é percebido como muito mais rápido que um que mostra um spinner. É engenharia de produto, e é feita aqui, no modo de stream que você escolhe.
FAÇA — Rode com updates e mostre a sequência de nós aparecendo. Com modelo local lento, o efeito é imediato e a turma entende sem explicação.
SE PERGUNTAREM 'dá para combinar dois modos?' — Dá: stream_mode aceita uma lista, e você recebe tuplas identificando a origem de cada evento. É o que se usa numa interface que mostra progresso e texto ao mesmo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Grafo é testável de um jeito que loop não é: você testa nós isolados e funções de decisão isoladas. Este é o argumento de engenharia que costuma convencer os alunos mais experientes, e é o que faz agente virar software normal.
FAÇA — Rode o pytest com os três testes na frente da turma. Meio segundo, sem modelo.
DIGA TAMBÉM — Repare no terceiro teste: a política de constraint da tarde também é função pura. Segurança testada automaticamente a cada commit é um patamar diferente de segurança escrita no prompt.
SE PERGUNTAREM 'e como testo o comportamento do modelo?' — Com um conjunto de casos e avaliação, que é o dia 5. São dois tipos de teste diferentes: um é determinístico e roda a cada commit; o outro é estatístico e roda quando você muda modelo ou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DIGA — Volte a este slide no fim do dia 4 para comparar com a versão multiagente. O contraste entre dois nós e sete é o argumento visual do dia seguinte.
FAÇA — Peça que atualizem o número de ferramentas e de políticas com o que realmente ficou pronto na máquina de cada um.
SE PERGUNTAREM 'quantas ferramentas dá para chegar assim?' — Com um nó só, umas dez a quinze antes de a escolha começar a piorar. É exatamente o gatilho do dia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DIGA — Os dois primeiros respondem por mais da metade dos chamados de suporte neste dia. Leia em voz alta e peça que fotografem.
FAÇA — Ligue a última linha ao bloco de session managers: misturar conversas é incômodo entre threads do mesmo usuário e é vazamento entre usuários diferentes.
SE PERGUNTAREM 'o terceiro não deveria ser pego pelo framework?' — O LangGraph tem um limite global de recursão que evita o loop infinito absoluto, e ele existe como rede de segurança. A condição de parada correta continua sendo sua, porque só você sabe quando a tarefa terminou.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DIGA — Hoje foi o dia que mais preencheu a tabela. Memória saiu do zero, constraints ganharam mecanismo real e orquestração ganhou a estrutura, mesmo que ainda com um agente só.
FAÇA — Peça que atualizem a cópia própria. Quem manteve a tabela desde o dia 1 já tem metade do mapa do curso.
SE PERGUNTAREM 'aprovação humana é constraint ou feedback?' — É constraint, porque impede a ação. O que o humano escreve ao recusar é feedback. De novo, as duas camadas se encontram na mesma linha.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DIGA — Não antecipe a resposta. Amanhã começa com o aviso de que multiagente não é upgrade automático, e a pergunta precisa chegar em aberto para o aviso fazer efeito.
FAÇA — Escreva no quadro os dois números: nove ferramentas e sessenta linhas de prompt. Amanhã você volta a eles.
SE PERGUNTAREM 'a resposta não é obviamente três agentes?' — Nem sempre. Três agentes custam três contextos, três prompts, e um protocolo entre eles. Amanhã começamos justamente medindo quando isso compensa.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326"/>
        </a:solidFill>
      </p:bgPr>
    </p:bg>
    <p:spTree>
      <p:nvGrpSpPr>
        <p:cNvPr id="1" name=""/>
        <p:cNvGrpSpPr/>
        <p:nvPr/>
      </p:nvGrpSpPr>
      <p:grpSpPr>
        <a:xfrm>
          <a:off x="0" y="0"/>
          <a:ext cx="0" cy="0"/>
          <a:chOff x="0" y="0"/>
          <a:chExt cx="0" cy="0"/>
        </a:xfrm>
      </p:grpSpPr>
      <p:sp>
        <p:nvSpPr>
          <p:cNvPr id="2" name="Shape 0"/>
          <p:cNvSpPr/>
          <p:nvPr/>
        </p:nvSpPr>
        <p:spPr>
          <a:xfrm>
            <a:off x="640080" y="914400"/>
            <a:ext cx="1920240" cy="685800"/>
          </a:xfrm>
          <a:prstGeom prst="roundRect">
            <a:avLst>
              <a:gd name="adj" fmla="val 16000"/>
            </a:avLst>
          </a:prstGeom>
          <a:solidFill>
            <a:srgbClr val="E8933A"/>
          </a:solidFill>
          <a:ln/>
        </p:spPr>
      </p:sp>
      <p:sp>
        <p:nvSpPr>
          <p:cNvPr id="3" name="Text 1"/>
          <p:cNvSpPr/>
          <p:nvPr/>
        </p:nvSpPr>
        <p:spPr>
          <a:xfrm>
            <a:off x="640080" y="914400"/>
            <a:ext cx="1920240" cy="685800"/>
          </a:xfrm>
          <a:prstGeom prst="rect">
            <a:avLst/>
          </a:prstGeom>
          <a:noFill/>
          <a:ln/>
        </p:spPr>
        <p:txBody>
          <a:bodyPr wrap="square" lIns="0" tIns="0" rIns="0" bIns="0" rtlCol="0" anchor="ctr"/>
          <a:lstStyle/>
          <a:p>
            <a:pPr algn="ctr" indent="0" marL="0">
              <a:buNone/>
            </a:pPr>
            <a:r>
              <a:rPr lang="en-US" sz="2200" b="1" dirty="0">
                <a:solidFill>
                  <a:srgbClr val="171326"/>
                </a:solidFill>
                <a:latin typeface="Calibri" pitchFamily="34" charset="0"/>
                <a:ea typeface="Calibri" pitchFamily="34" charset="-122"/>
                <a:cs typeface="Calibri" pitchFamily="34" charset="-120"/>
              </a:rPr>
              <a:t>DIA 3</a:t>
            </a:r>
            <a:endParaRPr lang="en-US" sz="2200" dirty="0"/>
          </a:p>
        </p:txBody>
      </p:sp>
      <p:sp>
        <p:nvSpPr>
          <p:cNvPr id="4" name="Text 2"/>
          <p:cNvSpPr/>
          <p:nvPr/>
        </p:nvSpPr>
        <p:spPr>
          <a:xfrm>
            <a:off x="640080" y="1874520"/>
            <a:ext cx="10881360" cy="1463040"/>
          </a:xfrm>
          <a:prstGeom prst="rect">
            <a:avLst/>
          </a:prstGeom>
          <a:noFill/>
          <a:ln/>
        </p:spPr>
        <p:txBody>
          <a:bodyPr wrap="square" lIns="0" tIns="0" rIns="0" bIns="0" rtlCol="0" anchor="ctr"/>
          <a:lstStyle/>
          <a:p>
            <a:pPr indent="0" marL="0">
              <a:buNone/>
            </a:pPr>
            <a:r>
              <a:rPr lang="en-US" sz="4600" b="1" dirty="0">
                <a:solidFill>
                  <a:srgbClr val="EDEAF5"/>
                </a:solidFill>
                <a:latin typeface="Cambria" pitchFamily="34" charset="0"/>
                <a:ea typeface="Cambria" pitchFamily="34" charset="-122"/>
                <a:cs typeface="Cambria" pitchFamily="34" charset="-120"/>
              </a:rPr>
              <a:t>LangGraph: orquestrando um agente</a:t>
            </a:r>
            <a:endParaRPr lang="en-US" sz="4600" dirty="0"/>
          </a:p>
        </p:txBody>
      </p:sp>
      <p:sp>
        <p:nvSpPr>
          <p:cNvPr id="5" name="Text 3"/>
          <p:cNvSpPr/>
          <p:nvPr/>
        </p:nvSpPr>
        <p:spPr>
          <a:xfrm>
            <a:off x="640080" y="3337560"/>
            <a:ext cx="9509760" cy="822960"/>
          </a:xfrm>
          <a:prstGeom prst="rect">
            <a:avLst/>
          </a:prstGeom>
          <a:noFill/>
          <a:ln/>
        </p:spPr>
        <p:txBody>
          <a:bodyPr wrap="square" lIns="0" tIns="0" rIns="0" bIns="0" rtlCol="0" anchor="ctr"/>
          <a:lstStyle/>
          <a:p>
            <a:pPr indent="0" marL="0">
              <a:buNone/>
            </a:pPr>
            <a:r>
              <a:rPr lang="en-US" sz="1800" dirty="0">
                <a:solidFill>
                  <a:srgbClr val="A79FC4"/>
                </a:solidFill>
                <a:latin typeface="Calibri" pitchFamily="34" charset="0"/>
                <a:ea typeface="Calibri" pitchFamily="34" charset="-122"/>
                <a:cs typeface="Calibri" pitchFamily="34" charset="-120"/>
              </a:rPr>
              <a:t>Trocando o loop por um grafo de estado, com memória, hooks e ponto de parada</a:t>
            </a:r>
            <a:endParaRPr lang="en-US" sz="1800" dirty="0"/>
          </a:p>
        </p:txBody>
      </p:sp>
      <p:sp>
        <p:nvSpPr>
          <p:cNvPr id="6" name="Shape 4"/>
          <p:cNvSpPr/>
          <p:nvPr/>
        </p:nvSpPr>
        <p:spPr>
          <a:xfrm>
            <a:off x="640080" y="4572000"/>
            <a:ext cx="2446020" cy="1234440"/>
          </a:xfrm>
          <a:prstGeom prst="roundRect">
            <a:avLst>
              <a:gd name="adj" fmla="val 7407"/>
            </a:avLst>
          </a:prstGeom>
          <a:solidFill>
            <a:srgbClr val="241E3D"/>
          </a:solidFill>
          <a:ln/>
        </p:spPr>
      </p:sp>
      <p:sp>
        <p:nvSpPr>
          <p:cNvPr id="7" name="Text 5"/>
          <p:cNvSpPr/>
          <p:nvPr/>
        </p:nvSpPr>
        <p:spPr>
          <a:xfrm>
            <a:off x="822960" y="4709160"/>
            <a:ext cx="457200" cy="365760"/>
          </a:xfrm>
          <a:prstGeom prst="rect">
            <a:avLst/>
          </a:prstGeom>
          <a:noFill/>
          <a:ln/>
        </p:spPr>
        <p:txBody>
          <a:bodyPr wrap="square" lIns="0" tIns="0" rIns="0" bIns="0" rtlCol="0" anchor="ctr"/>
          <a:lstStyle/>
          <a:p>
            <a:pPr indent="0" marL="0">
              <a:buNone/>
            </a:pPr>
            <a:r>
              <a:rPr lang="en-US" sz="1600" b="1" dirty="0">
                <a:solidFill>
                  <a:srgbClr val="E8933A"/>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22960" y="5074920"/>
            <a:ext cx="2080260" cy="640080"/>
          </a:xfrm>
          <a:prstGeom prst="rect">
            <a:avLst/>
          </a:prstGeom>
          <a:noFill/>
          <a:ln/>
        </p:spPr>
        <p:txBody>
          <a:bodyPr wrap="square" lIns="0" tIns="0" rIns="0" bIns="0" rtlCol="0" anchor="ctr"/>
          <a:lstStyle/>
          <a:p>
            <a:pPr indent="0" marL="0">
              <a:buNone/>
            </a:pPr>
            <a:r>
              <a:rPr lang="en-US" sz="1300" dirty="0">
                <a:solidFill>
                  <a:srgbClr val="EDEAF5"/>
                </a:solidFill>
                <a:latin typeface="Calibri" pitchFamily="34" charset="0"/>
                <a:ea typeface="Calibri" pitchFamily="34" charset="-122"/>
                <a:cs typeface="Calibri" pitchFamily="34" charset="-120"/>
              </a:rPr>
              <a:t>Por que grafo e não for</a:t>
            </a:r>
            <a:endParaRPr lang="en-US" sz="1300" dirty="0"/>
          </a:p>
        </p:txBody>
      </p:sp>
      <p:sp>
        <p:nvSpPr>
          <p:cNvPr id="9" name="Shape 7"/>
          <p:cNvSpPr/>
          <p:nvPr/>
        </p:nvSpPr>
        <p:spPr>
          <a:xfrm>
            <a:off x="3360420" y="4572000"/>
            <a:ext cx="2446020" cy="1234440"/>
          </a:xfrm>
          <a:prstGeom prst="roundRect">
            <a:avLst>
              <a:gd name="adj" fmla="val 7407"/>
            </a:avLst>
          </a:prstGeom>
          <a:solidFill>
            <a:srgbClr val="241E3D"/>
          </a:solidFill>
          <a:ln/>
        </p:spPr>
      </p:sp>
      <p:sp>
        <p:nvSpPr>
          <p:cNvPr id="10" name="Text 8"/>
          <p:cNvSpPr/>
          <p:nvPr/>
        </p:nvSpPr>
        <p:spPr>
          <a:xfrm>
            <a:off x="3543300" y="4709160"/>
            <a:ext cx="457200" cy="365760"/>
          </a:xfrm>
          <a:prstGeom prst="rect">
            <a:avLst/>
          </a:prstGeom>
          <a:noFill/>
          <a:ln/>
        </p:spPr>
        <p:txBody>
          <a:bodyPr wrap="square" lIns="0" tIns="0" rIns="0" bIns="0" rtlCol="0" anchor="ctr"/>
          <a:lstStyle/>
          <a:p>
            <a:pPr indent="0" marL="0">
              <a:buNone/>
            </a:pPr>
            <a:r>
              <a:rPr lang="en-US" sz="1600" b="1" dirty="0">
                <a:solidFill>
                  <a:srgbClr val="E8933A"/>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3543300" y="5074920"/>
            <a:ext cx="2080260" cy="640080"/>
          </a:xfrm>
          <a:prstGeom prst="rect">
            <a:avLst/>
          </a:prstGeom>
          <a:noFill/>
          <a:ln/>
        </p:spPr>
        <p:txBody>
          <a:bodyPr wrap="square" lIns="0" tIns="0" rIns="0" bIns="0" rtlCol="0" anchor="ctr"/>
          <a:lstStyle/>
          <a:p>
            <a:pPr indent="0" marL="0">
              <a:buNone/>
            </a:pPr>
            <a:r>
              <a:rPr lang="en-US" sz="1300" dirty="0">
                <a:solidFill>
                  <a:srgbClr val="EDEAF5"/>
                </a:solidFill>
                <a:latin typeface="Calibri" pitchFamily="34" charset="0"/>
                <a:ea typeface="Calibri" pitchFamily="34" charset="-122"/>
                <a:cs typeface="Calibri" pitchFamily="34" charset="-120"/>
              </a:rPr>
              <a:t>Estado, nós, arestas, reducers</a:t>
            </a:r>
            <a:endParaRPr lang="en-US" sz="1300" dirty="0"/>
          </a:p>
        </p:txBody>
      </p:sp>
      <p:sp>
        <p:nvSpPr>
          <p:cNvPr id="12" name="Shape 10"/>
          <p:cNvSpPr/>
          <p:nvPr/>
        </p:nvSpPr>
        <p:spPr>
          <a:xfrm>
            <a:off x="6080760" y="4572000"/>
            <a:ext cx="2446020" cy="1234440"/>
          </a:xfrm>
          <a:prstGeom prst="roundRect">
            <a:avLst>
              <a:gd name="adj" fmla="val 7407"/>
            </a:avLst>
          </a:prstGeom>
          <a:solidFill>
            <a:srgbClr val="241E3D"/>
          </a:solidFill>
          <a:ln/>
        </p:spPr>
      </p:sp>
      <p:sp>
        <p:nvSpPr>
          <p:cNvPr id="13" name="Text 11"/>
          <p:cNvSpPr/>
          <p:nvPr/>
        </p:nvSpPr>
        <p:spPr>
          <a:xfrm>
            <a:off x="6263640" y="4709160"/>
            <a:ext cx="457200" cy="365760"/>
          </a:xfrm>
          <a:prstGeom prst="rect">
            <a:avLst/>
          </a:prstGeom>
          <a:noFill/>
          <a:ln/>
        </p:spPr>
        <p:txBody>
          <a:bodyPr wrap="square" lIns="0" tIns="0" rIns="0" bIns="0" rtlCol="0" anchor="ctr"/>
          <a:lstStyle/>
          <a:p>
            <a:pPr indent="0" marL="0">
              <a:buNone/>
            </a:pPr>
            <a:r>
              <a:rPr lang="en-US" sz="1600" b="1" dirty="0">
                <a:solidFill>
                  <a:srgbClr val="E8933A"/>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6263640" y="5074920"/>
            <a:ext cx="2080260" cy="640080"/>
          </a:xfrm>
          <a:prstGeom prst="rect">
            <a:avLst/>
          </a:prstGeom>
          <a:noFill/>
          <a:ln/>
        </p:spPr>
        <p:txBody>
          <a:bodyPr wrap="square" lIns="0" tIns="0" rIns="0" bIns="0" rtlCol="0" anchor="ctr"/>
          <a:lstStyle/>
          <a:p>
            <a:pPr indent="0" marL="0">
              <a:buNone/>
            </a:pPr>
            <a:r>
              <a:rPr lang="en-US" sz="1300" dirty="0">
                <a:solidFill>
                  <a:srgbClr val="EDEAF5"/>
                </a:solidFill>
                <a:latin typeface="Calibri" pitchFamily="34" charset="0"/>
                <a:ea typeface="Calibri" pitchFamily="34" charset="-122"/>
                <a:cs typeface="Calibri" pitchFamily="34" charset="-120"/>
              </a:rPr>
              <a:t>Checkpointer, session managers e context engineering</a:t>
            </a:r>
            <a:endParaRPr lang="en-US" sz="1300" dirty="0"/>
          </a:p>
        </p:txBody>
      </p:sp>
      <p:sp>
        <p:nvSpPr>
          <p:cNvPr id="15" name="Shape 13"/>
          <p:cNvSpPr/>
          <p:nvPr/>
        </p:nvSpPr>
        <p:spPr>
          <a:xfrm>
            <a:off x="8801100" y="4572000"/>
            <a:ext cx="2446020" cy="1234440"/>
          </a:xfrm>
          <a:prstGeom prst="roundRect">
            <a:avLst>
              <a:gd name="adj" fmla="val 7407"/>
            </a:avLst>
          </a:prstGeom>
          <a:solidFill>
            <a:srgbClr val="241E3D"/>
          </a:solidFill>
          <a:ln/>
        </p:spPr>
      </p:sp>
      <p:sp>
        <p:nvSpPr>
          <p:cNvPr id="16" name="Text 14"/>
          <p:cNvSpPr/>
          <p:nvPr/>
        </p:nvSpPr>
        <p:spPr>
          <a:xfrm>
            <a:off x="8983980" y="4709160"/>
            <a:ext cx="457200" cy="365760"/>
          </a:xfrm>
          <a:prstGeom prst="rect">
            <a:avLst/>
          </a:prstGeom>
          <a:noFill/>
          <a:ln/>
        </p:spPr>
        <p:txBody>
          <a:bodyPr wrap="square" lIns="0" tIns="0" rIns="0" bIns="0" rtlCol="0" anchor="ctr"/>
          <a:lstStyle/>
          <a:p>
            <a:pPr indent="0" marL="0">
              <a:buNone/>
            </a:pPr>
            <a:r>
              <a:rPr lang="en-US" sz="1600" b="1" dirty="0">
                <a:solidFill>
                  <a:srgbClr val="E8933A"/>
                </a:solidFill>
                <a:latin typeface="Calibri" pitchFamily="34" charset="0"/>
                <a:ea typeface="Calibri" pitchFamily="34" charset="-122"/>
                <a:cs typeface="Calibri" pitchFamily="34" charset="-120"/>
              </a:rPr>
              <a:t>4</a:t>
            </a:r>
            <a:endParaRPr lang="en-US" sz="1600" dirty="0"/>
          </a:p>
        </p:txBody>
      </p:sp>
      <p:sp>
        <p:nvSpPr>
          <p:cNvPr id="17" name="Text 15"/>
          <p:cNvSpPr/>
          <p:nvPr/>
        </p:nvSpPr>
        <p:spPr>
          <a:xfrm>
            <a:off x="8983980" y="5074920"/>
            <a:ext cx="2080260" cy="640080"/>
          </a:xfrm>
          <a:prstGeom prst="rect">
            <a:avLst/>
          </a:prstGeom>
          <a:noFill/>
          <a:ln/>
        </p:spPr>
        <p:txBody>
          <a:bodyPr wrap="square" lIns="0" tIns="0" rIns="0" bIns="0" rtlCol="0" anchor="ctr"/>
          <a:lstStyle/>
          <a:p>
            <a:pPr indent="0" marL="0">
              <a:buNone/>
            </a:pPr>
            <a:r>
              <a:rPr lang="en-US" sz="1300" dirty="0">
                <a:solidFill>
                  <a:srgbClr val="EDEAF5"/>
                </a:solidFill>
                <a:latin typeface="Calibri" pitchFamily="34" charset="0"/>
                <a:ea typeface="Calibri" pitchFamily="34" charset="-122"/>
                <a:cs typeface="Calibri" pitchFamily="34" charset="-120"/>
              </a:rPr>
              <a:t>Hooks, steering e aprovação humana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ROTEIRO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As oito horas de hoje</a:t>
            </a:r>
            <a:endParaRPr lang="en-US" sz="3400" dirty="0"/>
          </a:p>
        </p:txBody>
      </p:sp>
      <p:sp>
        <p:nvSpPr>
          <p:cNvPr id="4" name="Shape 2"/>
          <p:cNvSpPr/>
          <p:nvPr/>
        </p:nvSpPr>
        <p:spPr>
          <a:xfrm>
            <a:off x="640080" y="1645920"/>
            <a:ext cx="384048" cy="384048"/>
          </a:xfrm>
          <a:prstGeom prst="roundRect">
            <a:avLst>
              <a:gd name="adj" fmla="val 19048"/>
            </a:avLst>
          </a:prstGeom>
          <a:solidFill>
            <a:srgbClr val="4C3A8C"/>
          </a:solidFill>
          <a:ln/>
        </p:spPr>
      </p:sp>
      <p:sp>
        <p:nvSpPr>
          <p:cNvPr id="5" name="Text 3"/>
          <p:cNvSpPr/>
          <p:nvPr/>
        </p:nvSpPr>
        <p:spPr>
          <a:xfrm>
            <a:off x="6400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161848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09:00 – 10:30 · Por que grafo, e os quatro conceitos</a:t>
            </a:r>
            <a:endParaRPr lang="en-US" sz="1600" dirty="0"/>
          </a:p>
        </p:txBody>
      </p:sp>
      <p:sp>
        <p:nvSpPr>
          <p:cNvPr id="7" name="Text 5"/>
          <p:cNvSpPr/>
          <p:nvPr/>
        </p:nvSpPr>
        <p:spPr>
          <a:xfrm>
            <a:off x="1234440" y="1975104"/>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Estado, nós, arestas e compilação. Ao fim do bloco, o loop de ontem redesenhado como grafo.</a:t>
            </a:r>
            <a:endParaRPr lang="en-US" sz="1350" dirty="0"/>
          </a:p>
        </p:txBody>
      </p:sp>
      <p:sp>
        <p:nvSpPr>
          <p:cNvPr id="8" name="Shape 6"/>
          <p:cNvSpPr/>
          <p:nvPr/>
        </p:nvSpPr>
        <p:spPr>
          <a:xfrm>
            <a:off x="640080" y="2478024"/>
            <a:ext cx="384048" cy="384048"/>
          </a:xfrm>
          <a:prstGeom prst="roundRect">
            <a:avLst>
              <a:gd name="adj" fmla="val 19048"/>
            </a:avLst>
          </a:prstGeom>
          <a:solidFill>
            <a:srgbClr val="4C3A8C"/>
          </a:solidFill>
          <a:ln/>
        </p:spPr>
      </p:sp>
      <p:sp>
        <p:nvSpPr>
          <p:cNvPr id="9" name="Text 7"/>
          <p:cNvSpPr/>
          <p:nvPr/>
        </p:nvSpPr>
        <p:spPr>
          <a:xfrm>
            <a:off x="64008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34440" y="2450592"/>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10:45 – 12:15 · Memória de verdade, e laboratório</a:t>
            </a:r>
            <a:endParaRPr lang="en-US" sz="1600" dirty="0"/>
          </a:p>
        </p:txBody>
      </p:sp>
      <p:sp>
        <p:nvSpPr>
          <p:cNvPr id="11" name="Text 9"/>
          <p:cNvSpPr/>
          <p:nvPr/>
        </p:nvSpPr>
        <p:spPr>
          <a:xfrm>
            <a:off x="1234440" y="2807208"/>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Checkpointer, thread_id, session managers, poda de contexto. Depois, teclado.</a:t>
            </a:r>
            <a:endParaRPr lang="en-US" sz="1350" dirty="0"/>
          </a:p>
        </p:txBody>
      </p:sp>
      <p:sp>
        <p:nvSpPr>
          <p:cNvPr id="12" name="Shape 10"/>
          <p:cNvSpPr/>
          <p:nvPr/>
        </p:nvSpPr>
        <p:spPr>
          <a:xfrm>
            <a:off x="640080" y="3310128"/>
            <a:ext cx="384048" cy="384048"/>
          </a:xfrm>
          <a:prstGeom prst="roundRect">
            <a:avLst>
              <a:gd name="adj" fmla="val 19048"/>
            </a:avLst>
          </a:prstGeom>
          <a:solidFill>
            <a:srgbClr val="4C3A8C"/>
          </a:solidFill>
          <a:ln/>
        </p:spPr>
      </p:sp>
      <p:sp>
        <p:nvSpPr>
          <p:cNvPr id="13" name="Text 11"/>
          <p:cNvSpPr/>
          <p:nvPr/>
        </p:nvSpPr>
        <p:spPr>
          <a:xfrm>
            <a:off x="640080"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34440" y="3282696"/>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13:15 – 14:45 · Constraints e capability</a:t>
            </a:r>
            <a:endParaRPr lang="en-US" sz="1600" dirty="0"/>
          </a:p>
        </p:txBody>
      </p:sp>
      <p:sp>
        <p:nvSpPr>
          <p:cNvPr id="15" name="Text 13"/>
          <p:cNvSpPr/>
          <p:nvPr/>
        </p:nvSpPr>
        <p:spPr>
          <a:xfrm>
            <a:off x="1234440" y="3639312"/>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Hooks que negam, sandbox, steering, skills e MCP. O bloco que separa harness de prompt.</a:t>
            </a:r>
            <a:endParaRPr lang="en-US" sz="1350" dirty="0"/>
          </a:p>
        </p:txBody>
      </p:sp>
      <p:sp>
        <p:nvSpPr>
          <p:cNvPr id="16" name="Shape 14"/>
          <p:cNvSpPr/>
          <p:nvPr/>
        </p:nvSpPr>
        <p:spPr>
          <a:xfrm>
            <a:off x="640080" y="4142232"/>
            <a:ext cx="384048" cy="384048"/>
          </a:xfrm>
          <a:prstGeom prst="roundRect">
            <a:avLst>
              <a:gd name="adj" fmla="val 19048"/>
            </a:avLst>
          </a:prstGeom>
          <a:solidFill>
            <a:srgbClr val="4C3A8C"/>
          </a:solidFill>
          <a:ln/>
        </p:spPr>
      </p:sp>
      <p:sp>
        <p:nvSpPr>
          <p:cNvPr id="17" name="Text 15"/>
          <p:cNvSpPr/>
          <p:nvPr/>
        </p:nvSpPr>
        <p:spPr>
          <a:xfrm>
            <a:off x="640080" y="4142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234440" y="4114800"/>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15:00 – 16:30 · Saindo da máquina e aprovação humana</a:t>
            </a:r>
            <a:endParaRPr lang="en-US" sz="1600" dirty="0"/>
          </a:p>
        </p:txBody>
      </p:sp>
      <p:sp>
        <p:nvSpPr>
          <p:cNvPr id="19" name="Text 17"/>
          <p:cNvSpPr/>
          <p:nvPr/>
        </p:nvSpPr>
        <p:spPr>
          <a:xfrm>
            <a:off x="1234440" y="4471416"/>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Ferramentas de web, interrupt, Command, e laboratório do NEXUS com human-in-the-loop.</a:t>
            </a:r>
            <a:endParaRPr lang="en-US" sz="1350" dirty="0"/>
          </a:p>
        </p:txBody>
      </p:sp>
      <p:sp>
        <p:nvSpPr>
          <p:cNvPr id="20" name="Shape 18"/>
          <p:cNvSpPr/>
          <p:nvPr/>
        </p:nvSpPr>
        <p:spPr>
          <a:xfrm>
            <a:off x="640080" y="4974336"/>
            <a:ext cx="384048" cy="384048"/>
          </a:xfrm>
          <a:prstGeom prst="roundRect">
            <a:avLst>
              <a:gd name="adj" fmla="val 19048"/>
            </a:avLst>
          </a:prstGeom>
          <a:solidFill>
            <a:srgbClr val="4C3A8C"/>
          </a:solidFill>
          <a:ln/>
        </p:spPr>
      </p:sp>
      <p:sp>
        <p:nvSpPr>
          <p:cNvPr id="21" name="Text 19"/>
          <p:cNvSpPr/>
          <p:nvPr/>
        </p:nvSpPr>
        <p:spPr>
          <a:xfrm>
            <a:off x="640080" y="4974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234440" y="4946904"/>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16:30 – 17:00 · Streaming, testes e fechamento</a:t>
            </a:r>
            <a:endParaRPr lang="en-US" sz="1600" dirty="0"/>
          </a:p>
        </p:txBody>
      </p:sp>
      <p:sp>
        <p:nvSpPr>
          <p:cNvPr id="23" name="Text 21"/>
          <p:cNvSpPr/>
          <p:nvPr/>
        </p:nvSpPr>
        <p:spPr>
          <a:xfrm>
            <a:off x="1234440" y="5303520"/>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Como mostrar progresso e como testar roteamento sem carregar modelo.</a:t>
            </a:r>
            <a:endParaRPr lang="en-US" sz="1350" dirty="0"/>
          </a:p>
        </p:txBody>
      </p:sp>
      <p:sp>
        <p:nvSpPr>
          <p:cNvPr id="25" name="Text 2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6" name="Text 2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C3A8C"/>
        </a:solidFill>
      </p:bgPr>
    </p:bg>
    <p:spTree>
      <p:nvGrpSpPr>
        <p:cNvPr id="1" name=""/>
        <p:cNvGrpSpPr/>
        <p:nvPr/>
      </p:nvGrpSpPr>
      <p:grpSpPr>
        <a:xfrm>
          <a:off x="0" y="0"/>
          <a:ext cx="0" cy="0"/>
          <a:chOff x="0" y="0"/>
          <a:chExt cx="0" cy="0"/>
        </a:xfrm>
      </p:grpSpPr>
      <p:sp>
        <p:nvSpPr>
          <p:cNvPr id="2" name="Text 0"/>
          <p:cNvSpPr/>
          <p:nvPr/>
        </p:nvSpPr>
        <p:spPr>
          <a:xfrm>
            <a:off x="640080" y="1920240"/>
            <a:ext cx="1828800" cy="1280160"/>
          </a:xfrm>
          <a:prstGeom prst="rect">
            <a:avLst/>
          </a:prstGeom>
          <a:noFill/>
          <a:ln/>
        </p:spPr>
        <p:txBody>
          <a:bodyPr wrap="square" lIns="0" tIns="0" rIns="0" bIns="0" rtlCol="0" anchor="ctr"/>
          <a:lstStyle/>
          <a:p>
            <a:pPr indent="0" marL="0">
              <a:buNone/>
            </a:pPr>
            <a:r>
              <a:rPr lang="en-US" sz="7200" b="1" dirty="0">
                <a:solidFill>
                  <a:srgbClr val="E8933A"/>
                </a:solidFill>
                <a:latin typeface="Cambria" pitchFamily="34" charset="0"/>
                <a:ea typeface="Cambria" pitchFamily="34" charset="-122"/>
                <a:cs typeface="Cambria" pitchFamily="34" charset="-120"/>
              </a:rPr>
              <a:t>01</a:t>
            </a:r>
            <a:endParaRPr lang="en-US" sz="7200" dirty="0"/>
          </a:p>
        </p:txBody>
      </p:sp>
      <p:sp>
        <p:nvSpPr>
          <p:cNvPr id="3" name="Text 1"/>
          <p:cNvSpPr/>
          <p:nvPr/>
        </p:nvSpPr>
        <p:spPr>
          <a:xfrm>
            <a:off x="2560320" y="2057400"/>
            <a:ext cx="91440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Por que um grafo</a:t>
            </a:r>
            <a:endParaRPr lang="en-US" sz="4000" dirty="0"/>
          </a:p>
        </p:txBody>
      </p:sp>
      <p:sp>
        <p:nvSpPr>
          <p:cNvPr id="4" name="Text 2"/>
          <p:cNvSpPr/>
          <p:nvPr/>
        </p:nvSpPr>
        <p:spPr>
          <a:xfrm>
            <a:off x="2560320" y="3200400"/>
            <a:ext cx="9144000" cy="1097280"/>
          </a:xfrm>
          <a:prstGeom prst="rect">
            <a:avLst/>
          </a:prstGeom>
          <a:noFill/>
          <a:ln/>
        </p:spPr>
        <p:txBody>
          <a:bodyPr wrap="square" lIns="0" tIns="0" rIns="0" bIns="0" rtlCol="0" anchor="ctr"/>
          <a:lstStyle/>
          <a:p>
            <a:pPr indent="0" marL="0">
              <a:buNone/>
            </a:pPr>
            <a:r>
              <a:rPr lang="en-US" sz="1700" dirty="0">
                <a:solidFill>
                  <a:srgbClr val="E4DEF7"/>
                </a:solidFill>
                <a:latin typeface="Calibri" pitchFamily="34" charset="0"/>
                <a:ea typeface="Calibri" pitchFamily="34" charset="-122"/>
                <a:cs typeface="Calibri" pitchFamily="34" charset="-120"/>
              </a:rPr>
              <a:t>O controle de fluxo preso dentro de uma função.</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O PEDIDO REAL</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Cinco coisas que quebram o loop de ontem</a:t>
            </a:r>
            <a:endParaRPr lang="en-US" sz="3400" dirty="0"/>
          </a:p>
        </p:txBody>
      </p:sp>
      <p:sp>
        <p:nvSpPr>
          <p:cNvPr id="4" name="Shape 2"/>
          <p:cNvSpPr/>
          <p:nvPr/>
        </p:nvSpPr>
        <p:spPr>
          <a:xfrm>
            <a:off x="640080" y="1645920"/>
            <a:ext cx="384048" cy="384048"/>
          </a:xfrm>
          <a:prstGeom prst="roundRect">
            <a:avLst>
              <a:gd name="adj" fmla="val 19048"/>
            </a:avLst>
          </a:prstGeom>
          <a:solidFill>
            <a:srgbClr val="4C3A8C"/>
          </a:solidFill>
          <a:ln/>
        </p:spPr>
      </p:sp>
      <p:sp>
        <p:nvSpPr>
          <p:cNvPr id="5" name="Text 3"/>
          <p:cNvSpPr/>
          <p:nvPr/>
        </p:nvSpPr>
        <p:spPr>
          <a:xfrm>
            <a:off x="6400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161848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Antes de salvar o arquivo, peça confirmação</a:t>
            </a:r>
            <a:endParaRPr lang="en-US" sz="1600" dirty="0"/>
          </a:p>
        </p:txBody>
      </p:sp>
      <p:sp>
        <p:nvSpPr>
          <p:cNvPr id="7" name="Text 5"/>
          <p:cNvSpPr/>
          <p:nvPr/>
        </p:nvSpPr>
        <p:spPr>
          <a:xfrm>
            <a:off x="1234440" y="1975104"/>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Vira uma flag e um input() no meio do loop, e não sobrevive a um processo que morre.</a:t>
            </a:r>
            <a:endParaRPr lang="en-US" sz="1350" dirty="0"/>
          </a:p>
        </p:txBody>
      </p:sp>
      <p:sp>
        <p:nvSpPr>
          <p:cNvPr id="8" name="Shape 6"/>
          <p:cNvSpPr/>
          <p:nvPr/>
        </p:nvSpPr>
        <p:spPr>
          <a:xfrm>
            <a:off x="640080" y="2478024"/>
            <a:ext cx="384048" cy="384048"/>
          </a:xfrm>
          <a:prstGeom prst="roundRect">
            <a:avLst>
              <a:gd name="adj" fmla="val 19048"/>
            </a:avLst>
          </a:prstGeom>
          <a:solidFill>
            <a:srgbClr val="4C3A8C"/>
          </a:solidFill>
          <a:ln/>
        </p:spPr>
      </p:sp>
      <p:sp>
        <p:nvSpPr>
          <p:cNvPr id="9" name="Text 7"/>
          <p:cNvSpPr/>
          <p:nvPr/>
        </p:nvSpPr>
        <p:spPr>
          <a:xfrm>
            <a:off x="64008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34440" y="2450592"/>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Se a busca não achou nada, reformule uma vez</a:t>
            </a:r>
            <a:endParaRPr lang="en-US" sz="1600" dirty="0"/>
          </a:p>
        </p:txBody>
      </p:sp>
      <p:sp>
        <p:nvSpPr>
          <p:cNvPr id="11" name="Text 9"/>
          <p:cNvSpPr/>
          <p:nvPr/>
        </p:nvSpPr>
        <p:spPr>
          <a:xfrm>
            <a:off x="1234440" y="2807208"/>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Vira um if aninhado com contador próprio, e mais um estado escondido em variável local.</a:t>
            </a:r>
            <a:endParaRPr lang="en-US" sz="1350" dirty="0"/>
          </a:p>
        </p:txBody>
      </p:sp>
      <p:sp>
        <p:nvSpPr>
          <p:cNvPr id="12" name="Shape 10"/>
          <p:cNvSpPr/>
          <p:nvPr/>
        </p:nvSpPr>
        <p:spPr>
          <a:xfrm>
            <a:off x="640080" y="3310128"/>
            <a:ext cx="384048" cy="384048"/>
          </a:xfrm>
          <a:prstGeom prst="roundRect">
            <a:avLst>
              <a:gd name="adj" fmla="val 19048"/>
            </a:avLst>
          </a:prstGeom>
          <a:solidFill>
            <a:srgbClr val="4C3A8C"/>
          </a:solidFill>
          <a:ln/>
        </p:spPr>
      </p:sp>
      <p:sp>
        <p:nvSpPr>
          <p:cNvPr id="13" name="Text 11"/>
          <p:cNvSpPr/>
          <p:nvPr/>
        </p:nvSpPr>
        <p:spPr>
          <a:xfrm>
            <a:off x="640080"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34440" y="3282696"/>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Rode a análise de três documentos em paralelo</a:t>
            </a:r>
            <a:endParaRPr lang="en-US" sz="1600" dirty="0"/>
          </a:p>
        </p:txBody>
      </p:sp>
      <p:sp>
        <p:nvSpPr>
          <p:cNvPr id="15" name="Text 13"/>
          <p:cNvSpPr/>
          <p:nvPr/>
        </p:nvSpPr>
        <p:spPr>
          <a:xfrm>
            <a:off x="1234440" y="3639312"/>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Vira threads dentro do loop, com resultados disputando a mesma variável.</a:t>
            </a:r>
            <a:endParaRPr lang="en-US" sz="1350" dirty="0"/>
          </a:p>
        </p:txBody>
      </p:sp>
      <p:sp>
        <p:nvSpPr>
          <p:cNvPr id="16" name="Shape 14"/>
          <p:cNvSpPr/>
          <p:nvPr/>
        </p:nvSpPr>
        <p:spPr>
          <a:xfrm>
            <a:off x="640080" y="4142232"/>
            <a:ext cx="384048" cy="384048"/>
          </a:xfrm>
          <a:prstGeom prst="roundRect">
            <a:avLst>
              <a:gd name="adj" fmla="val 19048"/>
            </a:avLst>
          </a:prstGeom>
          <a:solidFill>
            <a:srgbClr val="4C3A8C"/>
          </a:solidFill>
          <a:ln/>
        </p:spPr>
      </p:sp>
      <p:sp>
        <p:nvSpPr>
          <p:cNvPr id="17" name="Text 15"/>
          <p:cNvSpPr/>
          <p:nvPr/>
        </p:nvSpPr>
        <p:spPr>
          <a:xfrm>
            <a:off x="640080" y="4142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234440" y="4114800"/>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O usuário fechou o notebook e volta amanhã</a:t>
            </a:r>
            <a:endParaRPr lang="en-US" sz="1600" dirty="0"/>
          </a:p>
        </p:txBody>
      </p:sp>
      <p:sp>
        <p:nvSpPr>
          <p:cNvPr id="19" name="Text 17"/>
          <p:cNvSpPr/>
          <p:nvPr/>
        </p:nvSpPr>
        <p:spPr>
          <a:xfrm>
            <a:off x="1234440" y="4471416"/>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Vira serialização manual de estado, feita à mão e sempre incompleta.</a:t>
            </a:r>
            <a:endParaRPr lang="en-US" sz="1350" dirty="0"/>
          </a:p>
        </p:txBody>
      </p:sp>
      <p:sp>
        <p:nvSpPr>
          <p:cNvPr id="20" name="Shape 18"/>
          <p:cNvSpPr/>
          <p:nvPr/>
        </p:nvSpPr>
        <p:spPr>
          <a:xfrm>
            <a:off x="640080" y="4974336"/>
            <a:ext cx="384048" cy="384048"/>
          </a:xfrm>
          <a:prstGeom prst="roundRect">
            <a:avLst>
              <a:gd name="adj" fmla="val 19048"/>
            </a:avLst>
          </a:prstGeom>
          <a:solidFill>
            <a:srgbClr val="4C3A8C"/>
          </a:solidFill>
          <a:ln/>
        </p:spPr>
      </p:sp>
      <p:sp>
        <p:nvSpPr>
          <p:cNvPr id="21" name="Text 19"/>
          <p:cNvSpPr/>
          <p:nvPr/>
        </p:nvSpPr>
        <p:spPr>
          <a:xfrm>
            <a:off x="640080" y="4974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234440" y="4946904"/>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Mostre na tela o que o agente está fazendo</a:t>
            </a:r>
            <a:endParaRPr lang="en-US" sz="1600" dirty="0"/>
          </a:p>
        </p:txBody>
      </p:sp>
      <p:sp>
        <p:nvSpPr>
          <p:cNvPr id="23" name="Text 21"/>
          <p:cNvSpPr/>
          <p:nvPr/>
        </p:nvSpPr>
        <p:spPr>
          <a:xfrm>
            <a:off x="1234440" y="5303520"/>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Vira print() espalhado por toda parte, misturado com a lógica.</a:t>
            </a:r>
            <a:endParaRPr lang="en-US" sz="1350" dirty="0"/>
          </a:p>
        </p:txBody>
      </p:sp>
      <p:sp>
        <p:nvSpPr>
          <p:cNvPr id="25" name="Text 2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6" name="Text 2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326"/>
        </a:solidFill>
      </p:bgPr>
    </p:bg>
    <p:spTree>
      <p:nvGrpSpPr>
        <p:cNvPr id="1" name=""/>
        <p:cNvGrpSpPr/>
        <p:nvPr/>
      </p:nvGrpSpPr>
      <p:grpSpPr>
        <a:xfrm>
          <a:off x="0" y="0"/>
          <a:ext cx="0" cy="0"/>
          <a:chOff x="0" y="0"/>
          <a:chExt cx="0" cy="0"/>
        </a:xfrm>
      </p:grpSpPr>
      <p:sp>
        <p:nvSpPr>
          <p:cNvPr id="2" name="Text 0"/>
          <p:cNvSpPr/>
          <p:nvPr/>
        </p:nvSpPr>
        <p:spPr>
          <a:xfrm>
            <a:off x="640080" y="1280160"/>
            <a:ext cx="10881360" cy="320040"/>
          </a:xfrm>
          <a:prstGeom prst="rect">
            <a:avLst/>
          </a:prstGeom>
          <a:noFill/>
          <a:ln/>
        </p:spPr>
        <p:txBody>
          <a:bodyPr wrap="square" lIns="0" tIns="0" rIns="0" bIns="0" rtlCol="0" anchor="t"/>
          <a:lstStyle/>
          <a:p>
            <a:pPr indent="0" marL="0">
              <a:buNone/>
            </a:pPr>
            <a:r>
              <a:rPr lang="en-US" sz="1200" b="1" spc="120" kern="0" dirty="0">
                <a:solidFill>
                  <a:srgbClr val="E8933A"/>
                </a:solidFill>
                <a:latin typeface="Calibri" pitchFamily="34" charset="0"/>
                <a:ea typeface="Calibri" pitchFamily="34" charset="-122"/>
                <a:cs typeface="Calibri" pitchFamily="34" charset="-120"/>
              </a:rPr>
              <a:t>A TROCA</a:t>
            </a:r>
            <a:endParaRPr lang="en-US" sz="1200" dirty="0"/>
          </a:p>
        </p:txBody>
      </p:sp>
      <p:sp>
        <p:nvSpPr>
          <p:cNvPr id="3" name="Text 1"/>
          <p:cNvSpPr/>
          <p:nvPr/>
        </p:nvSpPr>
        <p:spPr>
          <a:xfrm>
            <a:off x="640080" y="1783080"/>
            <a:ext cx="10881360" cy="1325880"/>
          </a:xfrm>
          <a:prstGeom prst="rect">
            <a:avLst/>
          </a:prstGeom>
          <a:noFill/>
          <a:ln/>
        </p:spPr>
        <p:txBody>
          <a:bodyPr wrap="square" lIns="0" tIns="0" rIns="0" bIns="0" rtlCol="0" anchor="t"/>
          <a:lstStyle/>
          <a:p>
            <a:pPr indent="0" marL="0">
              <a:lnSpc>
                <a:spcPct val="112000"/>
              </a:lnSpc>
              <a:buNone/>
            </a:pPr>
            <a:r>
              <a:rPr lang="en-US" sz="3600" b="1" dirty="0">
                <a:solidFill>
                  <a:srgbClr val="EDEAF5"/>
                </a:solidFill>
                <a:latin typeface="Cambria" pitchFamily="34" charset="0"/>
                <a:ea typeface="Cambria" pitchFamily="34" charset="-122"/>
                <a:cs typeface="Cambria" pitchFamily="34" charset="-120"/>
              </a:rPr>
              <a:t>Descreva o fluxo como nós e arestas,</a:t>
            </a:r>
            <a:endParaRPr lang="en-US" sz="3600" dirty="0"/>
          </a:p>
          <a:p>
            <a:pPr indent="0" marL="0">
              <a:lnSpc>
                <a:spcPct val="112000"/>
              </a:lnSpc>
              <a:buNone/>
            </a:pPr>
            <a:r>
              <a:rPr lang="en-US" sz="3600" b="1" dirty="0">
                <a:solidFill>
                  <a:srgbClr val="EDEAF5"/>
                </a:solidFill>
                <a:latin typeface="Cambria" pitchFamily="34" charset="0"/>
                <a:ea typeface="Cambria" pitchFamily="34" charset="-122"/>
                <a:cs typeface="Cambria" pitchFamily="34" charset="-120"/>
              </a:rPr>
              <a:t>e deixe a biblioteca executá-lo.</a:t>
            </a:r>
            <a:endParaRPr lang="en-US" sz="3600" dirty="0"/>
          </a:p>
        </p:txBody>
      </p:sp>
      <p:sp>
        <p:nvSpPr>
          <p:cNvPr id="4" name="Text 2"/>
          <p:cNvSpPr/>
          <p:nvPr/>
        </p:nvSpPr>
        <p:spPr>
          <a:xfrm>
            <a:off x="640080" y="3520440"/>
            <a:ext cx="10149840" cy="2514600"/>
          </a:xfrm>
          <a:prstGeom prst="rect">
            <a:avLst/>
          </a:prstGeom>
          <a:noFill/>
          <a:ln/>
        </p:spPr>
        <p:txBody>
          <a:bodyPr wrap="square" lIns="0" tIns="0" rIns="0" bIns="0" rtlCol="0" anchor="t"/>
          <a:lstStyle/>
          <a:p>
            <a:pPr indent="0" marL="0">
              <a:lnSpc>
                <a:spcPct val="118000"/>
              </a:lnSpc>
              <a:buNone/>
            </a:pPr>
            <a:r>
              <a:rPr lang="en-US" sz="1600" dirty="0">
                <a:solidFill>
                  <a:srgbClr val="A79FC4"/>
                </a:solidFill>
                <a:latin typeface="Calibri" pitchFamily="34" charset="0"/>
                <a:ea typeface="Calibri" pitchFamily="34" charset="-122"/>
                <a:cs typeface="Calibri" pitchFamily="34" charset="-120"/>
              </a:rPr>
              <a:t>O que era controle de fluxo implícito vira estrutura de dados explícita. E estrutura de dados você consegue inspecionar, desenhar, testar, versionar e persistir. O loop continua existindo: ele só não está mais escondido dentro de uma função sua.</a:t>
            </a:r>
            <a:endParaRPr lang="en-US" sz="1600" dirty="0"/>
          </a:p>
        </p:txBody>
      </p:sp>
      <p:sp>
        <p:nvSpPr>
          <p:cNvPr id="6"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A79FC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RECONHECIMENTO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O mesmo loop de ontem, desenhado</a:t>
            </a:r>
            <a:endParaRPr lang="en-US" sz="3400" dirty="0"/>
          </a:p>
        </p:txBody>
      </p:sp>
      <p:sp>
        <p:nvSpPr>
          <p:cNvPr id="4" name="Shape 2"/>
          <p:cNvSpPr/>
          <p:nvPr/>
        </p:nvSpPr>
        <p:spPr>
          <a:xfrm>
            <a:off x="5943600" y="2468880"/>
            <a:ext cx="0" cy="365760"/>
          </a:xfrm>
          <a:prstGeom prst="line">
            <a:avLst/>
          </a:prstGeom>
          <a:noFill/>
          <a:ln w="22225">
            <a:solidFill>
              <a:srgbClr val="6B6580"/>
            </a:solidFill>
            <a:prstDash val="solid"/>
            <a:tailEnd type="triangle"/>
          </a:ln>
        </p:spPr>
      </p:sp>
      <p:sp>
        <p:nvSpPr>
          <p:cNvPr id="5" name="Shape 3"/>
          <p:cNvSpPr/>
          <p:nvPr/>
        </p:nvSpPr>
        <p:spPr>
          <a:xfrm>
            <a:off x="7132320" y="3063240"/>
            <a:ext cx="1371600" cy="0"/>
          </a:xfrm>
          <a:prstGeom prst="line">
            <a:avLst/>
          </a:prstGeom>
          <a:noFill/>
          <a:ln w="22225">
            <a:solidFill>
              <a:srgbClr val="6B6580"/>
            </a:solidFill>
            <a:prstDash val="solid"/>
            <a:tailEnd type="triangle"/>
          </a:ln>
        </p:spPr>
      </p:sp>
      <p:sp>
        <p:nvSpPr>
          <p:cNvPr id="6" name="Shape 4"/>
          <p:cNvSpPr/>
          <p:nvPr/>
        </p:nvSpPr>
        <p:spPr>
          <a:xfrm>
            <a:off x="6400800" y="3840480"/>
            <a:ext cx="0" cy="1188720"/>
          </a:xfrm>
          <a:prstGeom prst="line">
            <a:avLst/>
          </a:prstGeom>
          <a:noFill/>
          <a:ln w="22225">
            <a:solidFill>
              <a:srgbClr val="6B6580"/>
            </a:solidFill>
            <a:prstDash val="solid"/>
            <a:tailEnd type="triangle"/>
          </a:ln>
        </p:spPr>
      </p:sp>
      <p:sp>
        <p:nvSpPr>
          <p:cNvPr id="7" name="Shape 5"/>
          <p:cNvSpPr/>
          <p:nvPr/>
        </p:nvSpPr>
        <p:spPr>
          <a:xfrm>
            <a:off x="9784080" y="3840480"/>
            <a:ext cx="0" cy="594360"/>
          </a:xfrm>
          <a:prstGeom prst="line">
            <a:avLst/>
          </a:prstGeom>
          <a:noFill/>
          <a:ln w="22225">
            <a:solidFill>
              <a:srgbClr val="6B6580"/>
            </a:solidFill>
            <a:prstDash val="solid"/>
            <a:tailEnd type="triangle"/>
          </a:ln>
        </p:spPr>
      </p:sp>
      <p:sp>
        <p:nvSpPr>
          <p:cNvPr id="8" name="Shape 6"/>
          <p:cNvSpPr/>
          <p:nvPr/>
        </p:nvSpPr>
        <p:spPr>
          <a:xfrm flipH="1">
            <a:off x="4023360" y="4434840"/>
            <a:ext cx="5760720" cy="0"/>
          </a:xfrm>
          <a:prstGeom prst="line">
            <a:avLst/>
          </a:prstGeom>
          <a:noFill/>
          <a:ln w="22225">
            <a:solidFill>
              <a:srgbClr val="6B6580"/>
            </a:solidFill>
            <a:prstDash val="solid"/>
            <a:tailEnd type="triangle"/>
          </a:ln>
        </p:spPr>
      </p:sp>
      <p:sp>
        <p:nvSpPr>
          <p:cNvPr id="9" name="Shape 7"/>
          <p:cNvSpPr/>
          <p:nvPr/>
        </p:nvSpPr>
        <p:spPr>
          <a:xfrm flipV="1">
            <a:off x="4023360" y="3337560"/>
            <a:ext cx="0" cy="1097280"/>
          </a:xfrm>
          <a:prstGeom prst="line">
            <a:avLst/>
          </a:prstGeom>
          <a:noFill/>
          <a:ln w="22225">
            <a:solidFill>
              <a:srgbClr val="6B6580"/>
            </a:solidFill>
            <a:prstDash val="solid"/>
            <a:tailEnd type="triangle"/>
          </a:ln>
        </p:spPr>
      </p:sp>
      <p:sp>
        <p:nvSpPr>
          <p:cNvPr id="10" name="Shape 8"/>
          <p:cNvSpPr/>
          <p:nvPr/>
        </p:nvSpPr>
        <p:spPr>
          <a:xfrm>
            <a:off x="4023360" y="3337560"/>
            <a:ext cx="731520" cy="0"/>
          </a:xfrm>
          <a:prstGeom prst="line">
            <a:avLst/>
          </a:prstGeom>
          <a:noFill/>
          <a:ln w="22225">
            <a:solidFill>
              <a:srgbClr val="6B6580"/>
            </a:solidFill>
            <a:prstDash val="solid"/>
            <a:tailEnd type="triangle"/>
          </a:ln>
        </p:spPr>
      </p:sp>
      <p:sp>
        <p:nvSpPr>
          <p:cNvPr id="11" name="Shape 9"/>
          <p:cNvSpPr/>
          <p:nvPr/>
        </p:nvSpPr>
        <p:spPr>
          <a:xfrm>
            <a:off x="5029200" y="1783080"/>
            <a:ext cx="1828800" cy="685800"/>
          </a:xfrm>
          <a:prstGeom prst="roundRect">
            <a:avLst>
              <a:gd name="adj" fmla="val 13333"/>
            </a:avLst>
          </a:prstGeom>
          <a:solidFill>
            <a:srgbClr val="E8E4F2"/>
          </a:solidFill>
          <a:ln w="12700">
            <a:solidFill>
              <a:srgbClr val="E8E4F2"/>
            </a:solidFill>
            <a:prstDash val="solid"/>
          </a:ln>
        </p:spPr>
      </p:sp>
      <p:sp>
        <p:nvSpPr>
          <p:cNvPr id="12" name="Text 10"/>
          <p:cNvSpPr/>
          <p:nvPr/>
        </p:nvSpPr>
        <p:spPr>
          <a:xfrm>
            <a:off x="5029200" y="1892808"/>
            <a:ext cx="1828800" cy="365760"/>
          </a:xfrm>
          <a:prstGeom prst="rect">
            <a:avLst/>
          </a:prstGeom>
          <a:noFill/>
          <a:ln/>
        </p:spPr>
        <p:txBody>
          <a:bodyPr wrap="square" lIns="0" tIns="0" rIns="0" bIns="0" rtlCol="0" anchor="ctr"/>
          <a:lstStyle/>
          <a:p>
            <a:pPr algn="ctr" indent="0" marL="0">
              <a:buNone/>
            </a:pPr>
            <a:r>
              <a:rPr lang="en-US" sz="1500" b="1" dirty="0">
                <a:solidFill>
                  <a:srgbClr val="1A1725"/>
                </a:solidFill>
                <a:latin typeface="Calibri" pitchFamily="34" charset="0"/>
                <a:ea typeface="Calibri" pitchFamily="34" charset="-122"/>
                <a:cs typeface="Calibri" pitchFamily="34" charset="-120"/>
              </a:rPr>
              <a:t>START</a:t>
            </a:r>
            <a:endParaRPr lang="en-US" sz="1500" dirty="0"/>
          </a:p>
        </p:txBody>
      </p:sp>
      <p:sp>
        <p:nvSpPr>
          <p:cNvPr id="13" name="Shape 11"/>
          <p:cNvSpPr/>
          <p:nvPr/>
        </p:nvSpPr>
        <p:spPr>
          <a:xfrm>
            <a:off x="4754880" y="2834640"/>
            <a:ext cx="2377440" cy="1005840"/>
          </a:xfrm>
          <a:prstGeom prst="roundRect">
            <a:avLst>
              <a:gd name="adj" fmla="val 9091"/>
            </a:avLst>
          </a:prstGeom>
          <a:solidFill>
            <a:srgbClr val="4C3A8C"/>
          </a:solidFill>
          <a:ln w="12700">
            <a:solidFill>
              <a:srgbClr val="E8E4F2"/>
            </a:solidFill>
            <a:prstDash val="solid"/>
          </a:ln>
        </p:spPr>
      </p:sp>
      <p:sp>
        <p:nvSpPr>
          <p:cNvPr id="14" name="Text 12"/>
          <p:cNvSpPr/>
          <p:nvPr/>
        </p:nvSpPr>
        <p:spPr>
          <a:xfrm>
            <a:off x="4754880" y="2944368"/>
            <a:ext cx="23774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agente</a:t>
            </a:r>
            <a:endParaRPr lang="en-US" sz="1500" dirty="0"/>
          </a:p>
        </p:txBody>
      </p:sp>
      <p:sp>
        <p:nvSpPr>
          <p:cNvPr id="15" name="Text 13"/>
          <p:cNvSpPr/>
          <p:nvPr/>
        </p:nvSpPr>
        <p:spPr>
          <a:xfrm>
            <a:off x="4864608" y="3337560"/>
            <a:ext cx="2157984" cy="384048"/>
          </a:xfrm>
          <a:prstGeom prst="rect">
            <a:avLst/>
          </a:prstGeom>
          <a:noFill/>
          <a:ln/>
        </p:spPr>
        <p:txBody>
          <a:bodyPr wrap="square" lIns="0" tIns="0" rIns="0" bIns="0" rtlCol="0" anchor="t"/>
          <a:lstStyle/>
          <a:p>
            <a:pPr algn="ctr" indent="0" marL="0">
              <a:lnSpc>
                <a:spcPct val="105000"/>
              </a:lnSpc>
              <a:buNone/>
            </a:pPr>
            <a:r>
              <a:rPr lang="en-US" sz="1150" dirty="0">
                <a:solidFill>
                  <a:srgbClr val="E4DEF7"/>
                </a:solidFill>
                <a:latin typeface="Calibri" pitchFamily="34" charset="0"/>
                <a:ea typeface="Calibri" pitchFamily="34" charset="-122"/>
                <a:cs typeface="Calibri" pitchFamily="34" charset="-120"/>
              </a:rPr>
              <a:t>chama o LLM</a:t>
            </a:r>
            <a:endParaRPr lang="en-US" sz="1150" dirty="0"/>
          </a:p>
        </p:txBody>
      </p:sp>
      <p:sp>
        <p:nvSpPr>
          <p:cNvPr id="16" name="Shape 14"/>
          <p:cNvSpPr/>
          <p:nvPr/>
        </p:nvSpPr>
        <p:spPr>
          <a:xfrm>
            <a:off x="8503920" y="2834640"/>
            <a:ext cx="2560320" cy="1005840"/>
          </a:xfrm>
          <a:prstGeom prst="roundRect">
            <a:avLst>
              <a:gd name="adj" fmla="val 9091"/>
            </a:avLst>
          </a:prstGeom>
          <a:solidFill>
            <a:srgbClr val="F2F0F7"/>
          </a:solidFill>
          <a:ln w="12700">
            <a:solidFill>
              <a:srgbClr val="E8E4F2"/>
            </a:solidFill>
            <a:prstDash val="solid"/>
          </a:ln>
        </p:spPr>
      </p:sp>
      <p:sp>
        <p:nvSpPr>
          <p:cNvPr id="17" name="Text 15"/>
          <p:cNvSpPr/>
          <p:nvPr/>
        </p:nvSpPr>
        <p:spPr>
          <a:xfrm>
            <a:off x="8503920" y="2944368"/>
            <a:ext cx="2560320" cy="365760"/>
          </a:xfrm>
          <a:prstGeom prst="rect">
            <a:avLst/>
          </a:prstGeom>
          <a:noFill/>
          <a:ln/>
        </p:spPr>
        <p:txBody>
          <a:bodyPr wrap="square" lIns="0" tIns="0" rIns="0" bIns="0" rtlCol="0" anchor="ctr"/>
          <a:lstStyle/>
          <a:p>
            <a:pPr algn="ctr" indent="0" marL="0">
              <a:buNone/>
            </a:pPr>
            <a:r>
              <a:rPr lang="en-US" sz="1500" b="1" dirty="0">
                <a:solidFill>
                  <a:srgbClr val="1A1725"/>
                </a:solidFill>
                <a:latin typeface="Calibri" pitchFamily="34" charset="0"/>
                <a:ea typeface="Calibri" pitchFamily="34" charset="-122"/>
                <a:cs typeface="Calibri" pitchFamily="34" charset="-120"/>
              </a:rPr>
              <a:t>ferramentas</a:t>
            </a:r>
            <a:endParaRPr lang="en-US" sz="1500" dirty="0"/>
          </a:p>
        </p:txBody>
      </p:sp>
      <p:sp>
        <p:nvSpPr>
          <p:cNvPr id="18" name="Text 16"/>
          <p:cNvSpPr/>
          <p:nvPr/>
        </p:nvSpPr>
        <p:spPr>
          <a:xfrm>
            <a:off x="8613648" y="3337560"/>
            <a:ext cx="2340864" cy="384048"/>
          </a:xfrm>
          <a:prstGeom prst="rect">
            <a:avLst/>
          </a:prstGeom>
          <a:noFill/>
          <a:ln/>
        </p:spPr>
        <p:txBody>
          <a:bodyPr wrap="square" lIns="0" tIns="0" rIns="0" bIns="0" rtlCol="0" anchor="t"/>
          <a:lstStyle/>
          <a:p>
            <a:pPr algn="ctr" indent="0" marL="0">
              <a:lnSpc>
                <a:spcPct val="105000"/>
              </a:lnSpc>
              <a:buNone/>
            </a:pPr>
            <a:r>
              <a:rPr lang="en-US" sz="1150" dirty="0">
                <a:solidFill>
                  <a:srgbClr val="6B6580"/>
                </a:solidFill>
                <a:latin typeface="Calibri" pitchFamily="34" charset="0"/>
                <a:ea typeface="Calibri" pitchFamily="34" charset="-122"/>
                <a:cs typeface="Calibri" pitchFamily="34" charset="-120"/>
              </a:rPr>
              <a:t>executa o que foi pedido</a:t>
            </a:r>
            <a:endParaRPr lang="en-US" sz="1150" dirty="0"/>
          </a:p>
        </p:txBody>
      </p:sp>
      <p:sp>
        <p:nvSpPr>
          <p:cNvPr id="19" name="Shape 17"/>
          <p:cNvSpPr/>
          <p:nvPr/>
        </p:nvSpPr>
        <p:spPr>
          <a:xfrm>
            <a:off x="5029200" y="5029200"/>
            <a:ext cx="1828800" cy="685800"/>
          </a:xfrm>
          <a:prstGeom prst="roundRect">
            <a:avLst>
              <a:gd name="adj" fmla="val 13333"/>
            </a:avLst>
          </a:prstGeom>
          <a:solidFill>
            <a:srgbClr val="E8933A"/>
          </a:solidFill>
          <a:ln w="12700">
            <a:solidFill>
              <a:srgbClr val="E8E4F2"/>
            </a:solidFill>
            <a:prstDash val="solid"/>
          </a:ln>
        </p:spPr>
      </p:sp>
      <p:sp>
        <p:nvSpPr>
          <p:cNvPr id="20" name="Text 18"/>
          <p:cNvSpPr/>
          <p:nvPr/>
        </p:nvSpPr>
        <p:spPr>
          <a:xfrm>
            <a:off x="5029200" y="5138928"/>
            <a:ext cx="1828800" cy="365760"/>
          </a:xfrm>
          <a:prstGeom prst="rect">
            <a:avLst/>
          </a:prstGeom>
          <a:noFill/>
          <a:ln/>
        </p:spPr>
        <p:txBody>
          <a:bodyPr wrap="square" lIns="0" tIns="0" rIns="0" bIns="0" rtlCol="0" anchor="ctr"/>
          <a:lstStyle/>
          <a:p>
            <a:pPr algn="ctr" indent="0" marL="0">
              <a:buNone/>
            </a:pPr>
            <a:r>
              <a:rPr lang="en-US" sz="1500" b="1" dirty="0">
                <a:solidFill>
                  <a:srgbClr val="1A1725"/>
                </a:solidFill>
                <a:latin typeface="Calibri" pitchFamily="34" charset="0"/>
                <a:ea typeface="Calibri" pitchFamily="34" charset="-122"/>
                <a:cs typeface="Calibri" pitchFamily="34" charset="-120"/>
              </a:rPr>
              <a:t>END</a:t>
            </a:r>
            <a:endParaRPr lang="en-US" sz="1500" dirty="0"/>
          </a:p>
        </p:txBody>
      </p:sp>
      <p:sp>
        <p:nvSpPr>
          <p:cNvPr id="21" name="Text 19"/>
          <p:cNvSpPr/>
          <p:nvPr/>
        </p:nvSpPr>
        <p:spPr>
          <a:xfrm>
            <a:off x="640080" y="5760720"/>
            <a:ext cx="10881360" cy="502920"/>
          </a:xfrm>
          <a:prstGeom prst="rect">
            <a:avLst/>
          </a:prstGeom>
          <a:noFill/>
          <a:ln/>
        </p:spPr>
        <p:txBody>
          <a:bodyPr wrap="square" lIns="0" tIns="0" rIns="0" bIns="0" rtlCol="0" anchor="ctr"/>
          <a:lstStyle/>
          <a:p>
            <a:pPr indent="0" marL="0">
              <a:buNone/>
            </a:pPr>
            <a:r>
              <a:rPr lang="en-US" sz="1300" i="1" dirty="0">
                <a:solidFill>
                  <a:srgbClr val="6B6580"/>
                </a:solidFill>
                <a:latin typeface="Calibri" pitchFamily="34" charset="0"/>
                <a:ea typeface="Calibri" pitchFamily="34" charset="-122"/>
                <a:cs typeface="Calibri" pitchFamily="34" charset="-120"/>
              </a:rPr>
              <a:t>A conditional edge a partir de agente pergunta: tem tool calls? Vai para ferramentas. Não tem? Vai para END. O caminho de retorno leva o resultado de volta ao agente.</a:t>
            </a:r>
            <a:endParaRPr lang="en-US" sz="1300" dirty="0"/>
          </a:p>
        </p:txBody>
      </p:sp>
      <p:sp>
        <p:nvSpPr>
          <p:cNvPr id="23" name="Text 20"/>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4" name="Text 21"/>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BALANÇO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O que a mudança de representação compra</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3657600"/>
                <a:gridCol w="3566160"/>
                <a:gridCol w="3657600"/>
              </a:tblGrid>
              <a:tr h="31089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Capacidade</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Com for e if</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Com grafo</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Desenhar o fluxo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diagrama à mão que envelhece</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gerado do próprio código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Pausar e retomar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serialização manual</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checkpointer, de graça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Testar uma decisão isolada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impossível sem rodar tudo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função pura, testável</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Ver o progresso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prints espalhados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stream por nó</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Rodar ramos em paralelo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threads e variável compartilhada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arestas paralelas e reducer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Voltar a um passo anterior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não existe</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histórico de checkpoints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bl>
          </a:graphicData>
        </a:graphic>
      </p:graphicFrame>
      <p:sp>
        <p:nvSpPr>
          <p:cNvPr id="6" name="Text 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7"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HONESTIDADE</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Quando NÃO usar grafo</a:t>
            </a:r>
            <a:endParaRPr lang="en-US" sz="3400" dirty="0"/>
          </a:p>
        </p:txBody>
      </p:sp>
      <p:sp>
        <p:nvSpPr>
          <p:cNvPr id="4" name="Shape 2"/>
          <p:cNvSpPr/>
          <p:nvPr/>
        </p:nvSpPr>
        <p:spPr>
          <a:xfrm>
            <a:off x="640080" y="1737360"/>
            <a:ext cx="5257800" cy="4160520"/>
          </a:xfrm>
          <a:prstGeom prst="roundRect">
            <a:avLst>
              <a:gd name="adj" fmla="val 2198"/>
            </a:avLst>
          </a:prstGeom>
          <a:solidFill>
            <a:srgbClr val="F2F0F7"/>
          </a:solidFill>
          <a:ln/>
        </p:spPr>
      </p:sp>
      <p:sp>
        <p:nvSpPr>
          <p:cNvPr id="5" name="Shape 3"/>
          <p:cNvSpPr/>
          <p:nvPr/>
        </p:nvSpPr>
        <p:spPr>
          <a:xfrm>
            <a:off x="868680" y="1938528"/>
            <a:ext cx="329184" cy="329184"/>
          </a:xfrm>
          <a:prstGeom prst="roundRect">
            <a:avLst>
              <a:gd name="adj" fmla="val 19444"/>
            </a:avLst>
          </a:prstGeom>
          <a:solidFill>
            <a:srgbClr val="9E3B3B"/>
          </a:solidFill>
          <a:ln/>
        </p:spPr>
      </p:sp>
      <p:sp>
        <p:nvSpPr>
          <p:cNvPr id="6" name="Text 4"/>
          <p:cNvSpPr/>
          <p:nvPr/>
        </p:nvSpPr>
        <p:spPr>
          <a:xfrm>
            <a:off x="86868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p>
        </p:txBody>
      </p:sp>
      <p:sp>
        <p:nvSpPr>
          <p:cNvPr id="7" name="Text 5"/>
          <p:cNvSpPr/>
          <p:nvPr/>
        </p:nvSpPr>
        <p:spPr>
          <a:xfrm>
            <a:off x="1298448" y="1920240"/>
            <a:ext cx="4389120" cy="365760"/>
          </a:xfrm>
          <a:prstGeom prst="rect">
            <a:avLst/>
          </a:prstGeom>
          <a:noFill/>
          <a:ln/>
        </p:spPr>
        <p:txBody>
          <a:bodyPr wrap="square" lIns="0" tIns="0" rIns="0" bIns="0" rtlCol="0" anchor="ctr"/>
          <a:lstStyle/>
          <a:p>
            <a:pPr indent="0" marL="0">
              <a:buNone/>
            </a:pPr>
            <a:r>
              <a:rPr lang="en-US" sz="1700" b="1" dirty="0">
                <a:solidFill>
                  <a:srgbClr val="1A1725"/>
                </a:solidFill>
                <a:latin typeface="Calibri" pitchFamily="34" charset="0"/>
                <a:ea typeface="Calibri" pitchFamily="34" charset="-122"/>
                <a:cs typeface="Calibri" pitchFamily="34" charset="-120"/>
              </a:rPr>
              <a:t>Não precisa de grafo</a:t>
            </a:r>
            <a:endParaRPr lang="en-US" sz="1700" dirty="0"/>
          </a:p>
        </p:txBody>
      </p:sp>
      <p:sp>
        <p:nvSpPr>
          <p:cNvPr id="8" name="Text 6"/>
          <p:cNvSpPr/>
          <p:nvPr/>
        </p:nvSpPr>
        <p:spPr>
          <a:xfrm>
            <a:off x="914400" y="2468880"/>
            <a:ext cx="4709160" cy="3246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Uma chamada de modelo e pronto</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Sequência fixa sem ramificação: use LCEL</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Script que roda e morre, sem estado</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Protótipo de dez minutos</a:t>
            </a:r>
            <a:endParaRPr lang="en-US" sz="1350" dirty="0"/>
          </a:p>
        </p:txBody>
      </p:sp>
      <p:sp>
        <p:nvSpPr>
          <p:cNvPr id="9" name="Shape 7"/>
          <p:cNvSpPr/>
          <p:nvPr/>
        </p:nvSpPr>
        <p:spPr>
          <a:xfrm>
            <a:off x="6263640" y="1737360"/>
            <a:ext cx="5257800" cy="4160520"/>
          </a:xfrm>
          <a:prstGeom prst="roundRect">
            <a:avLst>
              <a:gd name="adj" fmla="val 2198"/>
            </a:avLst>
          </a:prstGeom>
          <a:solidFill>
            <a:srgbClr val="F2F0F7"/>
          </a:solidFill>
          <a:ln/>
        </p:spPr>
      </p:sp>
      <p:sp>
        <p:nvSpPr>
          <p:cNvPr id="10" name="Shape 8"/>
          <p:cNvSpPr/>
          <p:nvPr/>
        </p:nvSpPr>
        <p:spPr>
          <a:xfrm>
            <a:off x="6492240" y="1938528"/>
            <a:ext cx="329184" cy="329184"/>
          </a:xfrm>
          <a:prstGeom prst="roundRect">
            <a:avLst>
              <a:gd name="adj" fmla="val 19444"/>
            </a:avLst>
          </a:prstGeom>
          <a:solidFill>
            <a:srgbClr val="3E7D5A"/>
          </a:solidFill>
          <a:ln/>
        </p:spPr>
      </p:sp>
      <p:sp>
        <p:nvSpPr>
          <p:cNvPr id="11" name="Text 9"/>
          <p:cNvSpPr/>
          <p:nvPr/>
        </p:nvSpPr>
        <p:spPr>
          <a:xfrm>
            <a:off x="649224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12" name="Text 10"/>
          <p:cNvSpPr/>
          <p:nvPr/>
        </p:nvSpPr>
        <p:spPr>
          <a:xfrm>
            <a:off x="6922008" y="1920240"/>
            <a:ext cx="4389120" cy="365760"/>
          </a:xfrm>
          <a:prstGeom prst="rect">
            <a:avLst/>
          </a:prstGeom>
          <a:noFill/>
          <a:ln/>
        </p:spPr>
        <p:txBody>
          <a:bodyPr wrap="square" lIns="0" tIns="0" rIns="0" bIns="0" rtlCol="0" anchor="ctr"/>
          <a:lstStyle/>
          <a:p>
            <a:pPr indent="0" marL="0">
              <a:buNone/>
            </a:pPr>
            <a:r>
              <a:rPr lang="en-US" sz="1700" b="1" dirty="0">
                <a:solidFill>
                  <a:srgbClr val="1A1725"/>
                </a:solidFill>
                <a:latin typeface="Calibri" pitchFamily="34" charset="0"/>
                <a:ea typeface="Calibri" pitchFamily="34" charset="-122"/>
                <a:cs typeface="Calibri" pitchFamily="34" charset="-120"/>
              </a:rPr>
              <a:t>Precisa de grafo</a:t>
            </a:r>
            <a:endParaRPr lang="en-US" sz="1700" dirty="0"/>
          </a:p>
        </p:txBody>
      </p:sp>
      <p:sp>
        <p:nvSpPr>
          <p:cNvPr id="13" name="Text 11"/>
          <p:cNvSpPr/>
          <p:nvPr/>
        </p:nvSpPr>
        <p:spPr>
          <a:xfrm>
            <a:off x="6537960" y="2468880"/>
            <a:ext cx="4709160" cy="3246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Caminho depende do resultado do passo anterior</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Precisa pausar e retomar depois</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Estado sobrevive ao processo</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Vários agentes coordenados: dia 4</a:t>
            </a:r>
            <a:endParaRPr lang="en-US" sz="1350" dirty="0"/>
          </a:p>
        </p:txBody>
      </p:sp>
      <p:sp>
        <p:nvSpPr>
          <p:cNvPr id="15" name="Text 1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6" name="Text 1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CHECKPOINT DO BLOCO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Três perguntas</a:t>
            </a:r>
            <a:endParaRPr lang="en-US" sz="3400" dirty="0"/>
          </a:p>
        </p:txBody>
      </p:sp>
      <p:sp>
        <p:nvSpPr>
          <p:cNvPr id="4" name="Shape 2"/>
          <p:cNvSpPr/>
          <p:nvPr/>
        </p:nvSpPr>
        <p:spPr>
          <a:xfrm>
            <a:off x="640080" y="1737360"/>
            <a:ext cx="3432048" cy="4206240"/>
          </a:xfrm>
          <a:prstGeom prst="roundRect">
            <a:avLst>
              <a:gd name="adj" fmla="val 2664"/>
            </a:avLst>
          </a:prstGeom>
          <a:solidFill>
            <a:srgbClr val="F2F0F7"/>
          </a:solidFill>
          <a:ln/>
        </p:spPr>
      </p:sp>
      <p:sp>
        <p:nvSpPr>
          <p:cNvPr id="5" name="Shape 3"/>
          <p:cNvSpPr/>
          <p:nvPr/>
        </p:nvSpPr>
        <p:spPr>
          <a:xfrm>
            <a:off x="841248" y="1938528"/>
            <a:ext cx="329184" cy="329184"/>
          </a:xfrm>
          <a:prstGeom prst="roundRect">
            <a:avLst>
              <a:gd name="adj" fmla="val 19444"/>
            </a:avLst>
          </a:prstGeom>
          <a:solidFill>
            <a:srgbClr val="4C3A8C"/>
          </a:solidFill>
          <a:ln/>
        </p:spPr>
      </p:sp>
      <p:sp>
        <p:nvSpPr>
          <p:cNvPr id="6" name="Text 4"/>
          <p:cNvSpPr/>
          <p:nvPr/>
        </p:nvSpPr>
        <p:spPr>
          <a:xfrm>
            <a:off x="841248"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Onde foi parar o for do dia 1?</a:t>
            </a:r>
            <a:endParaRPr lang="en-US" sz="1500" dirty="0"/>
          </a:p>
        </p:txBody>
      </p:sp>
      <p:sp>
        <p:nvSpPr>
          <p:cNvPr id="8" name="Text 6"/>
          <p:cNvSpPr/>
          <p:nvPr/>
        </p:nvSpPr>
        <p:spPr>
          <a:xfrm>
            <a:off x="841248"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Virou a aresta de retorno de ferramentas para agente.</a:t>
            </a:r>
            <a:endParaRPr lang="en-US" sz="1250" dirty="0"/>
          </a:p>
        </p:txBody>
      </p:sp>
      <p:sp>
        <p:nvSpPr>
          <p:cNvPr id="9" name="Shape 7"/>
          <p:cNvSpPr/>
          <p:nvPr/>
        </p:nvSpPr>
        <p:spPr>
          <a:xfrm>
            <a:off x="4364736" y="1737360"/>
            <a:ext cx="3432048" cy="4206240"/>
          </a:xfrm>
          <a:prstGeom prst="roundRect">
            <a:avLst>
              <a:gd name="adj" fmla="val 2664"/>
            </a:avLst>
          </a:prstGeom>
          <a:solidFill>
            <a:srgbClr val="F2F0F7"/>
          </a:solidFill>
          <a:ln/>
        </p:spPr>
      </p:sp>
      <p:sp>
        <p:nvSpPr>
          <p:cNvPr id="10" name="Shape 8"/>
          <p:cNvSpPr/>
          <p:nvPr/>
        </p:nvSpPr>
        <p:spPr>
          <a:xfrm>
            <a:off x="4565904" y="1938528"/>
            <a:ext cx="329184" cy="329184"/>
          </a:xfrm>
          <a:prstGeom prst="roundRect">
            <a:avLst>
              <a:gd name="adj" fmla="val 19444"/>
            </a:avLst>
          </a:prstGeom>
          <a:solidFill>
            <a:srgbClr val="4C3A8C"/>
          </a:solidFill>
          <a:ln/>
        </p:spPr>
      </p:sp>
      <p:sp>
        <p:nvSpPr>
          <p:cNvPr id="11" name="Text 9"/>
          <p:cNvSpPr/>
          <p:nvPr/>
        </p:nvSpPr>
        <p:spPr>
          <a:xfrm>
            <a:off x="4565904"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986528"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Onde foi parar o if not tool_calls?</a:t>
            </a:r>
            <a:endParaRPr lang="en-US" sz="1500" dirty="0"/>
          </a:p>
        </p:txBody>
      </p:sp>
      <p:sp>
        <p:nvSpPr>
          <p:cNvPr id="13" name="Text 11"/>
          <p:cNvSpPr/>
          <p:nvPr/>
        </p:nvSpPr>
        <p:spPr>
          <a:xfrm>
            <a:off x="4565904"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Virou a conditional edge que sai do nó agente.</a:t>
            </a:r>
            <a:endParaRPr lang="en-US" sz="1250" dirty="0"/>
          </a:p>
        </p:txBody>
      </p:sp>
      <p:sp>
        <p:nvSpPr>
          <p:cNvPr id="14" name="Shape 12"/>
          <p:cNvSpPr/>
          <p:nvPr/>
        </p:nvSpPr>
        <p:spPr>
          <a:xfrm>
            <a:off x="8089392" y="1737360"/>
            <a:ext cx="3432048" cy="4206240"/>
          </a:xfrm>
          <a:prstGeom prst="roundRect">
            <a:avLst>
              <a:gd name="adj" fmla="val 2664"/>
            </a:avLst>
          </a:prstGeom>
          <a:solidFill>
            <a:srgbClr val="F2F0F7"/>
          </a:solidFill>
          <a:ln/>
        </p:spPr>
      </p:sp>
      <p:sp>
        <p:nvSpPr>
          <p:cNvPr id="15" name="Shape 13"/>
          <p:cNvSpPr/>
          <p:nvPr/>
        </p:nvSpPr>
        <p:spPr>
          <a:xfrm>
            <a:off x="8290560" y="1938528"/>
            <a:ext cx="329184" cy="329184"/>
          </a:xfrm>
          <a:prstGeom prst="roundRect">
            <a:avLst>
              <a:gd name="adj" fmla="val 19444"/>
            </a:avLst>
          </a:prstGeom>
          <a:solidFill>
            <a:srgbClr val="E8933A"/>
          </a:solidFill>
          <a:ln/>
        </p:spPr>
      </p:sp>
      <p:sp>
        <p:nvSpPr>
          <p:cNvPr id="16" name="Text 14"/>
          <p:cNvSpPr/>
          <p:nvPr/>
        </p:nvSpPr>
        <p:spPr>
          <a:xfrm>
            <a:off x="829056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711184"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Onde foi parar o max_passos?</a:t>
            </a:r>
            <a:endParaRPr lang="en-US" sz="1500" dirty="0"/>
          </a:p>
        </p:txBody>
      </p:sp>
      <p:sp>
        <p:nvSpPr>
          <p:cNvPr id="18" name="Text 16"/>
          <p:cNvSpPr/>
          <p:nvPr/>
        </p:nvSpPr>
        <p:spPr>
          <a:xfrm>
            <a:off x="8290560"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Virou um campo do estado, lido pela função de roteamento.</a:t>
            </a:r>
            <a:endParaRPr lang="en-US" sz="1250" dirty="0"/>
          </a:p>
        </p:txBody>
      </p:sp>
      <p:sp>
        <p:nvSpPr>
          <p:cNvPr id="20" name="Text 1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1" name="Text 1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C3A8C"/>
        </a:solidFill>
      </p:bgPr>
    </p:bg>
    <p:spTree>
      <p:nvGrpSpPr>
        <p:cNvPr id="1" name=""/>
        <p:cNvGrpSpPr/>
        <p:nvPr/>
      </p:nvGrpSpPr>
      <p:grpSpPr>
        <a:xfrm>
          <a:off x="0" y="0"/>
          <a:ext cx="0" cy="0"/>
          <a:chOff x="0" y="0"/>
          <a:chExt cx="0" cy="0"/>
        </a:xfrm>
      </p:grpSpPr>
      <p:sp>
        <p:nvSpPr>
          <p:cNvPr id="2" name="Text 0"/>
          <p:cNvSpPr/>
          <p:nvPr/>
        </p:nvSpPr>
        <p:spPr>
          <a:xfrm>
            <a:off x="640080" y="1920240"/>
            <a:ext cx="1828800" cy="1280160"/>
          </a:xfrm>
          <a:prstGeom prst="rect">
            <a:avLst/>
          </a:prstGeom>
          <a:noFill/>
          <a:ln/>
        </p:spPr>
        <p:txBody>
          <a:bodyPr wrap="square" lIns="0" tIns="0" rIns="0" bIns="0" rtlCol="0" anchor="ctr"/>
          <a:lstStyle/>
          <a:p>
            <a:pPr indent="0" marL="0">
              <a:buNone/>
            </a:pPr>
            <a:r>
              <a:rPr lang="en-US" sz="7200" b="1" dirty="0">
                <a:solidFill>
                  <a:srgbClr val="E8933A"/>
                </a:solidFill>
                <a:latin typeface="Cambria" pitchFamily="34" charset="0"/>
                <a:ea typeface="Cambria" pitchFamily="34" charset="-122"/>
                <a:cs typeface="Cambria" pitchFamily="34" charset="-120"/>
              </a:rPr>
              <a:t>02</a:t>
            </a:r>
            <a:endParaRPr lang="en-US" sz="7200" dirty="0"/>
          </a:p>
        </p:txBody>
      </p:sp>
      <p:sp>
        <p:nvSpPr>
          <p:cNvPr id="3" name="Text 1"/>
          <p:cNvSpPr/>
          <p:nvPr/>
        </p:nvSpPr>
        <p:spPr>
          <a:xfrm>
            <a:off x="2560320" y="2057400"/>
            <a:ext cx="91440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Os quatro conceitos</a:t>
            </a:r>
            <a:endParaRPr lang="en-US" sz="4000" dirty="0"/>
          </a:p>
        </p:txBody>
      </p:sp>
      <p:sp>
        <p:nvSpPr>
          <p:cNvPr id="4" name="Text 2"/>
          <p:cNvSpPr/>
          <p:nvPr/>
        </p:nvSpPr>
        <p:spPr>
          <a:xfrm>
            <a:off x="2560320" y="3200400"/>
            <a:ext cx="9144000" cy="1097280"/>
          </a:xfrm>
          <a:prstGeom prst="rect">
            <a:avLst/>
          </a:prstGeom>
          <a:noFill/>
          <a:ln/>
        </p:spPr>
        <p:txBody>
          <a:bodyPr wrap="square" lIns="0" tIns="0" rIns="0" bIns="0" rtlCol="0" anchor="ctr"/>
          <a:lstStyle/>
          <a:p>
            <a:pPr indent="0" marL="0">
              <a:buNone/>
            </a:pPr>
            <a:r>
              <a:rPr lang="en-US" sz="1700" dirty="0">
                <a:solidFill>
                  <a:srgbClr val="E4DEF7"/>
                </a:solidFill>
                <a:latin typeface="Calibri" pitchFamily="34" charset="0"/>
                <a:ea typeface="Calibri" pitchFamily="34" charset="-122"/>
                <a:cs typeface="Calibri" pitchFamily="34" charset="-120"/>
              </a:rPr>
              <a:t>Estado, nós, arestas, compilar.</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CONCEITO 1</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Estado e reducers</a:t>
            </a:r>
            <a:endParaRPr lang="en-US" sz="3400" dirty="0"/>
          </a:p>
        </p:txBody>
      </p:sp>
      <p:sp>
        <p:nvSpPr>
          <p:cNvPr id="4" name="Text 2"/>
          <p:cNvSpPr/>
          <p:nvPr/>
        </p:nvSpPr>
        <p:spPr>
          <a:xfrm>
            <a:off x="640080" y="1691640"/>
            <a:ext cx="4114800" cy="795528"/>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O estado é um dicionário tipado que atravessa o grafo. Cada nó recebe o estado e devolve APENAS o que mudou.</a:t>
            </a:r>
            <a:endParaRPr lang="en-US" sz="1400" dirty="0"/>
          </a:p>
        </p:txBody>
      </p:sp>
      <p:sp>
        <p:nvSpPr>
          <p:cNvPr id="5" name="Shape 3"/>
          <p:cNvSpPr/>
          <p:nvPr/>
        </p:nvSpPr>
        <p:spPr>
          <a:xfrm>
            <a:off x="640080" y="2761488"/>
            <a:ext cx="4114800" cy="3227832"/>
          </a:xfrm>
          <a:prstGeom prst="roundRect">
            <a:avLst>
              <a:gd name="adj" fmla="val 2833"/>
            </a:avLst>
          </a:prstGeom>
          <a:solidFill>
            <a:srgbClr val="F2F0F7"/>
          </a:solidFill>
          <a:ln/>
        </p:spPr>
      </p:sp>
      <p:sp>
        <p:nvSpPr>
          <p:cNvPr id="6" name="Text 4"/>
          <p:cNvSpPr/>
          <p:nvPr/>
        </p:nvSpPr>
        <p:spPr>
          <a:xfrm>
            <a:off x="859536" y="2907792"/>
            <a:ext cx="3675888" cy="2935224"/>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O Annotated com add_messages define um reducer: como combinar o valor antigo com o novo.</a:t>
            </a:r>
            <a:endParaRPr lang="en-US" sz="1250" dirty="0"/>
          </a:p>
          <a:p>
            <a:pPr indent="0" marL="0">
              <a:lnSpc>
                <a:spcPct val="110000"/>
              </a:lnSpc>
              <a:buNone/>
            </a:pPr>
            <a:endParaRPr lang="en-US" sz="1250" dirty="0"/>
          </a:p>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Sem reducer, o valor novo SUBSTITUI o antigo. Com add_messages, a lista nova é ANEXADA, com deduplicação por id.</a:t>
            </a:r>
            <a:endParaRPr lang="en-US" sz="1250" dirty="0"/>
          </a:p>
          <a:p>
            <a:pPr indent="0" marL="0">
              <a:lnSpc>
                <a:spcPct val="110000"/>
              </a:lnSpc>
              <a:buNone/>
            </a:pPr>
            <a:endParaRPr lang="en-US" sz="1250" dirty="0"/>
          </a:p>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Esquecer o reducer em messages faz cada nó apagar o histórico inteiro. É o erro número um de quem começa.</a:t>
            </a:r>
            <a:endParaRPr lang="en-US" sz="1250" dirty="0"/>
          </a:p>
        </p:txBody>
      </p:sp>
      <p:sp>
        <p:nvSpPr>
          <p:cNvPr id="7" name="Shape 5"/>
          <p:cNvSpPr/>
          <p:nvPr/>
        </p:nvSpPr>
        <p:spPr>
          <a:xfrm>
            <a:off x="5120640" y="1691640"/>
            <a:ext cx="6400800" cy="4297680"/>
          </a:xfrm>
          <a:prstGeom prst="roundRect">
            <a:avLst>
              <a:gd name="adj" fmla="val 2128"/>
            </a:avLst>
          </a:prstGeom>
          <a:solidFill>
            <a:srgbClr val="0F0C1A"/>
          </a:solidFill>
          <a:ln/>
        </p:spPr>
      </p:sp>
      <p:sp>
        <p:nvSpPr>
          <p:cNvPr id="8" name="Text 6"/>
          <p:cNvSpPr/>
          <p:nvPr/>
        </p:nvSpPr>
        <p:spPr>
          <a:xfrm>
            <a:off x="5321808" y="1828800"/>
            <a:ext cx="5998464" cy="4023360"/>
          </a:xfrm>
          <a:prstGeom prst="rect">
            <a:avLst/>
          </a:prstGeom>
          <a:noFill/>
          <a:ln/>
        </p:spPr>
        <p:txBody>
          <a:bodyPr wrap="square" lIns="0" tIns="0" rIns="0" bIns="0" rtlCol="0" anchor="t"/>
          <a:lstStyle/>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from typing import Annotated, TypedDict</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from langgraph.graph import add_messages</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class Estado(TypedDict):</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messages: Annotated[list[AnyMessage], add_messages]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pergunta: str        # substitui</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tentativas: int      # substitui</a:t>
            </a:r>
            <a:endParaRPr lang="en-US" sz="1150" dirty="0"/>
          </a:p>
          <a:p>
            <a:pPr indent="0" marL="0">
              <a:lnSpc>
                <a:spcPct val="102000"/>
              </a:lnSpc>
              <a:buNone/>
            </a:pP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outros reducers uteis: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import operator</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fontes: Annotated[list[str], operator.add]</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custo:  Annotated[float, operator.add]</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def juntar(antigo: dict, novo: dict) -&gt; dict:</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return {**antigo, **novo}</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achados: Annotated[dict, juntar]</a:t>
            </a:r>
            <a:endParaRPr lang="en-US" sz="115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O ERRO NÚMERO UM</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O que acontece sem o reducer</a:t>
            </a:r>
            <a:endParaRPr lang="en-US" sz="3400" dirty="0"/>
          </a:p>
        </p:txBody>
      </p:sp>
      <p:sp>
        <p:nvSpPr>
          <p:cNvPr id="4" name="Shape 2"/>
          <p:cNvSpPr/>
          <p:nvPr/>
        </p:nvSpPr>
        <p:spPr>
          <a:xfrm>
            <a:off x="640080" y="1737360"/>
            <a:ext cx="5257800" cy="4160520"/>
          </a:xfrm>
          <a:prstGeom prst="roundRect">
            <a:avLst>
              <a:gd name="adj" fmla="val 2198"/>
            </a:avLst>
          </a:prstGeom>
          <a:solidFill>
            <a:srgbClr val="F2F0F7"/>
          </a:solidFill>
          <a:ln/>
        </p:spPr>
      </p:sp>
      <p:sp>
        <p:nvSpPr>
          <p:cNvPr id="5" name="Shape 3"/>
          <p:cNvSpPr/>
          <p:nvPr/>
        </p:nvSpPr>
        <p:spPr>
          <a:xfrm>
            <a:off x="868680" y="1938528"/>
            <a:ext cx="329184" cy="329184"/>
          </a:xfrm>
          <a:prstGeom prst="roundRect">
            <a:avLst>
              <a:gd name="adj" fmla="val 19444"/>
            </a:avLst>
          </a:prstGeom>
          <a:solidFill>
            <a:srgbClr val="9E3B3B"/>
          </a:solidFill>
          <a:ln/>
        </p:spPr>
      </p:sp>
      <p:sp>
        <p:nvSpPr>
          <p:cNvPr id="6" name="Text 4"/>
          <p:cNvSpPr/>
          <p:nvPr/>
        </p:nvSpPr>
        <p:spPr>
          <a:xfrm>
            <a:off x="86868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a:t>
            </a:r>
            <a:endParaRPr lang="en-US" sz="1200" dirty="0"/>
          </a:p>
        </p:txBody>
      </p:sp>
      <p:sp>
        <p:nvSpPr>
          <p:cNvPr id="7" name="Text 5"/>
          <p:cNvSpPr/>
          <p:nvPr/>
        </p:nvSpPr>
        <p:spPr>
          <a:xfrm>
            <a:off x="1298448" y="1920240"/>
            <a:ext cx="4389120" cy="365760"/>
          </a:xfrm>
          <a:prstGeom prst="rect">
            <a:avLst/>
          </a:prstGeom>
          <a:noFill/>
          <a:ln/>
        </p:spPr>
        <p:txBody>
          <a:bodyPr wrap="square" lIns="0" tIns="0" rIns="0" bIns="0" rtlCol="0" anchor="ctr"/>
          <a:lstStyle/>
          <a:p>
            <a:pPr indent="0" marL="0">
              <a:buNone/>
            </a:pPr>
            <a:r>
              <a:rPr lang="en-US" sz="1700" b="1" dirty="0">
                <a:solidFill>
                  <a:srgbClr val="1A1725"/>
                </a:solidFill>
                <a:latin typeface="Calibri" pitchFamily="34" charset="0"/>
                <a:ea typeface="Calibri" pitchFamily="34" charset="-122"/>
                <a:cs typeface="Calibri" pitchFamily="34" charset="-120"/>
              </a:rPr>
              <a:t>messages: list[AnyMessage]</a:t>
            </a:r>
            <a:endParaRPr lang="en-US" sz="1700" dirty="0"/>
          </a:p>
        </p:txBody>
      </p:sp>
      <p:sp>
        <p:nvSpPr>
          <p:cNvPr id="8" name="Text 6"/>
          <p:cNvSpPr/>
          <p:nvPr/>
        </p:nvSpPr>
        <p:spPr>
          <a:xfrm>
            <a:off x="914400" y="2468880"/>
            <a:ext cx="4709160" cy="3246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Cada nó SUBSTITUI a lista inteira</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O histórico some a cada passo</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O agente esquece o que a ferramenta devolveu</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Sintoma: loop infinito chamando a mesma coisa</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Não dá erro. Só funciona mal.</a:t>
            </a:r>
            <a:endParaRPr lang="en-US" sz="1350" dirty="0"/>
          </a:p>
        </p:txBody>
      </p:sp>
      <p:sp>
        <p:nvSpPr>
          <p:cNvPr id="9" name="Shape 7"/>
          <p:cNvSpPr/>
          <p:nvPr/>
        </p:nvSpPr>
        <p:spPr>
          <a:xfrm>
            <a:off x="6263640" y="1737360"/>
            <a:ext cx="5257800" cy="4160520"/>
          </a:xfrm>
          <a:prstGeom prst="roundRect">
            <a:avLst>
              <a:gd name="adj" fmla="val 2198"/>
            </a:avLst>
          </a:prstGeom>
          <a:solidFill>
            <a:srgbClr val="F2F0F7"/>
          </a:solidFill>
          <a:ln/>
        </p:spPr>
      </p:sp>
      <p:sp>
        <p:nvSpPr>
          <p:cNvPr id="10" name="Shape 8"/>
          <p:cNvSpPr/>
          <p:nvPr/>
        </p:nvSpPr>
        <p:spPr>
          <a:xfrm>
            <a:off x="6492240" y="1938528"/>
            <a:ext cx="329184" cy="329184"/>
          </a:xfrm>
          <a:prstGeom prst="roundRect">
            <a:avLst>
              <a:gd name="adj" fmla="val 19444"/>
            </a:avLst>
          </a:prstGeom>
          <a:solidFill>
            <a:srgbClr val="3E7D5A"/>
          </a:solidFill>
          <a:ln/>
        </p:spPr>
      </p:sp>
      <p:sp>
        <p:nvSpPr>
          <p:cNvPr id="11" name="Text 9"/>
          <p:cNvSpPr/>
          <p:nvPr/>
        </p:nvSpPr>
        <p:spPr>
          <a:xfrm>
            <a:off x="649224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p>
        </p:txBody>
      </p:sp>
      <p:sp>
        <p:nvSpPr>
          <p:cNvPr id="12" name="Text 10"/>
          <p:cNvSpPr/>
          <p:nvPr/>
        </p:nvSpPr>
        <p:spPr>
          <a:xfrm>
            <a:off x="6922008" y="1920240"/>
            <a:ext cx="4389120" cy="365760"/>
          </a:xfrm>
          <a:prstGeom prst="rect">
            <a:avLst/>
          </a:prstGeom>
          <a:noFill/>
          <a:ln/>
        </p:spPr>
        <p:txBody>
          <a:bodyPr wrap="square" lIns="0" tIns="0" rIns="0" bIns="0" rtlCol="0" anchor="ctr"/>
          <a:lstStyle/>
          <a:p>
            <a:pPr indent="0" marL="0">
              <a:buNone/>
            </a:pPr>
            <a:r>
              <a:rPr lang="en-US" sz="1700" b="1" dirty="0">
                <a:solidFill>
                  <a:srgbClr val="1A1725"/>
                </a:solidFill>
                <a:latin typeface="Calibri" pitchFamily="34" charset="0"/>
                <a:ea typeface="Calibri" pitchFamily="34" charset="-122"/>
                <a:cs typeface="Calibri" pitchFamily="34" charset="-120"/>
              </a:rPr>
              <a:t>Annotated[list, add_messages]</a:t>
            </a:r>
            <a:endParaRPr lang="en-US" sz="1700" dirty="0"/>
          </a:p>
        </p:txBody>
      </p:sp>
      <p:sp>
        <p:nvSpPr>
          <p:cNvPr id="13" name="Text 11"/>
          <p:cNvSpPr/>
          <p:nvPr/>
        </p:nvSpPr>
        <p:spPr>
          <a:xfrm>
            <a:off x="6537960" y="2468880"/>
            <a:ext cx="4709160" cy="3246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Cada nó ANEXA à lista</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Deduplicação por id de mensagem</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Atualização de mensagem existente pelo mesmo id</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Sintoma de sucesso: o histórico cresce</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É o comportamento que você espera</a:t>
            </a:r>
            <a:endParaRPr lang="en-US" sz="1350" dirty="0"/>
          </a:p>
        </p:txBody>
      </p:sp>
      <p:sp>
        <p:nvSpPr>
          <p:cNvPr id="15" name="Text 1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6" name="Text 1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CONCEITOS 2, 3 E 4</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Nós, arestas e compilação</a:t>
            </a:r>
            <a:endParaRPr lang="en-US" sz="3400" dirty="0"/>
          </a:p>
        </p:txBody>
      </p:sp>
      <p:sp>
        <p:nvSpPr>
          <p:cNvPr id="4" name="Shape 2"/>
          <p:cNvSpPr/>
          <p:nvPr/>
        </p:nvSpPr>
        <p:spPr>
          <a:xfrm>
            <a:off x="640080" y="1645920"/>
            <a:ext cx="10881360" cy="3794760"/>
          </a:xfrm>
          <a:prstGeom prst="roundRect">
            <a:avLst>
              <a:gd name="adj" fmla="val 2410"/>
            </a:avLst>
          </a:prstGeom>
          <a:solidFill>
            <a:srgbClr val="0F0C1A"/>
          </a:solidFill>
          <a:ln/>
        </p:spPr>
      </p:sp>
      <p:sp>
        <p:nvSpPr>
          <p:cNvPr id="5" name="Text 3"/>
          <p:cNvSpPr/>
          <p:nvPr/>
        </p:nvSpPr>
        <p:spPr>
          <a:xfrm>
            <a:off x="868680" y="1783080"/>
            <a:ext cx="10424160" cy="3520440"/>
          </a:xfrm>
          <a:prstGeom prst="rect">
            <a:avLst/>
          </a:prstGeom>
          <a:noFill/>
          <a:ln/>
        </p:spPr>
        <p:txBody>
          <a:bodyPr wrap="square" lIns="0" tIns="0" rIns="0" bIns="0" rtlCol="0" anchor="t"/>
          <a:lstStyle/>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def no_agente(estado: Estado) -&gt; dict:</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return {"messages": [llm_com_tools.invoke(estado["messages"])]}   # so o delta</a:t>
            </a:r>
            <a:endParaRPr lang="en-US" sz="1250" dirty="0"/>
          </a:p>
          <a:p>
            <a:pPr indent="0" marL="0">
              <a:lnSpc>
                <a:spcPct val="102000"/>
              </a:lnSpc>
              <a:buNone/>
            </a:pP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construtor = StateGraph(Estado)</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construtor.add_node("agente", no_agente)</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construtor.add_node("ferramentas", ToolNode(FERRAMENTAS))</a:t>
            </a:r>
            <a:endParaRPr lang="en-US" sz="1250" dirty="0"/>
          </a:p>
          <a:p>
            <a:pPr indent="0" marL="0">
              <a:lnSpc>
                <a:spcPct val="102000"/>
              </a:lnSpc>
              <a:buNone/>
            </a:pP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construtor.add_edge(START, "agente")            # aresta fixa</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construtor.add_edge("ferramentas", "agente")    # o loop</a:t>
            </a:r>
            <a:endParaRPr lang="en-US" sz="1250" dirty="0"/>
          </a:p>
          <a:p>
            <a:pPr indent="0" marL="0">
              <a:lnSpc>
                <a:spcPct val="102000"/>
              </a:lnSpc>
              <a:buNone/>
            </a:pP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def rotear(estado: Estado) -&gt; str:              # conditional edge</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ultima = estado["messages"][-1]</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return "ferramentas" if getattr(ultima, "tool_calls", None) else END</a:t>
            </a:r>
            <a:endParaRPr lang="en-US" sz="1250" dirty="0"/>
          </a:p>
          <a:p>
            <a:pPr indent="0" marL="0">
              <a:lnSpc>
                <a:spcPct val="102000"/>
              </a:lnSpc>
              <a:buNone/>
            </a:pP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construtor.add_conditional_edges("agente", rotear, ["ferramentas", END])</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grafo = construtor.compile()</a:t>
            </a:r>
            <a:endParaRPr lang="en-US" sz="1250" dirty="0"/>
          </a:p>
        </p:txBody>
      </p:sp>
      <p:sp>
        <p:nvSpPr>
          <p:cNvPr id="6" name="Text 4"/>
          <p:cNvSpPr/>
          <p:nvPr/>
        </p:nvSpPr>
        <p:spPr>
          <a:xfrm>
            <a:off x="640080" y="5577840"/>
            <a:ext cx="10881360" cy="731520"/>
          </a:xfrm>
          <a:prstGeom prst="rect">
            <a:avLst/>
          </a:prstGeom>
          <a:noFill/>
          <a:ln/>
        </p:spPr>
        <p:txBody>
          <a:bodyPr wrap="square" lIns="0" tIns="0" rIns="0" bIns="0" rtlCol="0" anchor="t"/>
          <a:lstStyle/>
          <a:p>
            <a:pPr indent="0" marL="0">
              <a:buNone/>
            </a:pPr>
            <a:r>
              <a:rPr lang="en-US" sz="1350" i="1" dirty="0">
                <a:solidFill>
                  <a:srgbClr val="6B6580"/>
                </a:solidFill>
                <a:latin typeface="Calibri" pitchFamily="34" charset="0"/>
                <a:ea typeface="Calibri" pitchFamily="34" charset="-122"/>
                <a:cs typeface="Calibri" pitchFamily="34" charset="-120"/>
              </a:rPr>
              <a:t>O terceiro argumento de add_conditional_edges é a lista de destinos possíveis: opcional para executar, obrigatório para desenhar corretamente, e útil como documentação.</a:t>
            </a:r>
            <a:endParaRPr lang="en-US" sz="1350" dirty="0"/>
          </a:p>
        </p:txBody>
      </p:sp>
      <p:sp>
        <p:nvSpPr>
          <p:cNvPr id="8" name="Text 5"/>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9" name="Text 6"/>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DE BRINDE</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Desenhe antes de rodar</a:t>
            </a:r>
            <a:endParaRPr lang="en-US" sz="3400" dirty="0"/>
          </a:p>
        </p:txBody>
      </p:sp>
      <p:sp>
        <p:nvSpPr>
          <p:cNvPr id="4" name="Text 2"/>
          <p:cNvSpPr/>
          <p:nvPr/>
        </p:nvSpPr>
        <p:spPr>
          <a:xfrm>
            <a:off x="640080" y="1691640"/>
            <a:ext cx="4480560" cy="795528"/>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Desenhar o grafo antes de executar pega metade dos erros de arquitetura: nó órfão, aresta faltando, ciclo indesejado, destino que não existe.</a:t>
            </a:r>
            <a:endParaRPr lang="en-US" sz="1400" dirty="0"/>
          </a:p>
        </p:txBody>
      </p:sp>
      <p:sp>
        <p:nvSpPr>
          <p:cNvPr id="5" name="Shape 3"/>
          <p:cNvSpPr/>
          <p:nvPr/>
        </p:nvSpPr>
        <p:spPr>
          <a:xfrm>
            <a:off x="640080" y="2761488"/>
            <a:ext cx="4480560" cy="3227832"/>
          </a:xfrm>
          <a:prstGeom prst="roundRect">
            <a:avLst>
              <a:gd name="adj" fmla="val 2833"/>
            </a:avLst>
          </a:prstGeom>
          <a:solidFill>
            <a:srgbClr val="F2F0F7"/>
          </a:solidFill>
          <a:ln/>
        </p:spPr>
      </p:sp>
      <p:sp>
        <p:nvSpPr>
          <p:cNvPr id="6" name="Text 4"/>
          <p:cNvSpPr/>
          <p:nvPr/>
        </p:nvSpPr>
        <p:spPr>
          <a:xfrm>
            <a:off x="859536" y="2907792"/>
            <a:ext cx="4041648" cy="2935224"/>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Peça que o diagrama gerado pelo próprio código entre no README do projeto. Diagrama desenhado à mão envelhece; diagrama gerado, não.</a:t>
            </a:r>
            <a:endParaRPr lang="en-US" sz="1250" dirty="0"/>
          </a:p>
        </p:txBody>
      </p:sp>
      <p:sp>
        <p:nvSpPr>
          <p:cNvPr id="7" name="Shape 5"/>
          <p:cNvSpPr/>
          <p:nvPr/>
        </p:nvSpPr>
        <p:spPr>
          <a:xfrm>
            <a:off x="5486400" y="1691640"/>
            <a:ext cx="6035040" cy="4297680"/>
          </a:xfrm>
          <a:prstGeom prst="roundRect">
            <a:avLst>
              <a:gd name="adj" fmla="val 2128"/>
            </a:avLst>
          </a:prstGeom>
          <a:solidFill>
            <a:srgbClr val="0F0C1A"/>
          </a:solidFill>
          <a:ln/>
        </p:spPr>
      </p:sp>
      <p:sp>
        <p:nvSpPr>
          <p:cNvPr id="8" name="Text 6"/>
          <p:cNvSpPr/>
          <p:nvPr/>
        </p:nvSpPr>
        <p:spPr>
          <a:xfrm>
            <a:off x="5687568" y="1828800"/>
            <a:ext cx="5632704" cy="4023360"/>
          </a:xfrm>
          <a:prstGeom prst="rect">
            <a:avLst/>
          </a:prstGeom>
          <a:noFill/>
          <a:ln/>
        </p:spPr>
        <p:txBody>
          <a:bodyPr wrap="square" lIns="0" tIns="0" rIns="0" bIns="0" rtlCol="0" anchor="t"/>
          <a:lstStyle/>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print(grafo.get_graph().draw_ascii())</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png = grafo.get_graph().draw_mermaid_png()</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open("grafo.png", "wb").write(png)</a:t>
            </a:r>
            <a:endParaRPr lang="en-US" sz="1150" dirty="0"/>
          </a:p>
          <a:p>
            <a:pPr indent="0" marL="0">
              <a:lnSpc>
                <a:spcPct val="102000"/>
              </a:lnSpc>
              <a:buNone/>
            </a:pP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   START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  agente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 ferramentas |  |  END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  +-------+</a:t>
            </a:r>
            <a:endParaRPr lang="en-US" sz="115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NÓ DE FERRAMENTAS</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Escrever à mão ou usar o pronto</a:t>
            </a:r>
            <a:endParaRPr lang="en-US" sz="3400" dirty="0"/>
          </a:p>
        </p:txBody>
      </p:sp>
      <p:sp>
        <p:nvSpPr>
          <p:cNvPr id="4" name="Shape 2"/>
          <p:cNvSpPr/>
          <p:nvPr/>
        </p:nvSpPr>
        <p:spPr>
          <a:xfrm>
            <a:off x="640080" y="1737360"/>
            <a:ext cx="5257800" cy="4160520"/>
          </a:xfrm>
          <a:prstGeom prst="roundRect">
            <a:avLst>
              <a:gd name="adj" fmla="val 2198"/>
            </a:avLst>
          </a:prstGeom>
          <a:solidFill>
            <a:srgbClr val="F2F0F7"/>
          </a:solidFill>
          <a:ln/>
        </p:spPr>
      </p:sp>
      <p:sp>
        <p:nvSpPr>
          <p:cNvPr id="5" name="Shape 3"/>
          <p:cNvSpPr/>
          <p:nvPr/>
        </p:nvSpPr>
        <p:spPr>
          <a:xfrm>
            <a:off x="868680" y="1938528"/>
            <a:ext cx="329184" cy="329184"/>
          </a:xfrm>
          <a:prstGeom prst="roundRect">
            <a:avLst>
              <a:gd name="adj" fmla="val 19444"/>
            </a:avLst>
          </a:prstGeom>
          <a:solidFill>
            <a:srgbClr val="4C3A8C"/>
          </a:solidFill>
          <a:ln/>
        </p:spPr>
      </p:sp>
      <p:sp>
        <p:nvSpPr>
          <p:cNvPr id="6" name="Text 4"/>
          <p:cNvSpPr/>
          <p:nvPr/>
        </p:nvSpPr>
        <p:spPr>
          <a:xfrm>
            <a:off x="86868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98448" y="1920240"/>
            <a:ext cx="4389120" cy="365760"/>
          </a:xfrm>
          <a:prstGeom prst="rect">
            <a:avLst/>
          </a:prstGeom>
          <a:noFill/>
          <a:ln/>
        </p:spPr>
        <p:txBody>
          <a:bodyPr wrap="square" lIns="0" tIns="0" rIns="0" bIns="0" rtlCol="0" anchor="ctr"/>
          <a:lstStyle/>
          <a:p>
            <a:pPr indent="0" marL="0">
              <a:buNone/>
            </a:pPr>
            <a:r>
              <a:rPr lang="en-US" sz="1700" b="1" dirty="0">
                <a:solidFill>
                  <a:srgbClr val="1A1725"/>
                </a:solidFill>
                <a:latin typeface="Calibri" pitchFamily="34" charset="0"/>
                <a:ea typeface="Calibri" pitchFamily="34" charset="-122"/>
                <a:cs typeface="Calibri" pitchFamily="34" charset="-120"/>
              </a:rPr>
              <a:t>À mão: didático</a:t>
            </a:r>
            <a:endParaRPr lang="en-US" sz="1700" dirty="0"/>
          </a:p>
        </p:txBody>
      </p:sp>
      <p:sp>
        <p:nvSpPr>
          <p:cNvPr id="8" name="Text 6"/>
          <p:cNvSpPr/>
          <p:nvPr/>
        </p:nvSpPr>
        <p:spPr>
          <a:xfrm>
            <a:off x="914400" y="2468880"/>
            <a:ext cx="4709160" cy="3246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for tc in estado['messages'][-1].tool_calls</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Busca a ferramenta no REGISTRO</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Trata ferramenta inexistente</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Captura exceção e vira texto de erro</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Devolve lista de ToolMessage</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Escreva assim em sala, para todos verem</a:t>
            </a:r>
            <a:endParaRPr lang="en-US" sz="1350" dirty="0"/>
          </a:p>
        </p:txBody>
      </p:sp>
      <p:sp>
        <p:nvSpPr>
          <p:cNvPr id="9" name="Shape 7"/>
          <p:cNvSpPr/>
          <p:nvPr/>
        </p:nvSpPr>
        <p:spPr>
          <a:xfrm>
            <a:off x="6263640" y="1737360"/>
            <a:ext cx="5257800" cy="4160520"/>
          </a:xfrm>
          <a:prstGeom prst="roundRect">
            <a:avLst>
              <a:gd name="adj" fmla="val 2198"/>
            </a:avLst>
          </a:prstGeom>
          <a:solidFill>
            <a:srgbClr val="F2F0F7"/>
          </a:solidFill>
          <a:ln/>
        </p:spPr>
      </p:sp>
      <p:sp>
        <p:nvSpPr>
          <p:cNvPr id="10" name="Shape 8"/>
          <p:cNvSpPr/>
          <p:nvPr/>
        </p:nvSpPr>
        <p:spPr>
          <a:xfrm>
            <a:off x="6492240" y="1938528"/>
            <a:ext cx="329184" cy="329184"/>
          </a:xfrm>
          <a:prstGeom prst="roundRect">
            <a:avLst>
              <a:gd name="adj" fmla="val 19444"/>
            </a:avLst>
          </a:prstGeom>
          <a:solidFill>
            <a:srgbClr val="3E7D5A"/>
          </a:solidFill>
          <a:ln/>
        </p:spPr>
      </p:sp>
      <p:sp>
        <p:nvSpPr>
          <p:cNvPr id="11" name="Text 9"/>
          <p:cNvSpPr/>
          <p:nvPr/>
        </p:nvSpPr>
        <p:spPr>
          <a:xfrm>
            <a:off x="649224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6922008" y="1920240"/>
            <a:ext cx="4389120" cy="365760"/>
          </a:xfrm>
          <a:prstGeom prst="rect">
            <a:avLst/>
          </a:prstGeom>
          <a:noFill/>
          <a:ln/>
        </p:spPr>
        <p:txBody>
          <a:bodyPr wrap="square" lIns="0" tIns="0" rIns="0" bIns="0" rtlCol="0" anchor="ctr"/>
          <a:lstStyle/>
          <a:p>
            <a:pPr indent="0" marL="0">
              <a:buNone/>
            </a:pPr>
            <a:r>
              <a:rPr lang="en-US" sz="1700" b="1" dirty="0">
                <a:solidFill>
                  <a:srgbClr val="1A1725"/>
                </a:solidFill>
                <a:latin typeface="Calibri" pitchFamily="34" charset="0"/>
                <a:ea typeface="Calibri" pitchFamily="34" charset="-122"/>
                <a:cs typeface="Calibri" pitchFamily="34" charset="-120"/>
              </a:rPr>
              <a:t>ToolNode: produção</a:t>
            </a:r>
            <a:endParaRPr lang="en-US" sz="1700" dirty="0"/>
          </a:p>
        </p:txBody>
      </p:sp>
      <p:sp>
        <p:nvSpPr>
          <p:cNvPr id="13" name="Text 11"/>
          <p:cNvSpPr/>
          <p:nvPr/>
        </p:nvSpPr>
        <p:spPr>
          <a:xfrm>
            <a:off x="6537960" y="2468880"/>
            <a:ext cx="4709160" cy="3246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add_node('ferramentas', ToolNode(FERRAMENTAS))</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Executa tool calls em paralelo quando o modelo pede várias</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Injeta ToolRuntime automaticamente</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Tratamento de erro configurável</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tools_condition faz o roteamento pronto</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Troque depois que todos entenderem</a:t>
            </a:r>
            <a:endParaRPr lang="en-US" sz="1350" dirty="0"/>
          </a:p>
        </p:txBody>
      </p:sp>
      <p:sp>
        <p:nvSpPr>
          <p:cNvPr id="15" name="Text 1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6" name="Text 1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JUNTO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O grafo inteiro, em uma tela</a:t>
            </a:r>
            <a:endParaRPr lang="en-US" sz="3400" dirty="0"/>
          </a:p>
        </p:txBody>
      </p:sp>
      <p:sp>
        <p:nvSpPr>
          <p:cNvPr id="4" name="Shape 2"/>
          <p:cNvSpPr/>
          <p:nvPr/>
        </p:nvSpPr>
        <p:spPr>
          <a:xfrm>
            <a:off x="640080" y="1645920"/>
            <a:ext cx="10881360" cy="3794760"/>
          </a:xfrm>
          <a:prstGeom prst="roundRect">
            <a:avLst>
              <a:gd name="adj" fmla="val 2410"/>
            </a:avLst>
          </a:prstGeom>
          <a:solidFill>
            <a:srgbClr val="0F0C1A"/>
          </a:solidFill>
          <a:ln/>
        </p:spPr>
      </p:sp>
      <p:sp>
        <p:nvSpPr>
          <p:cNvPr id="5" name="Text 3"/>
          <p:cNvSpPr/>
          <p:nvPr/>
        </p:nvSpPr>
        <p:spPr>
          <a:xfrm>
            <a:off x="868680" y="1783080"/>
            <a:ext cx="10424160" cy="3520440"/>
          </a:xfrm>
          <a:prstGeom prst="rect">
            <a:avLst/>
          </a:prstGeom>
          <a:noFill/>
          <a:ln/>
        </p:spPr>
        <p:txBody>
          <a:bodyPr wrap="square" lIns="0" tIns="0" rIns="0" bIns="0" rtlCol="0" anchor="t"/>
          <a:lstStyle/>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class Estado(TypedDict):</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messages: Annotated[list[AnyMessage], add_messages]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passos: int</a:t>
            </a:r>
            <a:endParaRPr lang="en-US" sz="1100" dirty="0"/>
          </a:p>
          <a:p>
            <a:pPr indent="0" marL="0">
              <a:lnSpc>
                <a:spcPct val="102000"/>
              </a:lnSpc>
              <a:buNone/>
            </a:pP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def no_agente(estado: Estado) -&gt; dict:</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ai = llm_com_tools.invoke([SystemMessage(SISTEMA)] + estado["messages"])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return {"messages": [ai], "passos": estado.get("passos", 0) + 1}</a:t>
            </a:r>
            <a:endParaRPr lang="en-US" sz="1100" dirty="0"/>
          </a:p>
          <a:p>
            <a:pPr indent="0" marL="0">
              <a:lnSpc>
                <a:spcPct val="102000"/>
              </a:lnSpc>
              <a:buNone/>
            </a:pP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def rotear(estado: Estado) -&gt; str:</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ultima = estado["messages"][-1]</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if estado.get("passos", 0) &gt;= 10:                 # parada por limite</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return END</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return "ferramentas" if getattr(ultima, "tool_calls", None) else END</a:t>
            </a:r>
            <a:endParaRPr lang="en-US" sz="1100" dirty="0"/>
          </a:p>
          <a:p>
            <a:pPr indent="0" marL="0">
              <a:lnSpc>
                <a:spcPct val="102000"/>
              </a:lnSpc>
              <a:buNone/>
            </a:pP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g = StateGraph(Estado)</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g.add_node("agente", no_agente)</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g.add_node("ferramentas", ToolNode(FERRAMENTAS))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g.add_edge(START, "agente")</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g.add_edge("ferramentas", "agente")</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g.add_conditional_edges("agente", rotear, ["ferramentas", END])</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grafo = g.compile()</a:t>
            </a:r>
            <a:endParaRPr lang="en-US" sz="1100" dirty="0"/>
          </a:p>
        </p:txBody>
      </p:sp>
      <p:sp>
        <p:nvSpPr>
          <p:cNvPr id="6" name="Text 4"/>
          <p:cNvSpPr/>
          <p:nvPr/>
        </p:nvSpPr>
        <p:spPr>
          <a:xfrm>
            <a:off x="640080" y="5577840"/>
            <a:ext cx="10881360" cy="731520"/>
          </a:xfrm>
          <a:prstGeom prst="rect">
            <a:avLst/>
          </a:prstGeom>
          <a:noFill/>
          <a:ln/>
        </p:spPr>
        <p:txBody>
          <a:bodyPr wrap="square" lIns="0" tIns="0" rIns="0" bIns="0" rtlCol="0" anchor="t"/>
          <a:lstStyle/>
          <a:p>
            <a:pPr indent="0" marL="0">
              <a:buNone/>
            </a:pPr>
            <a:r>
              <a:rPr lang="en-US" sz="1350" i="1" dirty="0">
                <a:solidFill>
                  <a:srgbClr val="6B6580"/>
                </a:solidFill>
                <a:latin typeface="Calibri" pitchFamily="34" charset="0"/>
                <a:ea typeface="Calibri" pitchFamily="34" charset="-122"/>
                <a:cs typeface="Calibri" pitchFamily="34" charset="-120"/>
              </a:rPr>
              <a:t>Vinte linhas. É o agente do dia 1 inteiro, agora com o limite de passos como dado do estado em vez de variável de loop.</a:t>
            </a:r>
            <a:endParaRPr lang="en-US" sz="1350" dirty="0"/>
          </a:p>
        </p:txBody>
      </p:sp>
      <p:sp>
        <p:nvSpPr>
          <p:cNvPr id="8" name="Text 5"/>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9" name="Text 6"/>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CHECKPOINT DO BLOCO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Três perguntas antes do intervalo</a:t>
            </a:r>
            <a:endParaRPr lang="en-US" sz="3400" dirty="0"/>
          </a:p>
        </p:txBody>
      </p:sp>
      <p:sp>
        <p:nvSpPr>
          <p:cNvPr id="4" name="Shape 2"/>
          <p:cNvSpPr/>
          <p:nvPr/>
        </p:nvSpPr>
        <p:spPr>
          <a:xfrm>
            <a:off x="640080" y="1737360"/>
            <a:ext cx="3432048" cy="4206240"/>
          </a:xfrm>
          <a:prstGeom prst="roundRect">
            <a:avLst>
              <a:gd name="adj" fmla="val 2664"/>
            </a:avLst>
          </a:prstGeom>
          <a:solidFill>
            <a:srgbClr val="F2F0F7"/>
          </a:solidFill>
          <a:ln/>
        </p:spPr>
      </p:sp>
      <p:sp>
        <p:nvSpPr>
          <p:cNvPr id="5" name="Shape 3"/>
          <p:cNvSpPr/>
          <p:nvPr/>
        </p:nvSpPr>
        <p:spPr>
          <a:xfrm>
            <a:off x="841248" y="1938528"/>
            <a:ext cx="329184" cy="329184"/>
          </a:xfrm>
          <a:prstGeom prst="roundRect">
            <a:avLst>
              <a:gd name="adj" fmla="val 19444"/>
            </a:avLst>
          </a:prstGeom>
          <a:solidFill>
            <a:srgbClr val="4C3A8C"/>
          </a:solidFill>
          <a:ln/>
        </p:spPr>
      </p:sp>
      <p:sp>
        <p:nvSpPr>
          <p:cNvPr id="6" name="Text 4"/>
          <p:cNvSpPr/>
          <p:nvPr/>
        </p:nvSpPr>
        <p:spPr>
          <a:xfrm>
            <a:off x="841248"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Um nó devolveu o estado inteiro e um campo sumiu</a:t>
            </a:r>
            <a:endParaRPr lang="en-US" sz="1500" dirty="0"/>
          </a:p>
        </p:txBody>
      </p:sp>
      <p:sp>
        <p:nvSpPr>
          <p:cNvPr id="8" name="Text 6"/>
          <p:cNvSpPr/>
          <p:nvPr/>
        </p:nvSpPr>
        <p:spPr>
          <a:xfrm>
            <a:off x="841248"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Por quê?</a:t>
            </a:r>
            <a:endParaRPr lang="en-US" sz="1250" dirty="0"/>
          </a:p>
        </p:txBody>
      </p:sp>
      <p:sp>
        <p:nvSpPr>
          <p:cNvPr id="9" name="Shape 7"/>
          <p:cNvSpPr/>
          <p:nvPr/>
        </p:nvSpPr>
        <p:spPr>
          <a:xfrm>
            <a:off x="4364736" y="1737360"/>
            <a:ext cx="3432048" cy="4206240"/>
          </a:xfrm>
          <a:prstGeom prst="roundRect">
            <a:avLst>
              <a:gd name="adj" fmla="val 2664"/>
            </a:avLst>
          </a:prstGeom>
          <a:solidFill>
            <a:srgbClr val="F2F0F7"/>
          </a:solidFill>
          <a:ln/>
        </p:spPr>
      </p:sp>
      <p:sp>
        <p:nvSpPr>
          <p:cNvPr id="10" name="Shape 8"/>
          <p:cNvSpPr/>
          <p:nvPr/>
        </p:nvSpPr>
        <p:spPr>
          <a:xfrm>
            <a:off x="4565904" y="1938528"/>
            <a:ext cx="329184" cy="329184"/>
          </a:xfrm>
          <a:prstGeom prst="roundRect">
            <a:avLst>
              <a:gd name="adj" fmla="val 19444"/>
            </a:avLst>
          </a:prstGeom>
          <a:solidFill>
            <a:srgbClr val="4C3A8C"/>
          </a:solidFill>
          <a:ln/>
        </p:spPr>
      </p:sp>
      <p:sp>
        <p:nvSpPr>
          <p:cNvPr id="11" name="Text 9"/>
          <p:cNvSpPr/>
          <p:nvPr/>
        </p:nvSpPr>
        <p:spPr>
          <a:xfrm>
            <a:off x="4565904"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986528"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O agente repete a mesma ferramenta para sempre</a:t>
            </a:r>
            <a:endParaRPr lang="en-US" sz="1500" dirty="0"/>
          </a:p>
        </p:txBody>
      </p:sp>
      <p:sp>
        <p:nvSpPr>
          <p:cNvPr id="13" name="Text 11"/>
          <p:cNvSpPr/>
          <p:nvPr/>
        </p:nvSpPr>
        <p:spPr>
          <a:xfrm>
            <a:off x="4565904"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Qual é o primeiro suspeito?</a:t>
            </a:r>
            <a:endParaRPr lang="en-US" sz="1250" dirty="0"/>
          </a:p>
        </p:txBody>
      </p:sp>
      <p:sp>
        <p:nvSpPr>
          <p:cNvPr id="14" name="Shape 12"/>
          <p:cNvSpPr/>
          <p:nvPr/>
        </p:nvSpPr>
        <p:spPr>
          <a:xfrm>
            <a:off x="8089392" y="1737360"/>
            <a:ext cx="3432048" cy="4206240"/>
          </a:xfrm>
          <a:prstGeom prst="roundRect">
            <a:avLst>
              <a:gd name="adj" fmla="val 2664"/>
            </a:avLst>
          </a:prstGeom>
          <a:solidFill>
            <a:srgbClr val="F2F0F7"/>
          </a:solidFill>
          <a:ln/>
        </p:spPr>
      </p:sp>
      <p:sp>
        <p:nvSpPr>
          <p:cNvPr id="15" name="Shape 13"/>
          <p:cNvSpPr/>
          <p:nvPr/>
        </p:nvSpPr>
        <p:spPr>
          <a:xfrm>
            <a:off x="8290560" y="1938528"/>
            <a:ext cx="329184" cy="329184"/>
          </a:xfrm>
          <a:prstGeom prst="roundRect">
            <a:avLst>
              <a:gd name="adj" fmla="val 19444"/>
            </a:avLst>
          </a:prstGeom>
          <a:solidFill>
            <a:srgbClr val="E8933A"/>
          </a:solidFill>
          <a:ln/>
        </p:spPr>
      </p:sp>
      <p:sp>
        <p:nvSpPr>
          <p:cNvPr id="16" name="Text 14"/>
          <p:cNvSpPr/>
          <p:nvPr/>
        </p:nvSpPr>
        <p:spPr>
          <a:xfrm>
            <a:off x="829056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711184"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Você quer somar o custo de cada nó</a:t>
            </a:r>
            <a:endParaRPr lang="en-US" sz="1500" dirty="0"/>
          </a:p>
        </p:txBody>
      </p:sp>
      <p:sp>
        <p:nvSpPr>
          <p:cNvPr id="18" name="Text 16"/>
          <p:cNvSpPr/>
          <p:nvPr/>
        </p:nvSpPr>
        <p:spPr>
          <a:xfrm>
            <a:off x="8290560"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O que precisa no estado?</a:t>
            </a:r>
            <a:endParaRPr lang="en-US" sz="1250" dirty="0"/>
          </a:p>
        </p:txBody>
      </p:sp>
      <p:sp>
        <p:nvSpPr>
          <p:cNvPr id="20" name="Text 1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1" name="Text 1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4C3A8C"/>
        </a:solidFill>
      </p:bgPr>
    </p:bg>
    <p:spTree>
      <p:nvGrpSpPr>
        <p:cNvPr id="1" name=""/>
        <p:cNvGrpSpPr/>
        <p:nvPr/>
      </p:nvGrpSpPr>
      <p:grpSpPr>
        <a:xfrm>
          <a:off x="0" y="0"/>
          <a:ext cx="0" cy="0"/>
          <a:chOff x="0" y="0"/>
          <a:chExt cx="0" cy="0"/>
        </a:xfrm>
      </p:grpSpPr>
      <p:sp>
        <p:nvSpPr>
          <p:cNvPr id="2" name="Text 0"/>
          <p:cNvSpPr/>
          <p:nvPr/>
        </p:nvSpPr>
        <p:spPr>
          <a:xfrm>
            <a:off x="640080" y="1920240"/>
            <a:ext cx="1828800" cy="1280160"/>
          </a:xfrm>
          <a:prstGeom prst="rect">
            <a:avLst/>
          </a:prstGeom>
          <a:noFill/>
          <a:ln/>
        </p:spPr>
        <p:txBody>
          <a:bodyPr wrap="square" lIns="0" tIns="0" rIns="0" bIns="0" rtlCol="0" anchor="ctr"/>
          <a:lstStyle/>
          <a:p>
            <a:pPr indent="0" marL="0">
              <a:buNone/>
            </a:pPr>
            <a:r>
              <a:rPr lang="en-US" sz="7200" b="1" dirty="0">
                <a:solidFill>
                  <a:srgbClr val="E8933A"/>
                </a:solidFill>
                <a:latin typeface="Cambria" pitchFamily="34" charset="0"/>
                <a:ea typeface="Cambria" pitchFamily="34" charset="-122"/>
                <a:cs typeface="Cambria" pitchFamily="34" charset="-120"/>
              </a:rPr>
              <a:t>03</a:t>
            </a:r>
            <a:endParaRPr lang="en-US" sz="7200" dirty="0"/>
          </a:p>
        </p:txBody>
      </p:sp>
      <p:sp>
        <p:nvSpPr>
          <p:cNvPr id="3" name="Text 1"/>
          <p:cNvSpPr/>
          <p:nvPr/>
        </p:nvSpPr>
        <p:spPr>
          <a:xfrm>
            <a:off x="2560320" y="2057400"/>
            <a:ext cx="91440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Memória e sessão</a:t>
            </a:r>
            <a:endParaRPr lang="en-US" sz="4000" dirty="0"/>
          </a:p>
        </p:txBody>
      </p:sp>
      <p:sp>
        <p:nvSpPr>
          <p:cNvPr id="4" name="Text 2"/>
          <p:cNvSpPr/>
          <p:nvPr/>
        </p:nvSpPr>
        <p:spPr>
          <a:xfrm>
            <a:off x="2560320" y="3200400"/>
            <a:ext cx="9144000" cy="1097280"/>
          </a:xfrm>
          <a:prstGeom prst="rect">
            <a:avLst/>
          </a:prstGeom>
          <a:noFill/>
          <a:ln/>
        </p:spPr>
        <p:txBody>
          <a:bodyPr wrap="square" lIns="0" tIns="0" rIns="0" bIns="0" rtlCol="0" anchor="ctr"/>
          <a:lstStyle/>
          <a:p>
            <a:pPr indent="0" marL="0">
              <a:buNone/>
            </a:pPr>
            <a:r>
              <a:rPr lang="en-US" sz="1700" dirty="0">
                <a:solidFill>
                  <a:srgbClr val="E4DEF7"/>
                </a:solidFill>
                <a:latin typeface="Calibri" pitchFamily="34" charset="0"/>
                <a:ea typeface="Calibri" pitchFamily="34" charset="-122"/>
                <a:cs typeface="Calibri" pitchFamily="34" charset="-120"/>
              </a:rPr>
              <a:t>O ganho que sozinho justifica a mudança.</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CHECKPOINTER</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Memória sem escrever código de memória</a:t>
            </a:r>
            <a:endParaRPr lang="en-US" sz="3400" dirty="0"/>
          </a:p>
        </p:txBody>
      </p:sp>
      <p:sp>
        <p:nvSpPr>
          <p:cNvPr id="4" name="Text 2"/>
          <p:cNvSpPr/>
          <p:nvPr/>
        </p:nvSpPr>
        <p:spPr>
          <a:xfrm>
            <a:off x="640080" y="1691640"/>
            <a:ext cx="4114800" cy="560832"/>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O checkpointer salva o estado inteiro depois de cada nó, indexado por thread_id.</a:t>
            </a:r>
            <a:endParaRPr lang="en-US" sz="1400" dirty="0"/>
          </a:p>
        </p:txBody>
      </p:sp>
      <p:sp>
        <p:nvSpPr>
          <p:cNvPr id="5" name="Shape 3"/>
          <p:cNvSpPr/>
          <p:nvPr/>
        </p:nvSpPr>
        <p:spPr>
          <a:xfrm>
            <a:off x="640080" y="2526792"/>
            <a:ext cx="4114800" cy="3462528"/>
          </a:xfrm>
          <a:prstGeom prst="roundRect">
            <a:avLst>
              <a:gd name="adj" fmla="val 2641"/>
            </a:avLst>
          </a:prstGeom>
          <a:solidFill>
            <a:srgbClr val="F2F0F7"/>
          </a:solidFill>
          <a:ln/>
        </p:spPr>
      </p:sp>
      <p:sp>
        <p:nvSpPr>
          <p:cNvPr id="6" name="Text 4"/>
          <p:cNvSpPr/>
          <p:nvPr/>
        </p:nvSpPr>
        <p:spPr>
          <a:xfrm>
            <a:off x="859536" y="2673096"/>
            <a:ext cx="3675888" cy="3169920"/>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Consequências diretas: conversa com memória sem código de memória; retomada exata depois de queda do processo; várias conversas independentes no mesmo grafo; e viagem no tempo, voltando a um checkpoint e seguindo por outro caminho.</a:t>
            </a:r>
            <a:endParaRPr lang="en-US" sz="1250" dirty="0"/>
          </a:p>
        </p:txBody>
      </p:sp>
      <p:sp>
        <p:nvSpPr>
          <p:cNvPr id="7" name="Shape 5"/>
          <p:cNvSpPr/>
          <p:nvPr/>
        </p:nvSpPr>
        <p:spPr>
          <a:xfrm>
            <a:off x="5120640" y="1691640"/>
            <a:ext cx="6400800" cy="4297680"/>
          </a:xfrm>
          <a:prstGeom prst="roundRect">
            <a:avLst>
              <a:gd name="adj" fmla="val 2128"/>
            </a:avLst>
          </a:prstGeom>
          <a:solidFill>
            <a:srgbClr val="0F0C1A"/>
          </a:solidFill>
          <a:ln/>
        </p:spPr>
      </p:sp>
      <p:sp>
        <p:nvSpPr>
          <p:cNvPr id="8" name="Text 6"/>
          <p:cNvSpPr/>
          <p:nvPr/>
        </p:nvSpPr>
        <p:spPr>
          <a:xfrm>
            <a:off x="5321808" y="1828800"/>
            <a:ext cx="5998464" cy="4023360"/>
          </a:xfrm>
          <a:prstGeom prst="rect">
            <a:avLst/>
          </a:prstGeom>
          <a:noFill/>
          <a:ln/>
        </p:spPr>
        <p:txBody>
          <a:bodyPr wrap="square" lIns="0" tIns="0" rIns="0" bIns="0" rtlCol="0" anchor="t"/>
          <a:lstStyle/>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from langgraph.checkpoint.sqlite import SqliteSaver</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with SqliteSaver.from_conn_string("nexus.db") as mem:</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grafo = construtor.compile(checkpointer=mem)</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cfg = {"configurable": {"thread_id": "ana"}}</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grafo.invoke({"messages":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[HumanMessage("Meu nome e Ana.")]}, cfg)</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 = grafo.invoke({"messages":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[HumanMessage("Qual e o meu nome?")]}, cfg)</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print(r["messages"][-1].content)   # Ana</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 thread diferente = memoria diferente</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cfg2 = {"configurable": {"thread_id": "bruno"}}</a:t>
            </a:r>
            <a:endParaRPr lang="en-US" sz="115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INSPEÇÃO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Ler e navegar o estado salvo</a:t>
            </a:r>
            <a:endParaRPr lang="en-US" sz="3400" dirty="0"/>
          </a:p>
        </p:txBody>
      </p:sp>
      <p:sp>
        <p:nvSpPr>
          <p:cNvPr id="4" name="Shape 2"/>
          <p:cNvSpPr/>
          <p:nvPr/>
        </p:nvSpPr>
        <p:spPr>
          <a:xfrm>
            <a:off x="640080" y="1645920"/>
            <a:ext cx="10881360" cy="3794760"/>
          </a:xfrm>
          <a:prstGeom prst="roundRect">
            <a:avLst>
              <a:gd name="adj" fmla="val 2410"/>
            </a:avLst>
          </a:prstGeom>
          <a:solidFill>
            <a:srgbClr val="0F0C1A"/>
          </a:solidFill>
          <a:ln/>
        </p:spPr>
      </p:sp>
      <p:sp>
        <p:nvSpPr>
          <p:cNvPr id="5" name="Text 3"/>
          <p:cNvSpPr/>
          <p:nvPr/>
        </p:nvSpPr>
        <p:spPr>
          <a:xfrm>
            <a:off x="868680" y="1783080"/>
            <a:ext cx="10424160" cy="3520440"/>
          </a:xfrm>
          <a:prstGeom prst="rect">
            <a:avLst/>
          </a:prstGeom>
          <a:noFill/>
          <a:ln/>
        </p:spPr>
        <p:txBody>
          <a:bodyPr wrap="square" lIns="0" tIns="0" rIns="0" bIns="0" rtlCol="0" anchor="t"/>
          <a:lstStyle/>
          <a:p>
            <a:pPr indent="0" marL="0">
              <a:lnSpc>
                <a:spcPct val="102000"/>
              </a:lnSpc>
              <a:buNone/>
            </a:pPr>
            <a:r>
              <a:rPr lang="en-US" sz="1300" dirty="0">
                <a:solidFill>
                  <a:srgbClr val="D8D2EE"/>
                </a:solidFill>
                <a:latin typeface="Courier New" pitchFamily="34" charset="0"/>
                <a:ea typeface="Courier New" pitchFamily="34" charset="-122"/>
                <a:cs typeface="Courier New" pitchFamily="34" charset="-120"/>
              </a:rPr>
              <a:t>estado = grafo.get_state(config)</a:t>
            </a:r>
            <a:endParaRPr lang="en-US" sz="1300" dirty="0"/>
          </a:p>
          <a:p>
            <a:pPr indent="0" marL="0">
              <a:lnSpc>
                <a:spcPct val="102000"/>
              </a:lnSpc>
              <a:buNone/>
            </a:pPr>
            <a:r>
              <a:rPr lang="en-US" sz="1300" dirty="0">
                <a:solidFill>
                  <a:srgbClr val="D8D2EE"/>
                </a:solidFill>
                <a:latin typeface="Courier New" pitchFamily="34" charset="0"/>
                <a:ea typeface="Courier New" pitchFamily="34" charset="-122"/>
                <a:cs typeface="Courier New" pitchFamily="34" charset="-120"/>
              </a:rPr>
              <a:t>print(estado.values["messages"][-1])     # o que esta no estado agora</a:t>
            </a:r>
            <a:endParaRPr lang="en-US" sz="1300" dirty="0"/>
          </a:p>
          <a:p>
            <a:pPr indent="0" marL="0">
              <a:lnSpc>
                <a:spcPct val="102000"/>
              </a:lnSpc>
              <a:buNone/>
            </a:pPr>
            <a:r>
              <a:rPr lang="en-US" sz="1300" dirty="0">
                <a:solidFill>
                  <a:srgbClr val="D8D2EE"/>
                </a:solidFill>
                <a:latin typeface="Courier New" pitchFamily="34" charset="0"/>
                <a:ea typeface="Courier New" pitchFamily="34" charset="-122"/>
                <a:cs typeface="Courier New" pitchFamily="34" charset="-120"/>
              </a:rPr>
              <a:t>print(estado.next)                       # qual no vai executar em seguida</a:t>
            </a:r>
            <a:endParaRPr lang="en-US" sz="1300" dirty="0"/>
          </a:p>
          <a:p>
            <a:pPr indent="0" marL="0">
              <a:lnSpc>
                <a:spcPct val="102000"/>
              </a:lnSpc>
              <a:buNone/>
            </a:pPr>
            <a:endParaRPr lang="en-US" sz="1300" dirty="0"/>
          </a:p>
          <a:p>
            <a:pPr indent="0" marL="0">
              <a:lnSpc>
                <a:spcPct val="102000"/>
              </a:lnSpc>
              <a:buNone/>
            </a:pPr>
            <a:r>
              <a:rPr lang="en-US" sz="1300" dirty="0">
                <a:solidFill>
                  <a:srgbClr val="D8D2EE"/>
                </a:solidFill>
                <a:latin typeface="Courier New" pitchFamily="34" charset="0"/>
                <a:ea typeface="Courier New" pitchFamily="34" charset="-122"/>
                <a:cs typeface="Courier New" pitchFamily="34" charset="-120"/>
              </a:rPr>
              <a:t>for snap in grafo.get_state_history(config):</a:t>
            </a:r>
            <a:endParaRPr lang="en-US" sz="1300" dirty="0"/>
          </a:p>
          <a:p>
            <a:pPr indent="0" marL="0">
              <a:lnSpc>
                <a:spcPct val="102000"/>
              </a:lnSpc>
              <a:buNone/>
            </a:pPr>
            <a:r>
              <a:rPr lang="en-US" sz="1300" dirty="0">
                <a:solidFill>
                  <a:srgbClr val="D8D2EE"/>
                </a:solidFill>
                <a:latin typeface="Courier New" pitchFamily="34" charset="0"/>
                <a:ea typeface="Courier New" pitchFamily="34" charset="-122"/>
                <a:cs typeface="Courier New" pitchFamily="34" charset="-120"/>
              </a:rPr>
              <a:t>    print(snap.config["configurable"]["checkpoint_id"], snap.next)</a:t>
            </a:r>
            <a:endParaRPr lang="en-US" sz="1300" dirty="0"/>
          </a:p>
          <a:p>
            <a:pPr indent="0" marL="0">
              <a:lnSpc>
                <a:spcPct val="102000"/>
              </a:lnSpc>
              <a:buNone/>
            </a:pPr>
            <a:endParaRPr lang="en-US" sz="1300" dirty="0"/>
          </a:p>
          <a:p>
            <a:pPr indent="0" marL="0">
              <a:lnSpc>
                <a:spcPct val="102000"/>
              </a:lnSpc>
              <a:buNone/>
            </a:pPr>
            <a:r>
              <a:rPr lang="en-US" sz="1300" dirty="0">
                <a:solidFill>
                  <a:srgbClr val="D8D2EE"/>
                </a:solidFill>
                <a:latin typeface="Courier New" pitchFamily="34" charset="0"/>
                <a:ea typeface="Courier New" pitchFamily="34" charset="-122"/>
                <a:cs typeface="Courier New" pitchFamily="34" charset="-120"/>
              </a:rPr>
              <a:t># retomar de um checkpoint anterior e seguir por outro caminho:</a:t>
            </a:r>
            <a:endParaRPr lang="en-US" sz="1300" dirty="0"/>
          </a:p>
          <a:p>
            <a:pPr indent="0" marL="0">
              <a:lnSpc>
                <a:spcPct val="102000"/>
              </a:lnSpc>
              <a:buNone/>
            </a:pPr>
            <a:r>
              <a:rPr lang="en-US" sz="1300" dirty="0">
                <a:solidFill>
                  <a:srgbClr val="D8D2EE"/>
                </a:solidFill>
                <a:latin typeface="Courier New" pitchFamily="34" charset="0"/>
                <a:ea typeface="Courier New" pitchFamily="34" charset="-122"/>
                <a:cs typeface="Courier New" pitchFamily="34" charset="-120"/>
              </a:rPr>
              <a:t>anterior = list(grafo.get_state_history(config))[3]</a:t>
            </a:r>
            <a:endParaRPr lang="en-US" sz="1300" dirty="0"/>
          </a:p>
          <a:p>
            <a:pPr indent="0" marL="0">
              <a:lnSpc>
                <a:spcPct val="102000"/>
              </a:lnSpc>
              <a:buNone/>
            </a:pPr>
            <a:r>
              <a:rPr lang="en-US" sz="1300" dirty="0">
                <a:solidFill>
                  <a:srgbClr val="D8D2EE"/>
                </a:solidFill>
                <a:latin typeface="Courier New" pitchFamily="34" charset="0"/>
                <a:ea typeface="Courier New" pitchFamily="34" charset="-122"/>
                <a:cs typeface="Courier New" pitchFamily="34" charset="-120"/>
              </a:rPr>
              <a:t>grafo.invoke(None, anterior.config)</a:t>
            </a:r>
            <a:endParaRPr lang="en-US" sz="1300" dirty="0"/>
          </a:p>
        </p:txBody>
      </p:sp>
      <p:sp>
        <p:nvSpPr>
          <p:cNvPr id="6" name="Text 4"/>
          <p:cNvSpPr/>
          <p:nvPr/>
        </p:nvSpPr>
        <p:spPr>
          <a:xfrm>
            <a:off x="640080" y="5577840"/>
            <a:ext cx="10881360" cy="731520"/>
          </a:xfrm>
          <a:prstGeom prst="rect">
            <a:avLst/>
          </a:prstGeom>
          <a:noFill/>
          <a:ln/>
        </p:spPr>
        <p:txBody>
          <a:bodyPr wrap="square" lIns="0" tIns="0" rIns="0" bIns="0" rtlCol="0" anchor="t"/>
          <a:lstStyle/>
          <a:p>
            <a:pPr indent="0" marL="0">
              <a:buNone/>
            </a:pPr>
            <a:r>
              <a:rPr lang="en-US" sz="1350" i="1" dirty="0">
                <a:solidFill>
                  <a:srgbClr val="6B6580"/>
                </a:solidFill>
                <a:latin typeface="Calibri" pitchFamily="34" charset="0"/>
                <a:ea typeface="Calibri" pitchFamily="34" charset="-122"/>
                <a:cs typeface="Calibri" pitchFamily="34" charset="-120"/>
              </a:rPr>
              <a:t>estado.next vazio significa que o grafo terminou. Não vazio significa que ele está pausado, e é assim que a aprovação humana funciona.</a:t>
            </a:r>
            <a:endParaRPr lang="en-US" sz="1350" dirty="0"/>
          </a:p>
        </p:txBody>
      </p:sp>
      <p:sp>
        <p:nvSpPr>
          <p:cNvPr id="8" name="Text 5"/>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9" name="Text 6"/>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SESSION MANAGERS</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Quem é o dono da memória</a:t>
            </a:r>
            <a:endParaRPr lang="en-US" sz="3400" dirty="0"/>
          </a:p>
        </p:txBody>
      </p:sp>
      <p:sp>
        <p:nvSpPr>
          <p:cNvPr id="4" name="Shape 2"/>
          <p:cNvSpPr/>
          <p:nvPr/>
        </p:nvSpPr>
        <p:spPr>
          <a:xfrm>
            <a:off x="640080" y="1645920"/>
            <a:ext cx="384048" cy="384048"/>
          </a:xfrm>
          <a:prstGeom prst="roundRect">
            <a:avLst>
              <a:gd name="adj" fmla="val 19048"/>
            </a:avLst>
          </a:prstGeom>
          <a:solidFill>
            <a:srgbClr val="4C3A8C"/>
          </a:solidFill>
          <a:ln/>
        </p:spPr>
      </p:sp>
      <p:sp>
        <p:nvSpPr>
          <p:cNvPr id="5" name="Text 3"/>
          <p:cNvSpPr/>
          <p:nvPr/>
        </p:nvSpPr>
        <p:spPr>
          <a:xfrm>
            <a:off x="6400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161848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thread_id não é id de conversa: é chave de acesso</a:t>
            </a:r>
            <a:endParaRPr lang="en-US" sz="1600" dirty="0"/>
          </a:p>
        </p:txBody>
      </p:sp>
      <p:sp>
        <p:nvSpPr>
          <p:cNvPr id="7" name="Text 5"/>
          <p:cNvSpPr/>
          <p:nvPr/>
        </p:nvSpPr>
        <p:spPr>
          <a:xfrm>
            <a:off x="1234440" y="1975104"/>
            <a:ext cx="10241280" cy="516636"/>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Quem manda o thread_id lê o histórico daquele thread. Se ele vier do cliente sem validação, qualquer um lê a conversa de qualquer um.</a:t>
            </a:r>
            <a:endParaRPr lang="en-US" sz="1350" dirty="0"/>
          </a:p>
        </p:txBody>
      </p:sp>
      <p:sp>
        <p:nvSpPr>
          <p:cNvPr id="8" name="Shape 6"/>
          <p:cNvSpPr/>
          <p:nvPr/>
        </p:nvSpPr>
        <p:spPr>
          <a:xfrm>
            <a:off x="640080" y="2686050"/>
            <a:ext cx="384048" cy="384048"/>
          </a:xfrm>
          <a:prstGeom prst="roundRect">
            <a:avLst>
              <a:gd name="adj" fmla="val 19048"/>
            </a:avLst>
          </a:prstGeom>
          <a:solidFill>
            <a:srgbClr val="4C3A8C"/>
          </a:solidFill>
          <a:ln/>
        </p:spPr>
      </p:sp>
      <p:sp>
        <p:nvSpPr>
          <p:cNvPr id="9" name="Text 7"/>
          <p:cNvSpPr/>
          <p:nvPr/>
        </p:nvSpPr>
        <p:spPr>
          <a:xfrm>
            <a:off x="640080" y="268605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34440" y="265861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A chave carrega o dono</a:t>
            </a:r>
            <a:endParaRPr lang="en-US" sz="1600" dirty="0"/>
          </a:p>
        </p:txBody>
      </p:sp>
      <p:sp>
        <p:nvSpPr>
          <p:cNvPr id="11" name="Text 9"/>
          <p:cNvSpPr/>
          <p:nvPr/>
        </p:nvSpPr>
        <p:spPr>
          <a:xfrm>
            <a:off x="1234440" y="3015234"/>
            <a:ext cx="10241280" cy="516636"/>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Monte sempre como uma composição do usuário autenticado com o identificador da conversa. Nunca aceite o thread_id cru vindo do navegador.</a:t>
            </a:r>
            <a:endParaRPr lang="en-US" sz="1350" dirty="0"/>
          </a:p>
        </p:txBody>
      </p:sp>
      <p:sp>
        <p:nvSpPr>
          <p:cNvPr id="12" name="Shape 10"/>
          <p:cNvSpPr/>
          <p:nvPr/>
        </p:nvSpPr>
        <p:spPr>
          <a:xfrm>
            <a:off x="640080" y="3726180"/>
            <a:ext cx="384048" cy="384048"/>
          </a:xfrm>
          <a:prstGeom prst="roundRect">
            <a:avLst>
              <a:gd name="adj" fmla="val 19048"/>
            </a:avLst>
          </a:prstGeom>
          <a:solidFill>
            <a:srgbClr val="4C3A8C"/>
          </a:solidFill>
          <a:ln/>
        </p:spPr>
      </p:sp>
      <p:sp>
        <p:nvSpPr>
          <p:cNvPr id="13" name="Text 11"/>
          <p:cNvSpPr/>
          <p:nvPr/>
        </p:nvSpPr>
        <p:spPr>
          <a:xfrm>
            <a:off x="640080" y="37261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34440" y="369874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Uma sessão, um escopo</a:t>
            </a:r>
            <a:endParaRPr lang="en-US" sz="1600" dirty="0"/>
          </a:p>
        </p:txBody>
      </p:sp>
      <p:sp>
        <p:nvSpPr>
          <p:cNvPr id="15" name="Text 13"/>
          <p:cNvSpPr/>
          <p:nvPr/>
        </p:nvSpPr>
        <p:spPr>
          <a:xfrm>
            <a:off x="1234440" y="4055364"/>
            <a:ext cx="10241280" cy="516636"/>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Conversas diferentes do mesmo usuário são threads diferentes. Misturar assuntos num thread só é a receita para contexto estourado e resposta confusa.</a:t>
            </a:r>
            <a:endParaRPr lang="en-US" sz="1350" dirty="0"/>
          </a:p>
        </p:txBody>
      </p:sp>
      <p:sp>
        <p:nvSpPr>
          <p:cNvPr id="16" name="Shape 14"/>
          <p:cNvSpPr/>
          <p:nvPr/>
        </p:nvSpPr>
        <p:spPr>
          <a:xfrm>
            <a:off x="640080" y="4766310"/>
            <a:ext cx="384048" cy="384048"/>
          </a:xfrm>
          <a:prstGeom prst="roundRect">
            <a:avLst>
              <a:gd name="adj" fmla="val 19048"/>
            </a:avLst>
          </a:prstGeom>
          <a:solidFill>
            <a:srgbClr val="4C3A8C"/>
          </a:solidFill>
          <a:ln/>
        </p:spPr>
      </p:sp>
      <p:sp>
        <p:nvSpPr>
          <p:cNvPr id="17" name="Text 15"/>
          <p:cNvSpPr/>
          <p:nvPr/>
        </p:nvSpPr>
        <p:spPr>
          <a:xfrm>
            <a:off x="640080" y="476631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234440" y="473887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Expiração e limpeza são requisito</a:t>
            </a:r>
            <a:endParaRPr lang="en-US" sz="1600" dirty="0"/>
          </a:p>
        </p:txBody>
      </p:sp>
      <p:sp>
        <p:nvSpPr>
          <p:cNvPr id="19" name="Text 17"/>
          <p:cNvSpPr/>
          <p:nvPr/>
        </p:nvSpPr>
        <p:spPr>
          <a:xfrm>
            <a:off x="1234440" y="5095494"/>
            <a:ext cx="10241280" cy="516636"/>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Defina há quanto tempo uma sessão morre e o que acontece com o histórico. Se ninguém decidir, a decisão vira crescer para sempre.</a:t>
            </a:r>
            <a:endParaRPr lang="en-US" sz="1350" dirty="0"/>
          </a:p>
        </p:txBody>
      </p:sp>
      <p:sp>
        <p:nvSpPr>
          <p:cNvPr id="21" name="Text 18"/>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2" name="Text 19"/>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ESCOLHA</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Qual backend de checkpoint</a:t>
            </a:r>
            <a:endParaRPr lang="en-US" sz="3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2560320"/>
                <a:gridCol w="4297680"/>
                <a:gridCol w="4023360"/>
              </a:tblGrid>
              <a:tr h="31089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Backend</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Quando usar</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Cuidado</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MemorySaver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Teste automatizado e experimento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Some quando o processo morre</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SqliteSaver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Curso, protótipo, ferramenta local</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Um saver por processo; trava com concorrência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PostgresSaver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Produção com vários processos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Precisa de migração inicial da tabela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Implementação própria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Requisito de retenção ou criptografia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Você assume a corretude do reducer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bl>
          </a:graphicData>
        </a:graphic>
      </p:graphicFrame>
      <p:sp>
        <p:nvSpPr>
          <p:cNvPr id="6" name="Text 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7"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CONTEXT ENGINEERING</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Memória infinita não é bênção</a:t>
            </a:r>
            <a:endParaRPr lang="en-US" sz="3400" dirty="0"/>
          </a:p>
        </p:txBody>
      </p:sp>
      <p:sp>
        <p:nvSpPr>
          <p:cNvPr id="4" name="Shape 2"/>
          <p:cNvSpPr/>
          <p:nvPr/>
        </p:nvSpPr>
        <p:spPr>
          <a:xfrm>
            <a:off x="640080" y="1645920"/>
            <a:ext cx="384048" cy="384048"/>
          </a:xfrm>
          <a:prstGeom prst="roundRect">
            <a:avLst>
              <a:gd name="adj" fmla="val 19048"/>
            </a:avLst>
          </a:prstGeom>
          <a:solidFill>
            <a:srgbClr val="4C3A8C"/>
          </a:solidFill>
          <a:ln/>
        </p:spPr>
      </p:sp>
      <p:sp>
        <p:nvSpPr>
          <p:cNvPr id="5" name="Text 3"/>
          <p:cNvSpPr/>
          <p:nvPr/>
        </p:nvSpPr>
        <p:spPr>
          <a:xfrm>
            <a:off x="6400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161848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Depois de trinta turnos, o contexto estoura</a:t>
            </a:r>
            <a:endParaRPr lang="en-US" sz="1600" dirty="0"/>
          </a:p>
        </p:txBody>
      </p:sp>
      <p:sp>
        <p:nvSpPr>
          <p:cNvPr id="7" name="Text 5"/>
          <p:cNvSpPr/>
          <p:nvPr/>
        </p:nvSpPr>
        <p:spPr>
          <a:xfrm>
            <a:off x="1234440" y="1975104"/>
            <a:ext cx="10241280" cy="516636"/>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Com modelo local de 8k a 16k isso acontece mais cedo do que se imagina, e o sintoma é uma resposta subitamente ruim, não um erro.</a:t>
            </a:r>
            <a:endParaRPr lang="en-US" sz="1350" dirty="0"/>
          </a:p>
        </p:txBody>
      </p:sp>
      <p:sp>
        <p:nvSpPr>
          <p:cNvPr id="8" name="Shape 6"/>
          <p:cNvSpPr/>
          <p:nvPr/>
        </p:nvSpPr>
        <p:spPr>
          <a:xfrm>
            <a:off x="640080" y="2711196"/>
            <a:ext cx="384048" cy="384048"/>
          </a:xfrm>
          <a:prstGeom prst="roundRect">
            <a:avLst>
              <a:gd name="adj" fmla="val 19048"/>
            </a:avLst>
          </a:prstGeom>
          <a:solidFill>
            <a:srgbClr val="4C3A8C"/>
          </a:solidFill>
          <a:ln/>
        </p:spPr>
      </p:sp>
      <p:sp>
        <p:nvSpPr>
          <p:cNvPr id="9" name="Text 7"/>
          <p:cNvSpPr/>
          <p:nvPr/>
        </p:nvSpPr>
        <p:spPr>
          <a:xfrm>
            <a:off x="640080" y="27111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34440" y="2683764"/>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Antes de estourar, já piorou</a:t>
            </a:r>
            <a:endParaRPr lang="en-US" sz="1600" dirty="0"/>
          </a:p>
        </p:txBody>
      </p:sp>
      <p:sp>
        <p:nvSpPr>
          <p:cNvPr id="11" name="Text 9"/>
          <p:cNvSpPr/>
          <p:nvPr/>
        </p:nvSpPr>
        <p:spPr>
          <a:xfrm>
            <a:off x="1234440" y="3040380"/>
            <a:ext cx="10241280" cy="516636"/>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É o context rot do dia 1: a recuperação degrada bem antes do limite. Contexto cheio é contexto pior, não só contexto caro.</a:t>
            </a:r>
            <a:endParaRPr lang="en-US" sz="1350" dirty="0"/>
          </a:p>
        </p:txBody>
      </p:sp>
      <p:sp>
        <p:nvSpPr>
          <p:cNvPr id="12" name="Shape 10"/>
          <p:cNvSpPr/>
          <p:nvPr/>
        </p:nvSpPr>
        <p:spPr>
          <a:xfrm>
            <a:off x="640080" y="3776472"/>
            <a:ext cx="384048" cy="384048"/>
          </a:xfrm>
          <a:prstGeom prst="roundRect">
            <a:avLst>
              <a:gd name="adj" fmla="val 19048"/>
            </a:avLst>
          </a:prstGeom>
          <a:solidFill>
            <a:srgbClr val="4C3A8C"/>
          </a:solidFill>
          <a:ln/>
        </p:spPr>
      </p:sp>
      <p:sp>
        <p:nvSpPr>
          <p:cNvPr id="13" name="Text 11"/>
          <p:cNvSpPr/>
          <p:nvPr/>
        </p:nvSpPr>
        <p:spPr>
          <a:xfrm>
            <a:off x="640080" y="3776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34440" y="3749040"/>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Janela deslizante</a:t>
            </a:r>
            <a:endParaRPr lang="en-US" sz="1600" dirty="0"/>
          </a:p>
        </p:txBody>
      </p:sp>
      <p:sp>
        <p:nvSpPr>
          <p:cNvPr id="15" name="Text 13"/>
          <p:cNvSpPr/>
          <p:nvPr/>
        </p:nvSpPr>
        <p:spPr>
          <a:xfrm>
            <a:off x="1234440" y="4105656"/>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Um nó que mantém o system prompt e as últimas N mensagens, removendo o resto com RemoveMessage.</a:t>
            </a:r>
            <a:endParaRPr lang="en-US" sz="1350" dirty="0"/>
          </a:p>
        </p:txBody>
      </p:sp>
      <p:sp>
        <p:nvSpPr>
          <p:cNvPr id="16" name="Shape 14"/>
          <p:cNvSpPr/>
          <p:nvPr/>
        </p:nvSpPr>
        <p:spPr>
          <a:xfrm>
            <a:off x="640080" y="4629150"/>
            <a:ext cx="384048" cy="384048"/>
          </a:xfrm>
          <a:prstGeom prst="roundRect">
            <a:avLst>
              <a:gd name="adj" fmla="val 19048"/>
            </a:avLst>
          </a:prstGeom>
          <a:solidFill>
            <a:srgbClr val="4C3A8C"/>
          </a:solidFill>
          <a:ln/>
        </p:spPr>
      </p:sp>
      <p:sp>
        <p:nvSpPr>
          <p:cNvPr id="17" name="Text 15"/>
          <p:cNvSpPr/>
          <p:nvPr/>
        </p:nvSpPr>
        <p:spPr>
          <a:xfrm>
            <a:off x="640080" y="462915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234440" y="460171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Sumarização</a:t>
            </a:r>
            <a:endParaRPr lang="en-US" sz="1600" dirty="0"/>
          </a:p>
        </p:txBody>
      </p:sp>
      <p:sp>
        <p:nvSpPr>
          <p:cNvPr id="19" name="Text 17"/>
          <p:cNvSpPr/>
          <p:nvPr/>
        </p:nvSpPr>
        <p:spPr>
          <a:xfrm>
            <a:off x="1234440" y="4958334"/>
            <a:ext cx="10241280" cy="516636"/>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Ao passar de N mensagens, pedir ao modelo um resumo das antigas e substituí-las por ele. Guarde o resumo no estado, não no histórico.</a:t>
            </a:r>
            <a:endParaRPr lang="en-US" sz="1350" dirty="0"/>
          </a:p>
        </p:txBody>
      </p:sp>
      <p:sp>
        <p:nvSpPr>
          <p:cNvPr id="21" name="Text 18"/>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2" name="Text 19"/>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A POLÍTICA VIRA NÓ</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Poda de contexto como nó do grafo</a:t>
            </a:r>
            <a:endParaRPr lang="en-US" sz="3400" dirty="0"/>
          </a:p>
        </p:txBody>
      </p:sp>
      <p:sp>
        <p:nvSpPr>
          <p:cNvPr id="4" name="Shape 2"/>
          <p:cNvSpPr/>
          <p:nvPr/>
        </p:nvSpPr>
        <p:spPr>
          <a:xfrm>
            <a:off x="640080" y="1645920"/>
            <a:ext cx="10881360" cy="3794760"/>
          </a:xfrm>
          <a:prstGeom prst="roundRect">
            <a:avLst>
              <a:gd name="adj" fmla="val 2410"/>
            </a:avLst>
          </a:prstGeom>
          <a:solidFill>
            <a:srgbClr val="0F0C1A"/>
          </a:solidFill>
          <a:ln/>
        </p:spPr>
      </p:sp>
      <p:sp>
        <p:nvSpPr>
          <p:cNvPr id="5" name="Text 3"/>
          <p:cNvSpPr/>
          <p:nvPr/>
        </p:nvSpPr>
        <p:spPr>
          <a:xfrm>
            <a:off x="868680" y="1783080"/>
            <a:ext cx="10424160" cy="3520440"/>
          </a:xfrm>
          <a:prstGeom prst="rect">
            <a:avLst/>
          </a:prstGeom>
          <a:noFill/>
          <a:ln/>
        </p:spPr>
        <p:txBody>
          <a:bodyPr wrap="square" lIns="0" tIns="0" rIns="0" bIns="0" rtlCol="0" anchor="t"/>
          <a:lstStyle/>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from langchain_core.messages import RemoveMessage</a:t>
            </a:r>
            <a:endParaRPr lang="en-US" sz="1200" dirty="0"/>
          </a:p>
          <a:p>
            <a:pPr indent="0" marL="0">
              <a:lnSpc>
                <a:spcPct val="102000"/>
              </a:lnSpc>
              <a:buNone/>
            </a:pP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MANTER = 12          # ultimas mensagens preservadas</a:t>
            </a:r>
            <a:endParaRPr lang="en-US" sz="1200" dirty="0"/>
          </a:p>
          <a:p>
            <a:pPr indent="0" marL="0">
              <a:lnSpc>
                <a:spcPct val="102000"/>
              </a:lnSpc>
              <a:buNone/>
            </a:pP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def no_podar(estado: Estado) -&gt; dict:</a:t>
            </a: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    msgs = estado["messages"]</a:t>
            </a: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    if len(msgs) &lt;= MANTER:</a:t>
            </a: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        return {}</a:t>
            </a: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    antigas = msgs[:-MANTER]</a:t>
            </a: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    resumo = llm.invoke(</a:t>
            </a: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        [SystemMessage("Resuma em ate 8 linhas o que foi decidido e descoberto.")]</a:t>
            </a: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        + antigas).content</a:t>
            </a: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    return {"resumo": resumo,</a:t>
            </a: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            "messages": [RemoveMessage(id=m.id) for m in antigas]}</a:t>
            </a:r>
            <a:endParaRPr lang="en-US" sz="1200" dirty="0"/>
          </a:p>
          <a:p>
            <a:pPr indent="0" marL="0">
              <a:lnSpc>
                <a:spcPct val="102000"/>
              </a:lnSpc>
              <a:buNone/>
            </a:pP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g.add_node("podar", no_podar)</a:t>
            </a:r>
            <a:endParaRPr lang="en-US" sz="1200" dirty="0"/>
          </a:p>
          <a:p>
            <a:pPr indent="0" marL="0">
              <a:lnSpc>
                <a:spcPct val="102000"/>
              </a:lnSpc>
              <a:buNone/>
            </a:pPr>
            <a:r>
              <a:rPr lang="en-US" sz="1200" dirty="0">
                <a:solidFill>
                  <a:srgbClr val="D8D2EE"/>
                </a:solidFill>
                <a:latin typeface="Courier New" pitchFamily="34" charset="0"/>
                <a:ea typeface="Courier New" pitchFamily="34" charset="-122"/>
                <a:cs typeface="Courier New" pitchFamily="34" charset="-120"/>
              </a:rPr>
              <a:t>g.add_edge("podar", "agente")</a:t>
            </a:r>
            <a:endParaRPr lang="en-US" sz="1200" dirty="0"/>
          </a:p>
        </p:txBody>
      </p:sp>
      <p:sp>
        <p:nvSpPr>
          <p:cNvPr id="6" name="Text 4"/>
          <p:cNvSpPr/>
          <p:nvPr/>
        </p:nvSpPr>
        <p:spPr>
          <a:xfrm>
            <a:off x="640080" y="5577840"/>
            <a:ext cx="10881360" cy="731520"/>
          </a:xfrm>
          <a:prstGeom prst="rect">
            <a:avLst/>
          </a:prstGeom>
          <a:noFill/>
          <a:ln/>
        </p:spPr>
        <p:txBody>
          <a:bodyPr wrap="square" lIns="0" tIns="0" rIns="0" bIns="0" rtlCol="0" anchor="t"/>
          <a:lstStyle/>
          <a:p>
            <a:pPr indent="0" marL="0">
              <a:buNone/>
            </a:pPr>
            <a:r>
              <a:rPr lang="en-US" sz="1350" i="1" dirty="0">
                <a:solidFill>
                  <a:srgbClr val="6B6580"/>
                </a:solidFill>
                <a:latin typeface="Calibri" pitchFamily="34" charset="0"/>
                <a:ea typeface="Calibri" pitchFamily="34" charset="-122"/>
                <a:cs typeface="Calibri" pitchFamily="34" charset="-120"/>
              </a:rPr>
              <a:t>A política de contexto vira um nó visível, desenhável e testável, e não um if escondido dentro do loop.</a:t>
            </a:r>
            <a:endParaRPr lang="en-US" sz="1350" dirty="0"/>
          </a:p>
        </p:txBody>
      </p:sp>
      <p:sp>
        <p:nvSpPr>
          <p:cNvPr id="8" name="Text 5"/>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9" name="Text 6"/>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ENUNCIADO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Laboratório da manhã: o NEXUS vira grafo</a:t>
            </a:r>
            <a:endParaRPr lang="en-US" sz="3400" dirty="0"/>
          </a:p>
        </p:txBody>
      </p:sp>
      <p:sp>
        <p:nvSpPr>
          <p:cNvPr id="4" name="Shape 2"/>
          <p:cNvSpPr/>
          <p:nvPr/>
        </p:nvSpPr>
        <p:spPr>
          <a:xfrm>
            <a:off x="640080" y="1645920"/>
            <a:ext cx="384048" cy="384048"/>
          </a:xfrm>
          <a:prstGeom prst="roundRect">
            <a:avLst>
              <a:gd name="adj" fmla="val 19048"/>
            </a:avLst>
          </a:prstGeom>
          <a:solidFill>
            <a:srgbClr val="4C3A8C"/>
          </a:solidFill>
          <a:ln/>
        </p:spPr>
      </p:sp>
      <p:sp>
        <p:nvSpPr>
          <p:cNvPr id="5" name="Text 3"/>
          <p:cNvSpPr/>
          <p:nvPr/>
        </p:nvSpPr>
        <p:spPr>
          <a:xfrm>
            <a:off x="6400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161848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Migrar o agente de ontem para StateGraph</a:t>
            </a:r>
            <a:endParaRPr lang="en-US" sz="1600" dirty="0"/>
          </a:p>
        </p:txBody>
      </p:sp>
      <p:sp>
        <p:nvSpPr>
          <p:cNvPr id="7" name="Text 5"/>
          <p:cNvSpPr/>
          <p:nvPr/>
        </p:nvSpPr>
        <p:spPr>
          <a:xfrm>
            <a:off x="1234440" y="1975104"/>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Dois nós, uma aresta fixa, uma condicional. Rode o draw_ascii e confira o desenho.</a:t>
            </a:r>
            <a:endParaRPr lang="en-US" sz="1350" dirty="0"/>
          </a:p>
        </p:txBody>
      </p:sp>
      <p:sp>
        <p:nvSpPr>
          <p:cNvPr id="8" name="Shape 6"/>
          <p:cNvSpPr/>
          <p:nvPr/>
        </p:nvSpPr>
        <p:spPr>
          <a:xfrm>
            <a:off x="640080" y="2478024"/>
            <a:ext cx="384048" cy="384048"/>
          </a:xfrm>
          <a:prstGeom prst="roundRect">
            <a:avLst>
              <a:gd name="adj" fmla="val 19048"/>
            </a:avLst>
          </a:prstGeom>
          <a:solidFill>
            <a:srgbClr val="4C3A8C"/>
          </a:solidFill>
          <a:ln/>
        </p:spPr>
      </p:sp>
      <p:sp>
        <p:nvSpPr>
          <p:cNvPr id="9" name="Text 7"/>
          <p:cNvSpPr/>
          <p:nvPr/>
        </p:nvSpPr>
        <p:spPr>
          <a:xfrm>
            <a:off x="64008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34440" y="2450592"/>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Trazer as quatro condições de parada</a:t>
            </a:r>
            <a:endParaRPr lang="en-US" sz="1600" dirty="0"/>
          </a:p>
        </p:txBody>
      </p:sp>
      <p:sp>
        <p:nvSpPr>
          <p:cNvPr id="11" name="Text 9"/>
          <p:cNvSpPr/>
          <p:nvPr/>
        </p:nvSpPr>
        <p:spPr>
          <a:xfrm>
            <a:off x="1234440" y="2807208"/>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Como campos do estado e ifs no rotear. Nenhuma delas vem do framework.</a:t>
            </a:r>
            <a:endParaRPr lang="en-US" sz="1350" dirty="0"/>
          </a:p>
        </p:txBody>
      </p:sp>
      <p:sp>
        <p:nvSpPr>
          <p:cNvPr id="12" name="Shape 10"/>
          <p:cNvSpPr/>
          <p:nvPr/>
        </p:nvSpPr>
        <p:spPr>
          <a:xfrm>
            <a:off x="640080" y="3310128"/>
            <a:ext cx="384048" cy="384048"/>
          </a:xfrm>
          <a:prstGeom prst="roundRect">
            <a:avLst>
              <a:gd name="adj" fmla="val 19048"/>
            </a:avLst>
          </a:prstGeom>
          <a:solidFill>
            <a:srgbClr val="4C3A8C"/>
          </a:solidFill>
          <a:ln/>
        </p:spPr>
      </p:sp>
      <p:sp>
        <p:nvSpPr>
          <p:cNvPr id="13" name="Text 11"/>
          <p:cNvSpPr/>
          <p:nvPr/>
        </p:nvSpPr>
        <p:spPr>
          <a:xfrm>
            <a:off x="640080"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34440" y="3282696"/>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Ligar o SqliteSaver e provar a memória</a:t>
            </a:r>
            <a:endParaRPr lang="en-US" sz="1600" dirty="0"/>
          </a:p>
        </p:txBody>
      </p:sp>
      <p:sp>
        <p:nvSpPr>
          <p:cNvPr id="15" name="Text 13"/>
          <p:cNvSpPr/>
          <p:nvPr/>
        </p:nvSpPr>
        <p:spPr>
          <a:xfrm>
            <a:off x="1234440" y="3639312"/>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Duas perguntas no mesmo thread_id, e a terceira em outro thread para provar o isolamento.</a:t>
            </a:r>
            <a:endParaRPr lang="en-US" sz="1350" dirty="0"/>
          </a:p>
        </p:txBody>
      </p:sp>
      <p:sp>
        <p:nvSpPr>
          <p:cNvPr id="16" name="Shape 14"/>
          <p:cNvSpPr/>
          <p:nvPr/>
        </p:nvSpPr>
        <p:spPr>
          <a:xfrm>
            <a:off x="640080" y="4142232"/>
            <a:ext cx="384048" cy="384048"/>
          </a:xfrm>
          <a:prstGeom prst="roundRect">
            <a:avLst>
              <a:gd name="adj" fmla="val 19048"/>
            </a:avLst>
          </a:prstGeom>
          <a:solidFill>
            <a:srgbClr val="4C3A8C"/>
          </a:solidFill>
          <a:ln/>
        </p:spPr>
      </p:sp>
      <p:sp>
        <p:nvSpPr>
          <p:cNvPr id="17" name="Text 15"/>
          <p:cNvSpPr/>
          <p:nvPr/>
        </p:nvSpPr>
        <p:spPr>
          <a:xfrm>
            <a:off x="640080" y="4142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234440" y="4114800"/>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Montar o thread_id com o dono</a:t>
            </a:r>
            <a:endParaRPr lang="en-US" sz="1600" dirty="0"/>
          </a:p>
        </p:txBody>
      </p:sp>
      <p:sp>
        <p:nvSpPr>
          <p:cNvPr id="19" name="Text 17"/>
          <p:cNvSpPr/>
          <p:nvPr/>
        </p:nvSpPr>
        <p:spPr>
          <a:xfrm>
            <a:off x="1234440" y="4471416"/>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Componha usuário e conversa. Escreva um teste que garante que dois usuários não leem o mesmo histórico.</a:t>
            </a:r>
            <a:endParaRPr lang="en-US" sz="1350" dirty="0"/>
          </a:p>
        </p:txBody>
      </p:sp>
      <p:sp>
        <p:nvSpPr>
          <p:cNvPr id="20" name="Shape 18"/>
          <p:cNvSpPr/>
          <p:nvPr/>
        </p:nvSpPr>
        <p:spPr>
          <a:xfrm>
            <a:off x="640080" y="4974336"/>
            <a:ext cx="384048" cy="384048"/>
          </a:xfrm>
          <a:prstGeom prst="roundRect">
            <a:avLst>
              <a:gd name="adj" fmla="val 19048"/>
            </a:avLst>
          </a:prstGeom>
          <a:solidFill>
            <a:srgbClr val="4C3A8C"/>
          </a:solidFill>
          <a:ln/>
        </p:spPr>
      </p:sp>
      <p:sp>
        <p:nvSpPr>
          <p:cNvPr id="21" name="Text 19"/>
          <p:cNvSpPr/>
          <p:nvPr/>
        </p:nvSpPr>
        <p:spPr>
          <a:xfrm>
            <a:off x="640080" y="4974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234440" y="4946904"/>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Extensão: o nó de poda</a:t>
            </a:r>
            <a:endParaRPr lang="en-US" sz="1600" dirty="0"/>
          </a:p>
        </p:txBody>
      </p:sp>
      <p:sp>
        <p:nvSpPr>
          <p:cNvPr id="23" name="Text 21"/>
          <p:cNvSpPr/>
          <p:nvPr/>
        </p:nvSpPr>
        <p:spPr>
          <a:xfrm>
            <a:off x="1234440" y="5303520"/>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Para quem terminar antes. Meça o tamanho do contexto antes e depois.</a:t>
            </a:r>
            <a:endParaRPr lang="en-US" sz="1350" dirty="0"/>
          </a:p>
        </p:txBody>
      </p:sp>
      <p:sp>
        <p:nvSpPr>
          <p:cNvPr id="25" name="Text 2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6" name="Text 2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4C3A8C"/>
        </a:solidFill>
      </p:bgPr>
    </p:bg>
    <p:spTree>
      <p:nvGrpSpPr>
        <p:cNvPr id="1" name=""/>
        <p:cNvGrpSpPr/>
        <p:nvPr/>
      </p:nvGrpSpPr>
      <p:grpSpPr>
        <a:xfrm>
          <a:off x="0" y="0"/>
          <a:ext cx="0" cy="0"/>
          <a:chOff x="0" y="0"/>
          <a:chExt cx="0" cy="0"/>
        </a:xfrm>
      </p:grpSpPr>
      <p:sp>
        <p:nvSpPr>
          <p:cNvPr id="2" name="Text 0"/>
          <p:cNvSpPr/>
          <p:nvPr/>
        </p:nvSpPr>
        <p:spPr>
          <a:xfrm>
            <a:off x="640080" y="1920240"/>
            <a:ext cx="1828800" cy="1280160"/>
          </a:xfrm>
          <a:prstGeom prst="rect">
            <a:avLst/>
          </a:prstGeom>
          <a:noFill/>
          <a:ln/>
        </p:spPr>
        <p:txBody>
          <a:bodyPr wrap="square" lIns="0" tIns="0" rIns="0" bIns="0" rtlCol="0" anchor="ctr"/>
          <a:lstStyle/>
          <a:p>
            <a:pPr indent="0" marL="0">
              <a:buNone/>
            </a:pPr>
            <a:r>
              <a:rPr lang="en-US" sz="7200" b="1" dirty="0">
                <a:solidFill>
                  <a:srgbClr val="E8933A"/>
                </a:solidFill>
                <a:latin typeface="Cambria" pitchFamily="34" charset="0"/>
                <a:ea typeface="Cambria" pitchFamily="34" charset="-122"/>
                <a:cs typeface="Cambria" pitchFamily="34" charset="-120"/>
              </a:rPr>
              <a:t>04</a:t>
            </a:r>
            <a:endParaRPr lang="en-US" sz="7200" dirty="0"/>
          </a:p>
        </p:txBody>
      </p:sp>
      <p:sp>
        <p:nvSpPr>
          <p:cNvPr id="3" name="Text 1"/>
          <p:cNvSpPr/>
          <p:nvPr/>
        </p:nvSpPr>
        <p:spPr>
          <a:xfrm>
            <a:off x="2560320" y="2057400"/>
            <a:ext cx="91440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Constraints de verdade</a:t>
            </a:r>
            <a:endParaRPr lang="en-US" sz="4000" dirty="0"/>
          </a:p>
        </p:txBody>
      </p:sp>
      <p:sp>
        <p:nvSpPr>
          <p:cNvPr id="4" name="Text 2"/>
          <p:cNvSpPr/>
          <p:nvPr/>
        </p:nvSpPr>
        <p:spPr>
          <a:xfrm>
            <a:off x="2560320" y="3200400"/>
            <a:ext cx="9144000" cy="1097280"/>
          </a:xfrm>
          <a:prstGeom prst="rect">
            <a:avLst/>
          </a:prstGeom>
          <a:noFill/>
          <a:ln/>
        </p:spPr>
        <p:txBody>
          <a:bodyPr wrap="square" lIns="0" tIns="0" rIns="0" bIns="0" rtlCol="0" anchor="ctr"/>
          <a:lstStyle/>
          <a:p>
            <a:pPr indent="0" marL="0">
              <a:buNone/>
            </a:pPr>
            <a:r>
              <a:rPr lang="en-US" sz="1700" dirty="0">
                <a:solidFill>
                  <a:srgbClr val="E4DEF7"/>
                </a:solidFill>
                <a:latin typeface="Calibri" pitchFamily="34" charset="0"/>
                <a:ea typeface="Calibri" pitchFamily="34" charset="-122"/>
                <a:cs typeface="Calibri" pitchFamily="34" charset="-120"/>
              </a:rPr>
              <a:t>Onde o harness deixa de ser arte e vira engenharia.</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A DISTINÇÃO FUNDAMENTAL</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Sugestão e restrição não são a mesma coisa</a:t>
            </a:r>
            <a:endParaRPr lang="en-US" sz="3400" dirty="0"/>
          </a:p>
        </p:txBody>
      </p:sp>
      <p:sp>
        <p:nvSpPr>
          <p:cNvPr id="4" name="Shape 2"/>
          <p:cNvSpPr/>
          <p:nvPr/>
        </p:nvSpPr>
        <p:spPr>
          <a:xfrm>
            <a:off x="640080" y="1737360"/>
            <a:ext cx="5257800" cy="4160520"/>
          </a:xfrm>
          <a:prstGeom prst="roundRect">
            <a:avLst>
              <a:gd name="adj" fmla="val 2198"/>
            </a:avLst>
          </a:prstGeom>
          <a:solidFill>
            <a:srgbClr val="F2F0F7"/>
          </a:solidFill>
          <a:ln/>
        </p:spPr>
      </p:sp>
      <p:sp>
        <p:nvSpPr>
          <p:cNvPr id="5" name="Shape 3"/>
          <p:cNvSpPr/>
          <p:nvPr/>
        </p:nvSpPr>
        <p:spPr>
          <a:xfrm>
            <a:off x="868680" y="1938528"/>
            <a:ext cx="329184" cy="329184"/>
          </a:xfrm>
          <a:prstGeom prst="roundRect">
            <a:avLst>
              <a:gd name="adj" fmla="val 19444"/>
            </a:avLst>
          </a:prstGeom>
          <a:solidFill>
            <a:srgbClr val="9E3B3B"/>
          </a:solidFill>
          <a:ln/>
        </p:spPr>
      </p:sp>
      <p:sp>
        <p:nvSpPr>
          <p:cNvPr id="6" name="Text 4"/>
          <p:cNvSpPr/>
          <p:nvPr/>
        </p:nvSpPr>
        <p:spPr>
          <a:xfrm>
            <a:off x="86868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7" name="Text 5"/>
          <p:cNvSpPr/>
          <p:nvPr/>
        </p:nvSpPr>
        <p:spPr>
          <a:xfrm>
            <a:off x="1298448" y="1920240"/>
            <a:ext cx="4389120" cy="365760"/>
          </a:xfrm>
          <a:prstGeom prst="rect">
            <a:avLst/>
          </a:prstGeom>
          <a:noFill/>
          <a:ln/>
        </p:spPr>
        <p:txBody>
          <a:bodyPr wrap="square" lIns="0" tIns="0" rIns="0" bIns="0" rtlCol="0" anchor="ctr"/>
          <a:lstStyle/>
          <a:p>
            <a:pPr indent="0" marL="0">
              <a:buNone/>
            </a:pPr>
            <a:r>
              <a:rPr lang="en-US" sz="1700" b="1" dirty="0">
                <a:solidFill>
                  <a:srgbClr val="1A1725"/>
                </a:solidFill>
                <a:latin typeface="Calibri" pitchFamily="34" charset="0"/>
                <a:ea typeface="Calibri" pitchFamily="34" charset="-122"/>
                <a:cs typeface="Calibri" pitchFamily="34" charset="-120"/>
              </a:rPr>
              <a:t>Sugestão (prompt)</a:t>
            </a:r>
            <a:endParaRPr lang="en-US" sz="1700" dirty="0"/>
          </a:p>
        </p:txBody>
      </p:sp>
      <p:sp>
        <p:nvSpPr>
          <p:cNvPr id="8" name="Text 6"/>
          <p:cNvSpPr/>
          <p:nvPr/>
        </p:nvSpPr>
        <p:spPr>
          <a:xfrm>
            <a:off x="914400" y="2468880"/>
            <a:ext cx="4709160" cy="3246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Nunca faça push direto na main</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Garantia probabilística</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Degrada com contexto longo</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Custa tokens em toda chamada</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O agente pode contornar</a:t>
            </a:r>
            <a:endParaRPr lang="en-US" sz="1350" dirty="0"/>
          </a:p>
        </p:txBody>
      </p:sp>
      <p:sp>
        <p:nvSpPr>
          <p:cNvPr id="9" name="Shape 7"/>
          <p:cNvSpPr/>
          <p:nvPr/>
        </p:nvSpPr>
        <p:spPr>
          <a:xfrm>
            <a:off x="6263640" y="1737360"/>
            <a:ext cx="5257800" cy="4160520"/>
          </a:xfrm>
          <a:prstGeom prst="roundRect">
            <a:avLst>
              <a:gd name="adj" fmla="val 2198"/>
            </a:avLst>
          </a:prstGeom>
          <a:solidFill>
            <a:srgbClr val="F2F0F7"/>
          </a:solidFill>
          <a:ln/>
        </p:spPr>
      </p:sp>
      <p:sp>
        <p:nvSpPr>
          <p:cNvPr id="10" name="Shape 8"/>
          <p:cNvSpPr/>
          <p:nvPr/>
        </p:nvSpPr>
        <p:spPr>
          <a:xfrm>
            <a:off x="6492240" y="1938528"/>
            <a:ext cx="329184" cy="329184"/>
          </a:xfrm>
          <a:prstGeom prst="roundRect">
            <a:avLst>
              <a:gd name="adj" fmla="val 19444"/>
            </a:avLst>
          </a:prstGeom>
          <a:solidFill>
            <a:srgbClr val="3E7D5A"/>
          </a:solidFill>
          <a:ln/>
        </p:spPr>
      </p:sp>
      <p:sp>
        <p:nvSpPr>
          <p:cNvPr id="11" name="Text 9"/>
          <p:cNvSpPr/>
          <p:nvPr/>
        </p:nvSpPr>
        <p:spPr>
          <a:xfrm>
            <a:off x="649224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12" name="Text 10"/>
          <p:cNvSpPr/>
          <p:nvPr/>
        </p:nvSpPr>
        <p:spPr>
          <a:xfrm>
            <a:off x="6922008" y="1920240"/>
            <a:ext cx="4389120" cy="365760"/>
          </a:xfrm>
          <a:prstGeom prst="rect">
            <a:avLst/>
          </a:prstGeom>
          <a:noFill/>
          <a:ln/>
        </p:spPr>
        <p:txBody>
          <a:bodyPr wrap="square" lIns="0" tIns="0" rIns="0" bIns="0" rtlCol="0" anchor="ctr"/>
          <a:lstStyle/>
          <a:p>
            <a:pPr indent="0" marL="0">
              <a:buNone/>
            </a:pPr>
            <a:r>
              <a:rPr lang="en-US" sz="1700" b="1" dirty="0">
                <a:solidFill>
                  <a:srgbClr val="1A1725"/>
                </a:solidFill>
                <a:latin typeface="Calibri" pitchFamily="34" charset="0"/>
                <a:ea typeface="Calibri" pitchFamily="34" charset="-122"/>
                <a:cs typeface="Calibri" pitchFamily="34" charset="-120"/>
              </a:rPr>
              <a:t>Restrição (hook)</a:t>
            </a:r>
            <a:endParaRPr lang="en-US" sz="1700" dirty="0"/>
          </a:p>
        </p:txBody>
      </p:sp>
      <p:sp>
        <p:nvSpPr>
          <p:cNvPr id="13" name="Text 11"/>
          <p:cNvSpPr/>
          <p:nvPr/>
        </p:nvSpPr>
        <p:spPr>
          <a:xfrm>
            <a:off x="6537960" y="2468880"/>
            <a:ext cx="4709160" cy="3246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PreToolUse intercepta e nega</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Garantia determinística</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Não degrada nunca</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Custa zero token</a:t>
            </a:r>
            <a:endParaRPr lang="en-US" sz="1350" dirty="0"/>
          </a:p>
          <a:p>
            <a:pPr marL="342900" indent="-342900">
              <a:spcAft>
                <a:spcPts val="800"/>
              </a:spcAft>
              <a:buSzPct val="100000"/>
              <a:buChar char="•"/>
            </a:pPr>
            <a:r>
              <a:rPr lang="en-US" sz="1350" dirty="0">
                <a:solidFill>
                  <a:srgbClr val="1A1725"/>
                </a:solidFill>
                <a:latin typeface="Calibri" pitchFamily="34" charset="0"/>
                <a:ea typeface="Calibri" pitchFamily="34" charset="-122"/>
                <a:cs typeface="Calibri" pitchFamily="34" charset="-120"/>
              </a:rPr>
              <a:t>O agente não contorna</a:t>
            </a:r>
            <a:endParaRPr lang="en-US" sz="1350" dirty="0"/>
          </a:p>
        </p:txBody>
      </p:sp>
      <p:sp>
        <p:nvSpPr>
          <p:cNvPr id="15" name="Text 1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6" name="Text 1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CICLO DE VIDA</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Onde enganchar, e qual deles pode negar</a:t>
            </a:r>
            <a:endParaRPr lang="en-US" sz="3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2651760"/>
                <a:gridCol w="3291840"/>
                <a:gridCol w="4937760"/>
              </a:tblGrid>
              <a:tr h="31089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Evento</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Quando dispara</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Para que serve</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PreToolUse</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Antes de executar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NEGAR a operação: o ponto central de segurança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PostToolUse</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Depois de executar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Auditoria, log, formatação automática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SessionStart</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Início da sessão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Carregar contexto, inicializar ambiente</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Stop</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O agente decidiu parar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Verificação determinística de conclusão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PermissionRequest</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Pediu permissão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Aprovação automática, ou rota para um humano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PostCompact</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Depois de compactar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Reagir à perda de contexto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bl>
          </a:graphicData>
        </a:graphic>
      </p:graphicFrame>
      <p:sp>
        <p:nvSpPr>
          <p:cNvPr id="6" name="Text 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7"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NO NEXUS</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Políticas como funções pequenas e testáveis</a:t>
            </a:r>
            <a:endParaRPr lang="en-US" sz="3400" dirty="0"/>
          </a:p>
        </p:txBody>
      </p:sp>
      <p:sp>
        <p:nvSpPr>
          <p:cNvPr id="4" name="Text 2"/>
          <p:cNvSpPr/>
          <p:nvPr/>
        </p:nvSpPr>
        <p:spPr>
          <a:xfrm>
            <a:off x="640080" y="1691640"/>
            <a:ext cx="4297680" cy="1030224"/>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Não precisamos do Claude Code para ter isso. O nosso ToolNode já é o ponto de interceptação: falta transformá-lo num lugar onde políticas se registram.</a:t>
            </a:r>
            <a:endParaRPr lang="en-US" sz="1400" dirty="0"/>
          </a:p>
        </p:txBody>
      </p:sp>
      <p:sp>
        <p:nvSpPr>
          <p:cNvPr id="5" name="Shape 3"/>
          <p:cNvSpPr/>
          <p:nvPr/>
        </p:nvSpPr>
        <p:spPr>
          <a:xfrm>
            <a:off x="640080" y="2996184"/>
            <a:ext cx="4297680" cy="2993136"/>
          </a:xfrm>
          <a:prstGeom prst="roundRect">
            <a:avLst>
              <a:gd name="adj" fmla="val 3055"/>
            </a:avLst>
          </a:prstGeom>
          <a:solidFill>
            <a:srgbClr val="F2F0F7"/>
          </a:solidFill>
          <a:ln/>
        </p:spPr>
      </p:sp>
      <p:sp>
        <p:nvSpPr>
          <p:cNvPr id="6" name="Text 4"/>
          <p:cNvSpPr/>
          <p:nvPr/>
        </p:nvSpPr>
        <p:spPr>
          <a:xfrm>
            <a:off x="859536" y="3142488"/>
            <a:ext cx="3858768" cy="2700528"/>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Duas coisas: estas políticas são testáveis SEM LLM nenhum, e vão para o pytest junto com o roteamento. E a mensagem de recusa volta ao modelo como observação, então ele aprende no meio da execução que aquele caminho está bloqueado.</a:t>
            </a:r>
            <a:endParaRPr lang="en-US" sz="1250" dirty="0"/>
          </a:p>
        </p:txBody>
      </p:sp>
      <p:sp>
        <p:nvSpPr>
          <p:cNvPr id="7" name="Shape 5"/>
          <p:cNvSpPr/>
          <p:nvPr/>
        </p:nvSpPr>
        <p:spPr>
          <a:xfrm>
            <a:off x="5303520" y="1691640"/>
            <a:ext cx="6217920" cy="4297680"/>
          </a:xfrm>
          <a:prstGeom prst="roundRect">
            <a:avLst>
              <a:gd name="adj" fmla="val 2128"/>
            </a:avLst>
          </a:prstGeom>
          <a:solidFill>
            <a:srgbClr val="0F0C1A"/>
          </a:solidFill>
          <a:ln/>
        </p:spPr>
      </p:sp>
      <p:sp>
        <p:nvSpPr>
          <p:cNvPr id="8" name="Text 6"/>
          <p:cNvSpPr/>
          <p:nvPr/>
        </p:nvSpPr>
        <p:spPr>
          <a:xfrm>
            <a:off x="5504688" y="1828800"/>
            <a:ext cx="5815584" cy="4023360"/>
          </a:xfrm>
          <a:prstGeom prst="rect">
            <a:avLst/>
          </a:prstGeom>
          <a:noFill/>
          <a:ln/>
        </p:spPr>
        <p:txBody>
          <a:bodyPr wrap="square" lIns="0" tIns="0" rIns="0" bIns="0" rtlCol="0" anchor="t"/>
          <a:lstStyle/>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PRE = []</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def pre_tool_use(fn):</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"""Devolver string = NEGAR com esse motivo."""</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PRE.append(fn); return fn</a:t>
            </a:r>
            <a:endParaRPr lang="en-US" sz="1150" dirty="0"/>
          </a:p>
          <a:p>
            <a:pPr indent="0" marL="0">
              <a:lnSpc>
                <a:spcPct val="102000"/>
              </a:lnSpc>
              <a:buNone/>
            </a:pP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def executar_com_hooks(ferramenta, args):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for politica in PRE:</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recusa = politica(ferramenta, args)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if recusa:</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return f"NEGADO pela politica: {recusa}"</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return REGISTRO[ferramenta].invoke(args)</a:t>
            </a:r>
            <a:endParaRPr lang="en-US" sz="1150" dirty="0"/>
          </a:p>
          <a:p>
            <a:pPr indent="0" marL="0">
              <a:lnSpc>
                <a:spcPct val="102000"/>
              </a:lnSpc>
              <a:buNone/>
            </a:pP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@pre_tool_use</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def proteger_fora_da_pasta(ferramenta, args):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if ferramenta == "salvar_relatorio":</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destino = Path(args["caminho"]).resolve()</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if not str(destino).startswith(str(SAIDA)):</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return f"escrita fora de {SAIDA} nao permitida"</a:t>
            </a:r>
            <a:endParaRPr lang="en-US" sz="115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71326"/>
        </a:solidFill>
      </p:bgPr>
    </p:bg>
    <p:spTree>
      <p:nvGrpSpPr>
        <p:cNvPr id="1" name=""/>
        <p:cNvGrpSpPr/>
        <p:nvPr/>
      </p:nvGrpSpPr>
      <p:grpSpPr>
        <a:xfrm>
          <a:off x="0" y="0"/>
          <a:ext cx="0" cy="0"/>
          <a:chOff x="0" y="0"/>
          <a:chExt cx="0" cy="0"/>
        </a:xfrm>
      </p:grpSpPr>
      <p:sp>
        <p:nvSpPr>
          <p:cNvPr id="2" name="Text 0"/>
          <p:cNvSpPr/>
          <p:nvPr/>
        </p:nvSpPr>
        <p:spPr>
          <a:xfrm>
            <a:off x="640080" y="1280160"/>
            <a:ext cx="10881360" cy="320040"/>
          </a:xfrm>
          <a:prstGeom prst="rect">
            <a:avLst/>
          </a:prstGeom>
          <a:noFill/>
          <a:ln/>
        </p:spPr>
        <p:txBody>
          <a:bodyPr wrap="square" lIns="0" tIns="0" rIns="0" bIns="0" rtlCol="0" anchor="t"/>
          <a:lstStyle/>
          <a:p>
            <a:pPr indent="0" marL="0">
              <a:buNone/>
            </a:pPr>
            <a:r>
              <a:rPr lang="en-US" sz="1200" b="1" spc="120" kern="0" dirty="0">
                <a:solidFill>
                  <a:srgbClr val="E8933A"/>
                </a:solidFill>
                <a:latin typeface="Calibri" pitchFamily="34" charset="0"/>
                <a:ea typeface="Calibri" pitchFamily="34" charset="-122"/>
                <a:cs typeface="Calibri" pitchFamily="34" charset="-120"/>
              </a:rPr>
              <a:t>DETALHE QUE FAZ DIFERENÇA</a:t>
            </a:r>
            <a:endParaRPr lang="en-US" sz="1200" dirty="0"/>
          </a:p>
        </p:txBody>
      </p:sp>
      <p:sp>
        <p:nvSpPr>
          <p:cNvPr id="3" name="Text 1"/>
          <p:cNvSpPr/>
          <p:nvPr/>
        </p:nvSpPr>
        <p:spPr>
          <a:xfrm>
            <a:off x="640080" y="1783080"/>
            <a:ext cx="10881360" cy="731520"/>
          </a:xfrm>
          <a:prstGeom prst="rect">
            <a:avLst/>
          </a:prstGeom>
          <a:noFill/>
          <a:ln/>
        </p:spPr>
        <p:txBody>
          <a:bodyPr wrap="square" lIns="0" tIns="0" rIns="0" bIns="0" rtlCol="0" anchor="t"/>
          <a:lstStyle/>
          <a:p>
            <a:pPr indent="0" marL="0">
              <a:lnSpc>
                <a:spcPct val="112000"/>
              </a:lnSpc>
              <a:buNone/>
            </a:pPr>
            <a:r>
              <a:rPr lang="en-US" sz="3600" b="1" dirty="0">
                <a:solidFill>
                  <a:srgbClr val="EDEAF5"/>
                </a:solidFill>
                <a:latin typeface="Cambria" pitchFamily="34" charset="0"/>
                <a:ea typeface="Cambria" pitchFamily="34" charset="-122"/>
                <a:cs typeface="Cambria" pitchFamily="34" charset="-120"/>
              </a:rPr>
              <a:t>Uma recusa bem escrita é uma instrução.</a:t>
            </a:r>
            <a:endParaRPr lang="en-US" sz="3600" dirty="0"/>
          </a:p>
        </p:txBody>
      </p:sp>
      <p:sp>
        <p:nvSpPr>
          <p:cNvPr id="4" name="Text 2"/>
          <p:cNvSpPr/>
          <p:nvPr/>
        </p:nvSpPr>
        <p:spPr>
          <a:xfrm>
            <a:off x="640080" y="2926080"/>
            <a:ext cx="10149840" cy="3108960"/>
          </a:xfrm>
          <a:prstGeom prst="rect">
            <a:avLst/>
          </a:prstGeom>
          <a:noFill/>
          <a:ln/>
        </p:spPr>
        <p:txBody>
          <a:bodyPr wrap="square" lIns="0" tIns="0" rIns="0" bIns="0" rtlCol="0" anchor="t"/>
          <a:lstStyle/>
          <a:p>
            <a:pPr indent="0" marL="0">
              <a:lnSpc>
                <a:spcPct val="118000"/>
              </a:lnSpc>
              <a:buNone/>
            </a:pPr>
            <a:r>
              <a:rPr lang="en-US" sz="1600" dirty="0">
                <a:solidFill>
                  <a:srgbClr val="A79FC4"/>
                </a:solidFill>
                <a:latin typeface="Calibri" pitchFamily="34" charset="0"/>
                <a:ea typeface="Calibri" pitchFamily="34" charset="-122"/>
                <a:cs typeface="Calibri" pitchFamily="34" charset="-120"/>
              </a:rPr>
              <a:t>Comparem: NEGADO contra NEGADO: escrita fora de saida/ não é permitida; use saida/relatorio.md. A primeira faz o agente tentar de novo até o limite de passos. A segunda faz ele acertar na volta seguinte. É o mesmo princípio do erro útil do dia 1, aplicado à camada de constraints.</a:t>
            </a:r>
            <a:endParaRPr lang="en-US" sz="1600" dirty="0"/>
          </a:p>
        </p:txBody>
      </p:sp>
      <p:sp>
        <p:nvSpPr>
          <p:cNvPr id="6"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A79FC4"/>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SANDBOX</a:t>
            </a:r>
            <a:endParaRPr lang="en-US" sz="1100" dirty="0"/>
          </a:p>
        </p:txBody>
      </p:sp>
      <p:sp>
        <p:nvSpPr>
          <p:cNvPr id="3" name="Text 1"/>
          <p:cNvSpPr/>
          <p:nvPr/>
        </p:nvSpPr>
        <p:spPr>
          <a:xfrm>
            <a:off x="640080" y="676656"/>
            <a:ext cx="10881360" cy="1162304"/>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Hooks bloqueiam o que você previu. Sandbox, o resto</a:t>
            </a:r>
            <a:endParaRPr lang="en-US" sz="3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2094992"/>
          <a:ext cx="10881360" cy="914400"/>
        </p:xfrm>
        <a:graphic>
          <a:graphicData uri="http://schemas.openxmlformats.org/drawingml/2006/table">
            <a:tbl>
              <a:tblPr/>
              <a:tblGrid>
                <a:gridCol w="2011680"/>
                <a:gridCol w="4206240"/>
                <a:gridCol w="4663440"/>
              </a:tblGrid>
              <a:tr h="31089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Nível</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Mecanismo</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Bloqueia</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Caminho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resolve() mais checagem de prefixo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Escapar da pasta do projeto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Processo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Usuário sem privilégio, ulimit</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Consumo desenfreado de CPU e memória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Rede</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Desligada por padrão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Exfiltração e chamadas não previstas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Sistema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Container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Todo o resto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bl>
          </a:graphicData>
        </a:graphic>
      </p:graphicFrame>
      <p:sp>
        <p:nvSpPr>
          <p:cNvPr id="6" name="Text 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7"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STEERING</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Manter o agente nos trilhos durante a execução</a:t>
            </a:r>
            <a:endParaRPr lang="en-US" sz="3400" dirty="0"/>
          </a:p>
        </p:txBody>
      </p:sp>
      <p:sp>
        <p:nvSpPr>
          <p:cNvPr id="4" name="Shape 2"/>
          <p:cNvSpPr/>
          <p:nvPr/>
        </p:nvSpPr>
        <p:spPr>
          <a:xfrm>
            <a:off x="640080" y="1645920"/>
            <a:ext cx="384048" cy="384048"/>
          </a:xfrm>
          <a:prstGeom prst="roundRect">
            <a:avLst>
              <a:gd name="adj" fmla="val 19048"/>
            </a:avLst>
          </a:prstGeom>
          <a:solidFill>
            <a:srgbClr val="4C3A8C"/>
          </a:solidFill>
          <a:ln/>
        </p:spPr>
      </p:sp>
      <p:sp>
        <p:nvSpPr>
          <p:cNvPr id="5" name="Text 3"/>
          <p:cNvSpPr/>
          <p:nvPr/>
        </p:nvSpPr>
        <p:spPr>
          <a:xfrm>
            <a:off x="6400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161848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Steering é correção em tempo de execução</a:t>
            </a:r>
            <a:endParaRPr lang="en-US" sz="1600" dirty="0"/>
          </a:p>
        </p:txBody>
      </p:sp>
      <p:sp>
        <p:nvSpPr>
          <p:cNvPr id="7" name="Text 5"/>
          <p:cNvSpPr/>
          <p:nvPr/>
        </p:nvSpPr>
        <p:spPr>
          <a:xfrm>
            <a:off x="1234440" y="1975104"/>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Não é reescrever o prompt e rodar de novo: é intervir enquanto o agente trabalha, com base no que ele já fez.</a:t>
            </a:r>
            <a:endParaRPr lang="en-US" sz="1350" dirty="0"/>
          </a:p>
        </p:txBody>
      </p:sp>
      <p:sp>
        <p:nvSpPr>
          <p:cNvPr id="8" name="Shape 6"/>
          <p:cNvSpPr/>
          <p:nvPr/>
        </p:nvSpPr>
        <p:spPr>
          <a:xfrm>
            <a:off x="640080" y="2498598"/>
            <a:ext cx="384048" cy="384048"/>
          </a:xfrm>
          <a:prstGeom prst="roundRect">
            <a:avLst>
              <a:gd name="adj" fmla="val 19048"/>
            </a:avLst>
          </a:prstGeom>
          <a:solidFill>
            <a:srgbClr val="4C3A8C"/>
          </a:solidFill>
          <a:ln/>
        </p:spPr>
      </p:sp>
      <p:sp>
        <p:nvSpPr>
          <p:cNvPr id="9" name="Text 7"/>
          <p:cNvSpPr/>
          <p:nvPr/>
        </p:nvSpPr>
        <p:spPr>
          <a:xfrm>
            <a:off x="640080" y="249859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34440" y="2471166"/>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Injetar contexto no meio</a:t>
            </a:r>
            <a:endParaRPr lang="en-US" sz="1600" dirty="0"/>
          </a:p>
        </p:txBody>
      </p:sp>
      <p:sp>
        <p:nvSpPr>
          <p:cNvPr id="11" name="Text 9"/>
          <p:cNvSpPr/>
          <p:nvPr/>
        </p:nvSpPr>
        <p:spPr>
          <a:xfrm>
            <a:off x="1234440" y="2827782"/>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Um nó que percebe desvio e acrescenta uma mensagem: você já tentou isso duas vezes, mude de abordagem.</a:t>
            </a:r>
            <a:endParaRPr lang="en-US" sz="1350" dirty="0"/>
          </a:p>
        </p:txBody>
      </p:sp>
      <p:sp>
        <p:nvSpPr>
          <p:cNvPr id="12" name="Shape 10"/>
          <p:cNvSpPr/>
          <p:nvPr/>
        </p:nvSpPr>
        <p:spPr>
          <a:xfrm>
            <a:off x="640080" y="3351276"/>
            <a:ext cx="384048" cy="384048"/>
          </a:xfrm>
          <a:prstGeom prst="roundRect">
            <a:avLst>
              <a:gd name="adj" fmla="val 19048"/>
            </a:avLst>
          </a:prstGeom>
          <a:solidFill>
            <a:srgbClr val="4C3A8C"/>
          </a:solidFill>
          <a:ln/>
        </p:spPr>
      </p:sp>
      <p:sp>
        <p:nvSpPr>
          <p:cNvPr id="13" name="Text 11"/>
          <p:cNvSpPr/>
          <p:nvPr/>
        </p:nvSpPr>
        <p:spPr>
          <a:xfrm>
            <a:off x="640080" y="33512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34440" y="3323844"/>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Cortar caminho</a:t>
            </a:r>
            <a:endParaRPr lang="en-US" sz="1600" dirty="0"/>
          </a:p>
        </p:txBody>
      </p:sp>
      <p:sp>
        <p:nvSpPr>
          <p:cNvPr id="15" name="Text 13"/>
          <p:cNvSpPr/>
          <p:nvPr/>
        </p:nvSpPr>
        <p:spPr>
          <a:xfrm>
            <a:off x="1234440" y="3680460"/>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Roteamento forçado quando o estado mostra que o caminho atual não vai dar certo. É o Command com goto.</a:t>
            </a:r>
            <a:endParaRPr lang="en-US" sz="1350" dirty="0"/>
          </a:p>
        </p:txBody>
      </p:sp>
      <p:sp>
        <p:nvSpPr>
          <p:cNvPr id="16" name="Shape 14"/>
          <p:cNvSpPr/>
          <p:nvPr/>
        </p:nvSpPr>
        <p:spPr>
          <a:xfrm>
            <a:off x="640080" y="4203954"/>
            <a:ext cx="384048" cy="384048"/>
          </a:xfrm>
          <a:prstGeom prst="roundRect">
            <a:avLst>
              <a:gd name="adj" fmla="val 19048"/>
            </a:avLst>
          </a:prstGeom>
          <a:solidFill>
            <a:srgbClr val="4C3A8C"/>
          </a:solidFill>
          <a:ln/>
        </p:spPr>
      </p:sp>
      <p:sp>
        <p:nvSpPr>
          <p:cNvPr id="17" name="Text 15"/>
          <p:cNvSpPr/>
          <p:nvPr/>
        </p:nvSpPr>
        <p:spPr>
          <a:xfrm>
            <a:off x="640080" y="420395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234440" y="4176522"/>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Intervenção humana</a:t>
            </a:r>
            <a:endParaRPr lang="en-US" sz="1600" dirty="0"/>
          </a:p>
        </p:txBody>
      </p:sp>
      <p:sp>
        <p:nvSpPr>
          <p:cNvPr id="19" name="Text 17"/>
          <p:cNvSpPr/>
          <p:nvPr/>
        </p:nvSpPr>
        <p:spPr>
          <a:xfrm>
            <a:off x="1234440" y="4533138"/>
            <a:ext cx="10241280" cy="516636"/>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O usuário manda uma correção no meio da execução, e ela entra como mensagem no próximo passo. É human-in-the-loop contínuo, não só aprovação.</a:t>
            </a:r>
            <a:endParaRPr lang="en-US" sz="1350" dirty="0"/>
          </a:p>
        </p:txBody>
      </p:sp>
      <p:sp>
        <p:nvSpPr>
          <p:cNvPr id="21" name="Text 18"/>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2" name="Text 19"/>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71326"/>
        </a:solidFill>
      </p:bgPr>
    </p:bg>
    <p:spTree>
      <p:nvGrpSpPr>
        <p:cNvPr id="1" name=""/>
        <p:cNvGrpSpPr/>
        <p:nvPr/>
      </p:nvGrpSpPr>
      <p:grpSpPr>
        <a:xfrm>
          <a:off x="0" y="0"/>
          <a:ext cx="0" cy="0"/>
          <a:chOff x="0" y="0"/>
          <a:chExt cx="0" cy="0"/>
        </a:xfrm>
      </p:grpSpPr>
      <p:sp>
        <p:nvSpPr>
          <p:cNvPr id="2" name="Text 0"/>
          <p:cNvSpPr/>
          <p:nvPr/>
        </p:nvSpPr>
        <p:spPr>
          <a:xfrm>
            <a:off x="640080" y="1280160"/>
            <a:ext cx="10881360" cy="320040"/>
          </a:xfrm>
          <a:prstGeom prst="rect">
            <a:avLst/>
          </a:prstGeom>
          <a:noFill/>
          <a:ln/>
        </p:spPr>
        <p:txBody>
          <a:bodyPr wrap="square" lIns="0" tIns="0" rIns="0" bIns="0" rtlCol="0" anchor="t"/>
          <a:lstStyle/>
          <a:p>
            <a:pPr indent="0" marL="0">
              <a:buNone/>
            </a:pPr>
            <a:r>
              <a:rPr lang="en-US" sz="1200" b="1" spc="120" kern="0" dirty="0">
                <a:solidFill>
                  <a:srgbClr val="E8933A"/>
                </a:solidFill>
                <a:latin typeface="Calibri" pitchFamily="34" charset="0"/>
                <a:ea typeface="Calibri" pitchFamily="34" charset="-122"/>
                <a:cs typeface="Calibri" pitchFamily="34" charset="-120"/>
              </a:rPr>
              <a:t>O ACHADO CONTRAINTUITIVO</a:t>
            </a:r>
            <a:endParaRPr lang="en-US" sz="1200" dirty="0"/>
          </a:p>
        </p:txBody>
      </p:sp>
      <p:sp>
        <p:nvSpPr>
          <p:cNvPr id="3" name="Text 1"/>
          <p:cNvSpPr/>
          <p:nvPr/>
        </p:nvSpPr>
        <p:spPr>
          <a:xfrm>
            <a:off x="640080" y="1783080"/>
            <a:ext cx="10881360" cy="1193800"/>
          </a:xfrm>
          <a:prstGeom prst="rect">
            <a:avLst/>
          </a:prstGeom>
          <a:noFill/>
          <a:ln/>
        </p:spPr>
        <p:txBody>
          <a:bodyPr wrap="square" lIns="0" tIns="0" rIns="0" bIns="0" rtlCol="0" anchor="t"/>
          <a:lstStyle/>
          <a:p>
            <a:pPr indent="0" marL="0">
              <a:lnSpc>
                <a:spcPct val="112000"/>
              </a:lnSpc>
              <a:buNone/>
            </a:pPr>
            <a:r>
              <a:rPr lang="en-US" sz="3200" b="1" dirty="0">
                <a:solidFill>
                  <a:srgbClr val="EDEAF5"/>
                </a:solidFill>
                <a:latin typeface="Cambria" pitchFamily="34" charset="0"/>
                <a:ea typeface="Cambria" pitchFamily="34" charset="-122"/>
                <a:cs typeface="Cambria" pitchFamily="34" charset="-120"/>
              </a:rPr>
              <a:t>Aumentar a autonomia da IA exige</a:t>
            </a:r>
            <a:endParaRPr lang="en-US" sz="3200" dirty="0"/>
          </a:p>
          <a:p>
            <a:pPr indent="0" marL="0">
              <a:lnSpc>
                <a:spcPct val="112000"/>
              </a:lnSpc>
              <a:buNone/>
            </a:pPr>
            <a:r>
              <a:rPr lang="en-US" sz="3200" b="1" dirty="0">
                <a:solidFill>
                  <a:srgbClr val="EDEAF5"/>
                </a:solidFill>
                <a:latin typeface="Cambria" pitchFamily="34" charset="0"/>
                <a:ea typeface="Cambria" pitchFamily="34" charset="-122"/>
                <a:cs typeface="Cambria" pitchFamily="34" charset="-120"/>
              </a:rPr>
              <a:t>diminuir a flexibilidade do espaço de solução.</a:t>
            </a:r>
            <a:endParaRPr lang="en-US" sz="3200" dirty="0"/>
          </a:p>
        </p:txBody>
      </p:sp>
      <p:sp>
        <p:nvSpPr>
          <p:cNvPr id="4" name="Text 2"/>
          <p:cNvSpPr/>
          <p:nvPr/>
        </p:nvSpPr>
        <p:spPr>
          <a:xfrm>
            <a:off x="640080" y="3388360"/>
            <a:ext cx="10149840" cy="2646680"/>
          </a:xfrm>
          <a:prstGeom prst="rect">
            <a:avLst/>
          </a:prstGeom>
          <a:noFill/>
          <a:ln/>
        </p:spPr>
        <p:txBody>
          <a:bodyPr wrap="square" lIns="0" tIns="0" rIns="0" bIns="0" rtlCol="0" anchor="t"/>
          <a:lstStyle/>
          <a:p>
            <a:pPr indent="0" marL="0">
              <a:lnSpc>
                <a:spcPct val="118000"/>
              </a:lnSpc>
              <a:buNone/>
            </a:pPr>
            <a:r>
              <a:rPr lang="en-US" sz="1600" dirty="0">
                <a:solidFill>
                  <a:srgbClr val="A79FC4"/>
                </a:solidFill>
                <a:latin typeface="Calibri" pitchFamily="34" charset="0"/>
                <a:ea typeface="Calibri" pitchFamily="34" charset="-122"/>
                <a:cs typeface="Calibri" pitchFamily="34" charset="-120"/>
              </a:rPr>
              <a:t>Encolher o espaço de busca melhora a saída do agente. Um agente que pode fazer qualquer coisa erra mais que um que pode fazer cinco coisas bem definidas. É o oposto do que a intuição sugere, e está medido no caso do Codex.</a:t>
            </a:r>
            <a:endParaRPr lang="en-US" sz="1600" dirty="0"/>
          </a:p>
        </p:txBody>
      </p:sp>
      <p:sp>
        <p:nvSpPr>
          <p:cNvPr id="6"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A79FC4"/>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CHECKPOINT DO BLOCO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Classifique cada regra</a:t>
            </a:r>
            <a:endParaRPr lang="en-US" sz="3400" dirty="0"/>
          </a:p>
        </p:txBody>
      </p:sp>
      <p:sp>
        <p:nvSpPr>
          <p:cNvPr id="4" name="Shape 2"/>
          <p:cNvSpPr/>
          <p:nvPr/>
        </p:nvSpPr>
        <p:spPr>
          <a:xfrm>
            <a:off x="640080" y="1737360"/>
            <a:ext cx="3432048" cy="4206240"/>
          </a:xfrm>
          <a:prstGeom prst="roundRect">
            <a:avLst>
              <a:gd name="adj" fmla="val 2664"/>
            </a:avLst>
          </a:prstGeom>
          <a:solidFill>
            <a:srgbClr val="F2F0F7"/>
          </a:solidFill>
          <a:ln/>
        </p:spPr>
      </p:sp>
      <p:sp>
        <p:nvSpPr>
          <p:cNvPr id="5" name="Shape 3"/>
          <p:cNvSpPr/>
          <p:nvPr/>
        </p:nvSpPr>
        <p:spPr>
          <a:xfrm>
            <a:off x="841248" y="1938528"/>
            <a:ext cx="329184" cy="329184"/>
          </a:xfrm>
          <a:prstGeom prst="roundRect">
            <a:avLst>
              <a:gd name="adj" fmla="val 19444"/>
            </a:avLst>
          </a:prstGeom>
          <a:solidFill>
            <a:srgbClr val="4C3A8C"/>
          </a:solidFill>
          <a:ln/>
        </p:spPr>
      </p:sp>
      <p:sp>
        <p:nvSpPr>
          <p:cNvPr id="6" name="Text 4"/>
          <p:cNvSpPr/>
          <p:nvPr/>
        </p:nvSpPr>
        <p:spPr>
          <a:xfrm>
            <a:off x="841248"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Escreva no tom formal da empresa</a:t>
            </a:r>
            <a:endParaRPr lang="en-US" sz="1500" dirty="0"/>
          </a:p>
        </p:txBody>
      </p:sp>
      <p:sp>
        <p:nvSpPr>
          <p:cNvPr id="8" name="Text 6"/>
          <p:cNvSpPr/>
          <p:nvPr/>
        </p:nvSpPr>
        <p:spPr>
          <a:xfrm>
            <a:off x="841248"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Instruction, constraint ou steering?</a:t>
            </a:r>
            <a:endParaRPr lang="en-US" sz="1250" dirty="0"/>
          </a:p>
        </p:txBody>
      </p:sp>
      <p:sp>
        <p:nvSpPr>
          <p:cNvPr id="9" name="Shape 7"/>
          <p:cNvSpPr/>
          <p:nvPr/>
        </p:nvSpPr>
        <p:spPr>
          <a:xfrm>
            <a:off x="4364736" y="1737360"/>
            <a:ext cx="3432048" cy="4206240"/>
          </a:xfrm>
          <a:prstGeom prst="roundRect">
            <a:avLst>
              <a:gd name="adj" fmla="val 2664"/>
            </a:avLst>
          </a:prstGeom>
          <a:solidFill>
            <a:srgbClr val="F2F0F7"/>
          </a:solidFill>
          <a:ln/>
        </p:spPr>
      </p:sp>
      <p:sp>
        <p:nvSpPr>
          <p:cNvPr id="10" name="Shape 8"/>
          <p:cNvSpPr/>
          <p:nvPr/>
        </p:nvSpPr>
        <p:spPr>
          <a:xfrm>
            <a:off x="4565904" y="1938528"/>
            <a:ext cx="329184" cy="329184"/>
          </a:xfrm>
          <a:prstGeom prst="roundRect">
            <a:avLst>
              <a:gd name="adj" fmla="val 19444"/>
            </a:avLst>
          </a:prstGeom>
          <a:solidFill>
            <a:srgbClr val="4C3A8C"/>
          </a:solidFill>
          <a:ln/>
        </p:spPr>
      </p:sp>
      <p:sp>
        <p:nvSpPr>
          <p:cNvPr id="11" name="Text 9"/>
          <p:cNvSpPr/>
          <p:nvPr/>
        </p:nvSpPr>
        <p:spPr>
          <a:xfrm>
            <a:off x="4565904"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986528"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Nunca apague arquivo fora de tmp/</a:t>
            </a:r>
            <a:endParaRPr lang="en-US" sz="1500" dirty="0"/>
          </a:p>
        </p:txBody>
      </p:sp>
      <p:sp>
        <p:nvSpPr>
          <p:cNvPr id="13" name="Text 11"/>
          <p:cNvSpPr/>
          <p:nvPr/>
        </p:nvSpPr>
        <p:spPr>
          <a:xfrm>
            <a:off x="4565904"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Instruction, constraint ou steering?</a:t>
            </a:r>
            <a:endParaRPr lang="en-US" sz="1250" dirty="0"/>
          </a:p>
        </p:txBody>
      </p:sp>
      <p:sp>
        <p:nvSpPr>
          <p:cNvPr id="14" name="Shape 12"/>
          <p:cNvSpPr/>
          <p:nvPr/>
        </p:nvSpPr>
        <p:spPr>
          <a:xfrm>
            <a:off x="8089392" y="1737360"/>
            <a:ext cx="3432048" cy="4206240"/>
          </a:xfrm>
          <a:prstGeom prst="roundRect">
            <a:avLst>
              <a:gd name="adj" fmla="val 2664"/>
            </a:avLst>
          </a:prstGeom>
          <a:solidFill>
            <a:srgbClr val="F2F0F7"/>
          </a:solidFill>
          <a:ln/>
        </p:spPr>
      </p:sp>
      <p:sp>
        <p:nvSpPr>
          <p:cNvPr id="15" name="Shape 13"/>
          <p:cNvSpPr/>
          <p:nvPr/>
        </p:nvSpPr>
        <p:spPr>
          <a:xfrm>
            <a:off x="8290560" y="1938528"/>
            <a:ext cx="329184" cy="329184"/>
          </a:xfrm>
          <a:prstGeom prst="roundRect">
            <a:avLst>
              <a:gd name="adj" fmla="val 19444"/>
            </a:avLst>
          </a:prstGeom>
          <a:solidFill>
            <a:srgbClr val="E8933A"/>
          </a:solidFill>
          <a:ln/>
        </p:spPr>
      </p:sp>
      <p:sp>
        <p:nvSpPr>
          <p:cNvPr id="16" name="Text 14"/>
          <p:cNvSpPr/>
          <p:nvPr/>
        </p:nvSpPr>
        <p:spPr>
          <a:xfrm>
            <a:off x="829056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711184"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Se tentou duas vezes e falhou, mude de abordagem</a:t>
            </a:r>
            <a:endParaRPr lang="en-US" sz="1500" dirty="0"/>
          </a:p>
        </p:txBody>
      </p:sp>
      <p:sp>
        <p:nvSpPr>
          <p:cNvPr id="18" name="Text 16"/>
          <p:cNvSpPr/>
          <p:nvPr/>
        </p:nvSpPr>
        <p:spPr>
          <a:xfrm>
            <a:off x="8290560"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Instruction, constraint ou steering?</a:t>
            </a:r>
            <a:endParaRPr lang="en-US" sz="1250" dirty="0"/>
          </a:p>
        </p:txBody>
      </p:sp>
      <p:sp>
        <p:nvSpPr>
          <p:cNvPr id="20" name="Text 1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1" name="Text 1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4C3A8C"/>
        </a:solidFill>
      </p:bgPr>
    </p:bg>
    <p:spTree>
      <p:nvGrpSpPr>
        <p:cNvPr id="1" name=""/>
        <p:cNvGrpSpPr/>
        <p:nvPr/>
      </p:nvGrpSpPr>
      <p:grpSpPr>
        <a:xfrm>
          <a:off x="0" y="0"/>
          <a:ext cx="0" cy="0"/>
          <a:chOff x="0" y="0"/>
          <a:chExt cx="0" cy="0"/>
        </a:xfrm>
      </p:grpSpPr>
      <p:sp>
        <p:nvSpPr>
          <p:cNvPr id="2" name="Text 0"/>
          <p:cNvSpPr/>
          <p:nvPr/>
        </p:nvSpPr>
        <p:spPr>
          <a:xfrm>
            <a:off x="640080" y="1920240"/>
            <a:ext cx="1828800" cy="1280160"/>
          </a:xfrm>
          <a:prstGeom prst="rect">
            <a:avLst/>
          </a:prstGeom>
          <a:noFill/>
          <a:ln/>
        </p:spPr>
        <p:txBody>
          <a:bodyPr wrap="square" lIns="0" tIns="0" rIns="0" bIns="0" rtlCol="0" anchor="ctr"/>
          <a:lstStyle/>
          <a:p>
            <a:pPr indent="0" marL="0">
              <a:buNone/>
            </a:pPr>
            <a:r>
              <a:rPr lang="en-US" sz="7200" b="1" dirty="0">
                <a:solidFill>
                  <a:srgbClr val="E8933A"/>
                </a:solidFill>
                <a:latin typeface="Cambria" pitchFamily="34" charset="0"/>
                <a:ea typeface="Cambria" pitchFamily="34" charset="-122"/>
                <a:cs typeface="Cambria" pitchFamily="34" charset="-120"/>
              </a:rPr>
              <a:t>05</a:t>
            </a:r>
            <a:endParaRPr lang="en-US" sz="7200" dirty="0"/>
          </a:p>
        </p:txBody>
      </p:sp>
      <p:sp>
        <p:nvSpPr>
          <p:cNvPr id="3" name="Text 1"/>
          <p:cNvSpPr/>
          <p:nvPr/>
        </p:nvSpPr>
        <p:spPr>
          <a:xfrm>
            <a:off x="2560320" y="2057400"/>
            <a:ext cx="91440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Capability em escala</a:t>
            </a:r>
            <a:endParaRPr lang="en-US" sz="4000" dirty="0"/>
          </a:p>
        </p:txBody>
      </p:sp>
      <p:sp>
        <p:nvSpPr>
          <p:cNvPr id="4" name="Text 2"/>
          <p:cNvSpPr/>
          <p:nvPr/>
        </p:nvSpPr>
        <p:spPr>
          <a:xfrm>
            <a:off x="2560320" y="3200400"/>
            <a:ext cx="9144000" cy="1097280"/>
          </a:xfrm>
          <a:prstGeom prst="rect">
            <a:avLst/>
          </a:prstGeom>
          <a:noFill/>
          <a:ln/>
        </p:spPr>
        <p:txBody>
          <a:bodyPr wrap="square" lIns="0" tIns="0" rIns="0" bIns="0" rtlCol="0" anchor="ctr"/>
          <a:lstStyle/>
          <a:p>
            <a:pPr indent="0" marL="0">
              <a:buNone/>
            </a:pPr>
            <a:r>
              <a:rPr lang="en-US" sz="1700" dirty="0">
                <a:solidFill>
                  <a:srgbClr val="E4DEF7"/>
                </a:solidFill>
                <a:latin typeface="Calibri" pitchFamily="34" charset="0"/>
                <a:ea typeface="Calibri" pitchFamily="34" charset="-122"/>
                <a:cs typeface="Calibri" pitchFamily="34" charset="-120"/>
              </a:rPr>
              <a:t>Skills, plugins, MCP, e o custo de ter ferramenta demais.</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71326"/>
        </a:solidFill>
      </p:bgPr>
    </p:bg>
    <p:spTree>
      <p:nvGrpSpPr>
        <p:cNvPr id="1" name=""/>
        <p:cNvGrpSpPr/>
        <p:nvPr/>
      </p:nvGrpSpPr>
      <p:grpSpPr>
        <a:xfrm>
          <a:off x="0" y="0"/>
          <a:ext cx="0" cy="0"/>
          <a:chOff x="0" y="0"/>
          <a:chExt cx="0" cy="0"/>
        </a:xfrm>
      </p:grpSpPr>
      <p:sp>
        <p:nvSpPr>
          <p:cNvPr id="2" name="Text 0"/>
          <p:cNvSpPr/>
          <p:nvPr/>
        </p:nvSpPr>
        <p:spPr>
          <a:xfrm>
            <a:off x="640080" y="1280160"/>
            <a:ext cx="10881360" cy="320040"/>
          </a:xfrm>
          <a:prstGeom prst="rect">
            <a:avLst/>
          </a:prstGeom>
          <a:noFill/>
          <a:ln/>
        </p:spPr>
        <p:txBody>
          <a:bodyPr wrap="square" lIns="0" tIns="0" rIns="0" bIns="0" rtlCol="0" anchor="t"/>
          <a:lstStyle/>
          <a:p>
            <a:pPr indent="0" marL="0">
              <a:buNone/>
            </a:pPr>
            <a:r>
              <a:rPr lang="en-US" sz="1200" b="1" spc="120" kern="0" dirty="0">
                <a:solidFill>
                  <a:srgbClr val="E8933A"/>
                </a:solidFill>
                <a:latin typeface="Calibri" pitchFamily="34" charset="0"/>
                <a:ea typeface="Calibri" pitchFamily="34" charset="-122"/>
                <a:cs typeface="Calibri" pitchFamily="34" charset="-120"/>
              </a:rPr>
              <a:t>A TENSÃO</a:t>
            </a:r>
            <a:endParaRPr lang="en-US" sz="1200" dirty="0"/>
          </a:p>
        </p:txBody>
      </p:sp>
      <p:sp>
        <p:nvSpPr>
          <p:cNvPr id="3" name="Text 1"/>
          <p:cNvSpPr/>
          <p:nvPr/>
        </p:nvSpPr>
        <p:spPr>
          <a:xfrm>
            <a:off x="640080" y="1783080"/>
            <a:ext cx="10881360" cy="1325880"/>
          </a:xfrm>
          <a:prstGeom prst="rect">
            <a:avLst/>
          </a:prstGeom>
          <a:noFill/>
          <a:ln/>
        </p:spPr>
        <p:txBody>
          <a:bodyPr wrap="square" lIns="0" tIns="0" rIns="0" bIns="0" rtlCol="0" anchor="t"/>
          <a:lstStyle/>
          <a:p>
            <a:pPr indent="0" marL="0">
              <a:lnSpc>
                <a:spcPct val="112000"/>
              </a:lnSpc>
              <a:buNone/>
            </a:pPr>
            <a:r>
              <a:rPr lang="en-US" sz="3600" b="1" dirty="0">
                <a:solidFill>
                  <a:srgbClr val="EDEAF5"/>
                </a:solidFill>
                <a:latin typeface="Cambria" pitchFamily="34" charset="0"/>
                <a:ea typeface="Cambria" pitchFamily="34" charset="-122"/>
                <a:cs typeface="Cambria" pitchFamily="34" charset="-120"/>
              </a:rPr>
              <a:t>Cada descrição de ferramenta disputa espaço</a:t>
            </a:r>
            <a:endParaRPr lang="en-US" sz="3600" dirty="0"/>
          </a:p>
          <a:p>
            <a:pPr indent="0" marL="0">
              <a:lnSpc>
                <a:spcPct val="112000"/>
              </a:lnSpc>
              <a:buNone/>
            </a:pPr>
            <a:r>
              <a:rPr lang="en-US" sz="3600" b="1" dirty="0">
                <a:solidFill>
                  <a:srgbClr val="EDEAF5"/>
                </a:solidFill>
                <a:latin typeface="Cambria" pitchFamily="34" charset="0"/>
                <a:ea typeface="Cambria" pitchFamily="34" charset="-122"/>
                <a:cs typeface="Cambria" pitchFamily="34" charset="-120"/>
              </a:rPr>
              <a:t>com o trabalho de verdade.</a:t>
            </a:r>
            <a:endParaRPr lang="en-US" sz="3600" dirty="0"/>
          </a:p>
        </p:txBody>
      </p:sp>
      <p:sp>
        <p:nvSpPr>
          <p:cNvPr id="4" name="Text 2"/>
          <p:cNvSpPr/>
          <p:nvPr/>
        </p:nvSpPr>
        <p:spPr>
          <a:xfrm>
            <a:off x="640080" y="3520440"/>
            <a:ext cx="10149840" cy="2514600"/>
          </a:xfrm>
          <a:prstGeom prst="rect">
            <a:avLst/>
          </a:prstGeom>
          <a:noFill/>
          <a:ln/>
        </p:spPr>
        <p:txBody>
          <a:bodyPr wrap="square" lIns="0" tIns="0" rIns="0" bIns="0" rtlCol="0" anchor="t"/>
          <a:lstStyle/>
          <a:p>
            <a:pPr indent="0" marL="0">
              <a:lnSpc>
                <a:spcPct val="118000"/>
              </a:lnSpc>
              <a:buNone/>
            </a:pPr>
            <a:r>
              <a:rPr lang="en-US" sz="1600" dirty="0">
                <a:solidFill>
                  <a:srgbClr val="A79FC4"/>
                </a:solidFill>
                <a:latin typeface="Calibri" pitchFamily="34" charset="0"/>
                <a:ea typeface="Calibri" pitchFamily="34" charset="-122"/>
                <a:cs typeface="Calibri" pitchFamily="34" charset="-120"/>
              </a:rPr>
              <a:t>Quanto mais ferramentas você conecta, mais o agente consegue fazer. Mas contexto é finito: vinte ferramentas conectadas são vinte descrições ocupando a janela antes de a tarefa começar. Capability não é acumular ferramenta: é decidir o que carregar e quando.</a:t>
            </a:r>
            <a:endParaRPr lang="en-US" sz="1600" dirty="0"/>
          </a:p>
        </p:txBody>
      </p:sp>
      <p:sp>
        <p:nvSpPr>
          <p:cNvPr id="6"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A79FC4"/>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SKILLS</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Capacidade que só carrega quando precisa</a:t>
            </a:r>
            <a:endParaRPr lang="en-US" sz="3400" dirty="0"/>
          </a:p>
        </p:txBody>
      </p:sp>
      <p:sp>
        <p:nvSpPr>
          <p:cNvPr id="4" name="Text 2"/>
          <p:cNvSpPr/>
          <p:nvPr/>
        </p:nvSpPr>
        <p:spPr>
          <a:xfrm>
            <a:off x="640080" y="1691640"/>
            <a:ext cx="4846320" cy="1030224"/>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Uma skill é um arquivo Markdown que descreve o que a capacidade faz e quando usá-la. Não ocupa contexto por padrão: o agente lê as descrições, decide se é relevante, e só então carrega o conteúdo.</a:t>
            </a:r>
            <a:endParaRPr lang="en-US" sz="1400" dirty="0"/>
          </a:p>
        </p:txBody>
      </p:sp>
      <p:sp>
        <p:nvSpPr>
          <p:cNvPr id="5" name="Shape 3"/>
          <p:cNvSpPr/>
          <p:nvPr/>
        </p:nvSpPr>
        <p:spPr>
          <a:xfrm>
            <a:off x="640080" y="2996184"/>
            <a:ext cx="4846320" cy="2993136"/>
          </a:xfrm>
          <a:prstGeom prst="roundRect">
            <a:avLst>
              <a:gd name="adj" fmla="val 3055"/>
            </a:avLst>
          </a:prstGeom>
          <a:solidFill>
            <a:srgbClr val="F2F0F7"/>
          </a:solidFill>
          <a:ln/>
        </p:spPr>
      </p:sp>
      <p:sp>
        <p:nvSpPr>
          <p:cNvPr id="6" name="Text 4"/>
          <p:cNvSpPr/>
          <p:nvPr/>
        </p:nvSpPr>
        <p:spPr>
          <a:xfrm>
            <a:off x="859536" y="3142488"/>
            <a:ext cx="4407408" cy="2700528"/>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Escrever um arquivo .md define uma capacidade nova. Sem código, sem SDK. É o mecanismo de extensão de menor barreira que existe hoje.</a:t>
            </a:r>
            <a:endParaRPr lang="en-US" sz="1250" dirty="0"/>
          </a:p>
        </p:txBody>
      </p:sp>
      <p:sp>
        <p:nvSpPr>
          <p:cNvPr id="7" name="Shape 5"/>
          <p:cNvSpPr/>
          <p:nvPr/>
        </p:nvSpPr>
        <p:spPr>
          <a:xfrm>
            <a:off x="5852160" y="1691640"/>
            <a:ext cx="5669280" cy="4297680"/>
          </a:xfrm>
          <a:prstGeom prst="roundRect">
            <a:avLst>
              <a:gd name="adj" fmla="val 2128"/>
            </a:avLst>
          </a:prstGeom>
          <a:solidFill>
            <a:srgbClr val="0F0C1A"/>
          </a:solidFill>
          <a:ln/>
        </p:spPr>
      </p:sp>
      <p:sp>
        <p:nvSpPr>
          <p:cNvPr id="8" name="Text 6"/>
          <p:cNvSpPr/>
          <p:nvPr/>
        </p:nvSpPr>
        <p:spPr>
          <a:xfrm>
            <a:off x="6053328" y="1828800"/>
            <a:ext cx="5266944" cy="4023360"/>
          </a:xfrm>
          <a:prstGeom prst="rect">
            <a:avLst/>
          </a:prstGeom>
          <a:noFill/>
          <a:ln/>
        </p:spPr>
        <p:txBody>
          <a:bodyPr wrap="square" lIns="0" tIns="0" rIns="0" bIns="0" rtlCol="0" anchor="t"/>
          <a:lstStyle/>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.claude/skills/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publicar-relatorio/SKILL.md</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conferir-numeros/SKILL.md</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resumir-reuniao/SKILL.md</a:t>
            </a:r>
            <a:endParaRPr lang="en-US" sz="1150" dirty="0"/>
          </a:p>
          <a:p>
            <a:pPr indent="0" marL="0">
              <a:lnSpc>
                <a:spcPct val="102000"/>
              </a:lnSpc>
              <a:buNone/>
            </a:pP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dentro de SKILL.md:</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name: conferir-numeros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description: &gt;</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Confere os numeros de um relatorio contra</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as fontes citadas. Use antes de publicar</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qualquer documento com dados.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(o conteudo so entra no contexto quando</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 descricao acima casa com a tarefa)</a:t>
            </a:r>
            <a:endParaRPr lang="en-US" sz="115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PLUGINS</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Quando a extensão é um pacote, e não um arquivo</a:t>
            </a:r>
            <a:endParaRPr lang="en-US" sz="3400" dirty="0"/>
          </a:p>
        </p:txBody>
      </p:sp>
      <p:sp>
        <p:nvSpPr>
          <p:cNvPr id="4" name="Shape 2"/>
          <p:cNvSpPr/>
          <p:nvPr/>
        </p:nvSpPr>
        <p:spPr>
          <a:xfrm>
            <a:off x="640080" y="1645920"/>
            <a:ext cx="384048" cy="384048"/>
          </a:xfrm>
          <a:prstGeom prst="roundRect">
            <a:avLst>
              <a:gd name="adj" fmla="val 19048"/>
            </a:avLst>
          </a:prstGeom>
          <a:solidFill>
            <a:srgbClr val="4C3A8C"/>
          </a:solidFill>
          <a:ln/>
        </p:spPr>
      </p:sp>
      <p:sp>
        <p:nvSpPr>
          <p:cNvPr id="5" name="Text 3"/>
          <p:cNvSpPr/>
          <p:nvPr/>
        </p:nvSpPr>
        <p:spPr>
          <a:xfrm>
            <a:off x="6400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161848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Plugin agrupa o que anda junto</a:t>
            </a:r>
            <a:endParaRPr lang="en-US" sz="1600" dirty="0"/>
          </a:p>
        </p:txBody>
      </p:sp>
      <p:sp>
        <p:nvSpPr>
          <p:cNvPr id="7" name="Text 5"/>
          <p:cNvSpPr/>
          <p:nvPr/>
        </p:nvSpPr>
        <p:spPr>
          <a:xfrm>
            <a:off x="1234440" y="1975104"/>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Skills, ferramentas, configuração de servidores MCP e hooks, distribuídos como uma unidade instalável.</a:t>
            </a:r>
            <a:endParaRPr lang="en-US" sz="1350" dirty="0"/>
          </a:p>
        </p:txBody>
      </p:sp>
      <p:sp>
        <p:nvSpPr>
          <p:cNvPr id="8" name="Shape 6"/>
          <p:cNvSpPr/>
          <p:nvPr/>
        </p:nvSpPr>
        <p:spPr>
          <a:xfrm>
            <a:off x="640080" y="2498598"/>
            <a:ext cx="384048" cy="384048"/>
          </a:xfrm>
          <a:prstGeom prst="roundRect">
            <a:avLst>
              <a:gd name="adj" fmla="val 19048"/>
            </a:avLst>
          </a:prstGeom>
          <a:solidFill>
            <a:srgbClr val="4C3A8C"/>
          </a:solidFill>
          <a:ln/>
        </p:spPr>
      </p:sp>
      <p:sp>
        <p:nvSpPr>
          <p:cNvPr id="9" name="Text 7"/>
          <p:cNvSpPr/>
          <p:nvPr/>
        </p:nvSpPr>
        <p:spPr>
          <a:xfrm>
            <a:off x="640080" y="249859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34440" y="2471166"/>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Serve para padronizar time</a:t>
            </a:r>
            <a:endParaRPr lang="en-US" sz="1600" dirty="0"/>
          </a:p>
        </p:txBody>
      </p:sp>
      <p:sp>
        <p:nvSpPr>
          <p:cNvPr id="11" name="Text 9"/>
          <p:cNvSpPr/>
          <p:nvPr/>
        </p:nvSpPr>
        <p:spPr>
          <a:xfrm>
            <a:off x="1234440" y="2827782"/>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Em vez de cada pessoa configurar do seu jeito, a equipe instala o mesmo pacote e todos têm o mesmo harness.</a:t>
            </a:r>
            <a:endParaRPr lang="en-US" sz="1350" dirty="0"/>
          </a:p>
        </p:txBody>
      </p:sp>
      <p:sp>
        <p:nvSpPr>
          <p:cNvPr id="12" name="Shape 10"/>
          <p:cNvSpPr/>
          <p:nvPr/>
        </p:nvSpPr>
        <p:spPr>
          <a:xfrm>
            <a:off x="640080" y="3351276"/>
            <a:ext cx="384048" cy="384048"/>
          </a:xfrm>
          <a:prstGeom prst="roundRect">
            <a:avLst>
              <a:gd name="adj" fmla="val 19048"/>
            </a:avLst>
          </a:prstGeom>
          <a:solidFill>
            <a:srgbClr val="4C3A8C"/>
          </a:solidFill>
          <a:ln/>
        </p:spPr>
      </p:sp>
      <p:sp>
        <p:nvSpPr>
          <p:cNvPr id="13" name="Text 11"/>
          <p:cNvSpPr/>
          <p:nvPr/>
        </p:nvSpPr>
        <p:spPr>
          <a:xfrm>
            <a:off x="640080" y="33512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34440" y="3323844"/>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O ganho é governança, não capacidade</a:t>
            </a:r>
            <a:endParaRPr lang="en-US" sz="1600" dirty="0"/>
          </a:p>
        </p:txBody>
      </p:sp>
      <p:sp>
        <p:nvSpPr>
          <p:cNvPr id="15" name="Text 13"/>
          <p:cNvSpPr/>
          <p:nvPr/>
        </p:nvSpPr>
        <p:spPr>
          <a:xfrm>
            <a:off x="1234440" y="3680460"/>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Nada que um plugin faz é impossível de fazer à mão. O que ele traz é versão, distribuição e revisão.</a:t>
            </a:r>
            <a:endParaRPr lang="en-US" sz="1350" dirty="0"/>
          </a:p>
        </p:txBody>
      </p:sp>
      <p:sp>
        <p:nvSpPr>
          <p:cNvPr id="17" name="Text 14"/>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8" name="Text 15"/>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MCP</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2800" b="1" dirty="0">
                <a:solidFill>
                  <a:srgbClr val="1A1725"/>
                </a:solidFill>
                <a:latin typeface="Cambria" pitchFamily="34" charset="0"/>
                <a:ea typeface="Cambria" pitchFamily="34" charset="-122"/>
                <a:cs typeface="Cambria" pitchFamily="34" charset="-120"/>
              </a:rPr>
              <a:t>O protocolo que padroniza como a ferramenta se apresenta</a:t>
            </a:r>
            <a:endParaRPr lang="en-US" sz="2800" dirty="0"/>
          </a:p>
        </p:txBody>
      </p:sp>
      <p:sp>
        <p:nvSpPr>
          <p:cNvPr id="4" name="Shape 2"/>
          <p:cNvSpPr/>
          <p:nvPr/>
        </p:nvSpPr>
        <p:spPr>
          <a:xfrm>
            <a:off x="3383280" y="2743200"/>
            <a:ext cx="1188720" cy="0"/>
          </a:xfrm>
          <a:prstGeom prst="line">
            <a:avLst/>
          </a:prstGeom>
          <a:noFill/>
          <a:ln w="22225">
            <a:solidFill>
              <a:srgbClr val="6B6580"/>
            </a:solidFill>
            <a:prstDash val="solid"/>
            <a:tailEnd type="triangle"/>
          </a:ln>
        </p:spPr>
      </p:sp>
      <p:sp>
        <p:nvSpPr>
          <p:cNvPr id="5" name="Shape 3"/>
          <p:cNvSpPr/>
          <p:nvPr/>
        </p:nvSpPr>
        <p:spPr>
          <a:xfrm>
            <a:off x="7315200" y="2743200"/>
            <a:ext cx="1188720" cy="-914400"/>
          </a:xfrm>
          <a:prstGeom prst="line">
            <a:avLst/>
          </a:prstGeom>
          <a:noFill/>
          <a:ln w="22225">
            <a:solidFill>
              <a:srgbClr val="6B6580"/>
            </a:solidFill>
            <a:prstDash val="solid"/>
            <a:tailEnd type="triangle"/>
          </a:ln>
        </p:spPr>
      </p:sp>
      <p:sp>
        <p:nvSpPr>
          <p:cNvPr id="6" name="Shape 4"/>
          <p:cNvSpPr/>
          <p:nvPr/>
        </p:nvSpPr>
        <p:spPr>
          <a:xfrm>
            <a:off x="7315200" y="2743200"/>
            <a:ext cx="1188720" cy="0"/>
          </a:xfrm>
          <a:prstGeom prst="line">
            <a:avLst/>
          </a:prstGeom>
          <a:noFill/>
          <a:ln w="22225">
            <a:solidFill>
              <a:srgbClr val="6B6580"/>
            </a:solidFill>
            <a:prstDash val="solid"/>
            <a:tailEnd type="triangle"/>
          </a:ln>
        </p:spPr>
      </p:sp>
      <p:sp>
        <p:nvSpPr>
          <p:cNvPr id="7" name="Shape 5"/>
          <p:cNvSpPr/>
          <p:nvPr/>
        </p:nvSpPr>
        <p:spPr>
          <a:xfrm>
            <a:off x="7315200" y="2743200"/>
            <a:ext cx="1188720" cy="1463040"/>
          </a:xfrm>
          <a:prstGeom prst="line">
            <a:avLst/>
          </a:prstGeom>
          <a:noFill/>
          <a:ln w="22225">
            <a:solidFill>
              <a:srgbClr val="6B6580"/>
            </a:solidFill>
            <a:prstDash val="solid"/>
            <a:tailEnd type="triangle"/>
          </a:ln>
        </p:spPr>
      </p:sp>
      <p:sp>
        <p:nvSpPr>
          <p:cNvPr id="8" name="Shape 6"/>
          <p:cNvSpPr/>
          <p:nvPr/>
        </p:nvSpPr>
        <p:spPr>
          <a:xfrm>
            <a:off x="640080" y="2194560"/>
            <a:ext cx="2743200" cy="1188720"/>
          </a:xfrm>
          <a:prstGeom prst="roundRect">
            <a:avLst>
              <a:gd name="adj" fmla="val 7692"/>
            </a:avLst>
          </a:prstGeom>
          <a:solidFill>
            <a:srgbClr val="4C3A8C"/>
          </a:solidFill>
          <a:ln w="12700">
            <a:solidFill>
              <a:srgbClr val="E8E4F2"/>
            </a:solidFill>
            <a:prstDash val="solid"/>
          </a:ln>
        </p:spPr>
      </p:sp>
      <p:sp>
        <p:nvSpPr>
          <p:cNvPr id="9" name="Text 7"/>
          <p:cNvSpPr/>
          <p:nvPr/>
        </p:nvSpPr>
        <p:spPr>
          <a:xfrm>
            <a:off x="640080" y="2304288"/>
            <a:ext cx="27432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SEU GRAFO</a:t>
            </a:r>
            <a:endParaRPr lang="en-US" sz="1500" dirty="0"/>
          </a:p>
        </p:txBody>
      </p:sp>
      <p:sp>
        <p:nvSpPr>
          <p:cNvPr id="10" name="Text 8"/>
          <p:cNvSpPr/>
          <p:nvPr/>
        </p:nvSpPr>
        <p:spPr>
          <a:xfrm>
            <a:off x="749808" y="2697480"/>
            <a:ext cx="2523744" cy="566928"/>
          </a:xfrm>
          <a:prstGeom prst="rect">
            <a:avLst/>
          </a:prstGeom>
          <a:noFill/>
          <a:ln/>
        </p:spPr>
        <p:txBody>
          <a:bodyPr wrap="square" lIns="0" tIns="0" rIns="0" bIns="0" rtlCol="0" anchor="t"/>
          <a:lstStyle/>
          <a:p>
            <a:pPr algn="ctr" indent="0" marL="0">
              <a:lnSpc>
                <a:spcPct val="105000"/>
              </a:lnSpc>
              <a:buNone/>
            </a:pPr>
            <a:r>
              <a:rPr lang="en-US" sz="1150" dirty="0">
                <a:solidFill>
                  <a:srgbClr val="E4DEF7"/>
                </a:solidFill>
                <a:latin typeface="Calibri" pitchFamily="34" charset="0"/>
                <a:ea typeface="Calibri" pitchFamily="34" charset="-122"/>
                <a:cs typeface="Calibri" pitchFamily="34" charset="-120"/>
              </a:rPr>
              <a:t>nós, estado,</a:t>
            </a:r>
            <a:endParaRPr lang="en-US" sz="1150" dirty="0"/>
          </a:p>
          <a:p>
            <a:pPr algn="ctr" indent="0" marL="0">
              <a:lnSpc>
                <a:spcPct val="105000"/>
              </a:lnSpc>
              <a:buNone/>
            </a:pPr>
            <a:r>
              <a:rPr lang="en-US" sz="1150" dirty="0">
                <a:solidFill>
                  <a:srgbClr val="E4DEF7"/>
                </a:solidFill>
                <a:latin typeface="Calibri" pitchFamily="34" charset="0"/>
                <a:ea typeface="Calibri" pitchFamily="34" charset="-122"/>
                <a:cs typeface="Calibri" pitchFamily="34" charset="-120"/>
              </a:rPr>
              <a:t>parada</a:t>
            </a:r>
            <a:endParaRPr lang="en-US" sz="1150" dirty="0"/>
          </a:p>
        </p:txBody>
      </p:sp>
      <p:sp>
        <p:nvSpPr>
          <p:cNvPr id="11" name="Shape 9"/>
          <p:cNvSpPr/>
          <p:nvPr/>
        </p:nvSpPr>
        <p:spPr>
          <a:xfrm>
            <a:off x="4572000" y="2194560"/>
            <a:ext cx="2743200" cy="1188720"/>
          </a:xfrm>
          <a:prstGeom prst="roundRect">
            <a:avLst>
              <a:gd name="adj" fmla="val 7692"/>
            </a:avLst>
          </a:prstGeom>
          <a:solidFill>
            <a:srgbClr val="F2F0F7"/>
          </a:solidFill>
          <a:ln w="12700">
            <a:solidFill>
              <a:srgbClr val="E8E4F2"/>
            </a:solidFill>
            <a:prstDash val="solid"/>
          </a:ln>
        </p:spPr>
      </p:sp>
      <p:sp>
        <p:nvSpPr>
          <p:cNvPr id="12" name="Text 10"/>
          <p:cNvSpPr/>
          <p:nvPr/>
        </p:nvSpPr>
        <p:spPr>
          <a:xfrm>
            <a:off x="4572000" y="2304288"/>
            <a:ext cx="2743200" cy="365760"/>
          </a:xfrm>
          <a:prstGeom prst="rect">
            <a:avLst/>
          </a:prstGeom>
          <a:noFill/>
          <a:ln/>
        </p:spPr>
        <p:txBody>
          <a:bodyPr wrap="square" lIns="0" tIns="0" rIns="0" bIns="0" rtlCol="0" anchor="ctr"/>
          <a:lstStyle/>
          <a:p>
            <a:pPr algn="ctr" indent="0" marL="0">
              <a:buNone/>
            </a:pPr>
            <a:r>
              <a:rPr lang="en-US" sz="1500" b="1" dirty="0">
                <a:solidFill>
                  <a:srgbClr val="1A1725"/>
                </a:solidFill>
                <a:latin typeface="Calibri" pitchFamily="34" charset="0"/>
                <a:ea typeface="Calibri" pitchFamily="34" charset="-122"/>
                <a:cs typeface="Calibri" pitchFamily="34" charset="-120"/>
              </a:rPr>
              <a:t>CLIENTE MCP</a:t>
            </a:r>
            <a:endParaRPr lang="en-US" sz="1500" dirty="0"/>
          </a:p>
        </p:txBody>
      </p:sp>
      <p:sp>
        <p:nvSpPr>
          <p:cNvPr id="13" name="Text 11"/>
          <p:cNvSpPr/>
          <p:nvPr/>
        </p:nvSpPr>
        <p:spPr>
          <a:xfrm>
            <a:off x="4681728" y="2697480"/>
            <a:ext cx="2523744" cy="566928"/>
          </a:xfrm>
          <a:prstGeom prst="rect">
            <a:avLst/>
          </a:prstGeom>
          <a:noFill/>
          <a:ln/>
        </p:spPr>
        <p:txBody>
          <a:bodyPr wrap="square" lIns="0" tIns="0" rIns="0" bIns="0" rtlCol="0" anchor="t"/>
          <a:lstStyle/>
          <a:p>
            <a:pPr algn="ctr" indent="0" marL="0">
              <a:lnSpc>
                <a:spcPct val="105000"/>
              </a:lnSpc>
              <a:buNone/>
            </a:pPr>
            <a:r>
              <a:rPr lang="en-US" sz="1150" dirty="0">
                <a:solidFill>
                  <a:srgbClr val="6B6580"/>
                </a:solidFill>
                <a:latin typeface="Calibri" pitchFamily="34" charset="0"/>
                <a:ea typeface="Calibri" pitchFamily="34" charset="-122"/>
                <a:cs typeface="Calibri" pitchFamily="34" charset="-120"/>
              </a:rPr>
              <a:t>descobre e chama</a:t>
            </a:r>
            <a:endParaRPr lang="en-US" sz="1150" dirty="0"/>
          </a:p>
          <a:p>
            <a:pPr algn="ctr" indent="0" marL="0">
              <a:lnSpc>
                <a:spcPct val="105000"/>
              </a:lnSpc>
              <a:buNone/>
            </a:pPr>
            <a:r>
              <a:rPr lang="en-US" sz="1150" dirty="0">
                <a:solidFill>
                  <a:srgbClr val="6B6580"/>
                </a:solidFill>
                <a:latin typeface="Calibri" pitchFamily="34" charset="0"/>
                <a:ea typeface="Calibri" pitchFamily="34" charset="-122"/>
                <a:cs typeface="Calibri" pitchFamily="34" charset="-120"/>
              </a:rPr>
              <a:t>ferramentas</a:t>
            </a:r>
            <a:endParaRPr lang="en-US" sz="1150" dirty="0"/>
          </a:p>
        </p:txBody>
      </p:sp>
      <p:sp>
        <p:nvSpPr>
          <p:cNvPr id="14" name="Shape 12"/>
          <p:cNvSpPr/>
          <p:nvPr/>
        </p:nvSpPr>
        <p:spPr>
          <a:xfrm>
            <a:off x="8503920" y="1371600"/>
            <a:ext cx="2926080" cy="914400"/>
          </a:xfrm>
          <a:prstGeom prst="roundRect">
            <a:avLst>
              <a:gd name="adj" fmla="val 10000"/>
            </a:avLst>
          </a:prstGeom>
          <a:solidFill>
            <a:srgbClr val="F2F0F7"/>
          </a:solidFill>
          <a:ln w="12700">
            <a:solidFill>
              <a:srgbClr val="E8E4F2"/>
            </a:solidFill>
            <a:prstDash val="solid"/>
          </a:ln>
        </p:spPr>
      </p:sp>
      <p:sp>
        <p:nvSpPr>
          <p:cNvPr id="15" name="Text 13"/>
          <p:cNvSpPr/>
          <p:nvPr/>
        </p:nvSpPr>
        <p:spPr>
          <a:xfrm>
            <a:off x="8503920" y="1481328"/>
            <a:ext cx="2926080" cy="365760"/>
          </a:xfrm>
          <a:prstGeom prst="rect">
            <a:avLst/>
          </a:prstGeom>
          <a:noFill/>
          <a:ln/>
        </p:spPr>
        <p:txBody>
          <a:bodyPr wrap="square" lIns="0" tIns="0" rIns="0" bIns="0" rtlCol="0" anchor="ctr"/>
          <a:lstStyle/>
          <a:p>
            <a:pPr algn="ctr" indent="0" marL="0">
              <a:buNone/>
            </a:pPr>
            <a:r>
              <a:rPr lang="en-US" sz="1500" b="1" dirty="0">
                <a:solidFill>
                  <a:srgbClr val="1A1725"/>
                </a:solidFill>
                <a:latin typeface="Calibri" pitchFamily="34" charset="0"/>
                <a:ea typeface="Calibri" pitchFamily="34" charset="-122"/>
                <a:cs typeface="Calibri" pitchFamily="34" charset="-120"/>
              </a:rPr>
              <a:t>servidor: arquivos</a:t>
            </a:r>
            <a:endParaRPr lang="en-US" sz="1500" dirty="0"/>
          </a:p>
        </p:txBody>
      </p:sp>
      <p:sp>
        <p:nvSpPr>
          <p:cNvPr id="16" name="Shape 14"/>
          <p:cNvSpPr/>
          <p:nvPr/>
        </p:nvSpPr>
        <p:spPr>
          <a:xfrm>
            <a:off x="8503920" y="2560320"/>
            <a:ext cx="2926080" cy="914400"/>
          </a:xfrm>
          <a:prstGeom prst="roundRect">
            <a:avLst>
              <a:gd name="adj" fmla="val 10000"/>
            </a:avLst>
          </a:prstGeom>
          <a:solidFill>
            <a:srgbClr val="F2F0F7"/>
          </a:solidFill>
          <a:ln w="12700">
            <a:solidFill>
              <a:srgbClr val="E8E4F2"/>
            </a:solidFill>
            <a:prstDash val="solid"/>
          </a:ln>
        </p:spPr>
      </p:sp>
      <p:sp>
        <p:nvSpPr>
          <p:cNvPr id="17" name="Text 15"/>
          <p:cNvSpPr/>
          <p:nvPr/>
        </p:nvSpPr>
        <p:spPr>
          <a:xfrm>
            <a:off x="8503920" y="2670048"/>
            <a:ext cx="2926080" cy="365760"/>
          </a:xfrm>
          <a:prstGeom prst="rect">
            <a:avLst/>
          </a:prstGeom>
          <a:noFill/>
          <a:ln/>
        </p:spPr>
        <p:txBody>
          <a:bodyPr wrap="square" lIns="0" tIns="0" rIns="0" bIns="0" rtlCol="0" anchor="ctr"/>
          <a:lstStyle/>
          <a:p>
            <a:pPr algn="ctr" indent="0" marL="0">
              <a:buNone/>
            </a:pPr>
            <a:r>
              <a:rPr lang="en-US" sz="1500" b="1" dirty="0">
                <a:solidFill>
                  <a:srgbClr val="1A1725"/>
                </a:solidFill>
                <a:latin typeface="Calibri" pitchFamily="34" charset="0"/>
                <a:ea typeface="Calibri" pitchFamily="34" charset="-122"/>
                <a:cs typeface="Calibri" pitchFamily="34" charset="-120"/>
              </a:rPr>
              <a:t>servidor: banco</a:t>
            </a:r>
            <a:endParaRPr lang="en-US" sz="1500" dirty="0"/>
          </a:p>
        </p:txBody>
      </p:sp>
      <p:sp>
        <p:nvSpPr>
          <p:cNvPr id="18" name="Shape 16"/>
          <p:cNvSpPr/>
          <p:nvPr/>
        </p:nvSpPr>
        <p:spPr>
          <a:xfrm>
            <a:off x="8503920" y="3749040"/>
            <a:ext cx="2926080" cy="914400"/>
          </a:xfrm>
          <a:prstGeom prst="roundRect">
            <a:avLst>
              <a:gd name="adj" fmla="val 10000"/>
            </a:avLst>
          </a:prstGeom>
          <a:solidFill>
            <a:srgbClr val="F2F0F7"/>
          </a:solidFill>
          <a:ln w="12700">
            <a:solidFill>
              <a:srgbClr val="E8E4F2"/>
            </a:solidFill>
            <a:prstDash val="solid"/>
          </a:ln>
        </p:spPr>
      </p:sp>
      <p:sp>
        <p:nvSpPr>
          <p:cNvPr id="19" name="Text 17"/>
          <p:cNvSpPr/>
          <p:nvPr/>
        </p:nvSpPr>
        <p:spPr>
          <a:xfrm>
            <a:off x="8503920" y="3858768"/>
            <a:ext cx="2926080" cy="365760"/>
          </a:xfrm>
          <a:prstGeom prst="rect">
            <a:avLst/>
          </a:prstGeom>
          <a:noFill/>
          <a:ln/>
        </p:spPr>
        <p:txBody>
          <a:bodyPr wrap="square" lIns="0" tIns="0" rIns="0" bIns="0" rtlCol="0" anchor="ctr"/>
          <a:lstStyle/>
          <a:p>
            <a:pPr algn="ctr" indent="0" marL="0">
              <a:buNone/>
            </a:pPr>
            <a:r>
              <a:rPr lang="en-US" sz="1500" b="1" dirty="0">
                <a:solidFill>
                  <a:srgbClr val="1A1725"/>
                </a:solidFill>
                <a:latin typeface="Calibri" pitchFamily="34" charset="0"/>
                <a:ea typeface="Calibri" pitchFamily="34" charset="-122"/>
                <a:cs typeface="Calibri" pitchFamily="34" charset="-120"/>
              </a:rPr>
              <a:t>servidor: Jira</a:t>
            </a:r>
            <a:endParaRPr lang="en-US" sz="1500" dirty="0"/>
          </a:p>
        </p:txBody>
      </p:sp>
      <p:sp>
        <p:nvSpPr>
          <p:cNvPr id="20" name="Shape 18"/>
          <p:cNvSpPr/>
          <p:nvPr/>
        </p:nvSpPr>
        <p:spPr>
          <a:xfrm>
            <a:off x="640080" y="4663440"/>
            <a:ext cx="6675120" cy="777240"/>
          </a:xfrm>
          <a:prstGeom prst="roundRect">
            <a:avLst>
              <a:gd name="adj" fmla="val 11765"/>
            </a:avLst>
          </a:prstGeom>
          <a:solidFill>
            <a:srgbClr val="E8E4F2"/>
          </a:solidFill>
          <a:ln w="12700">
            <a:solidFill>
              <a:srgbClr val="E8E4F2"/>
            </a:solidFill>
            <a:prstDash val="solid"/>
          </a:ln>
        </p:spPr>
      </p:sp>
      <p:sp>
        <p:nvSpPr>
          <p:cNvPr id="21" name="Text 19"/>
          <p:cNvSpPr/>
          <p:nvPr/>
        </p:nvSpPr>
        <p:spPr>
          <a:xfrm>
            <a:off x="640080" y="4773168"/>
            <a:ext cx="6675120" cy="365760"/>
          </a:xfrm>
          <a:prstGeom prst="rect">
            <a:avLst/>
          </a:prstGeom>
          <a:noFill/>
          <a:ln/>
        </p:spPr>
        <p:txBody>
          <a:bodyPr wrap="square" lIns="0" tIns="0" rIns="0" bIns="0" rtlCol="0" anchor="ctr"/>
          <a:lstStyle/>
          <a:p>
            <a:pPr algn="ctr" indent="0" marL="0">
              <a:buNone/>
            </a:pPr>
            <a:r>
              <a:rPr lang="en-US" sz="1300" b="1" dirty="0">
                <a:solidFill>
                  <a:srgbClr val="1A1725"/>
                </a:solidFill>
                <a:latin typeface="Calibri" pitchFamily="34" charset="0"/>
                <a:ea typeface="Calibri" pitchFamily="34" charset="-122"/>
                <a:cs typeface="Calibri" pitchFamily="34" charset="-120"/>
              </a:rPr>
              <a:t>as ferramentas MCP entram na MESMA lista das suas</a:t>
            </a:r>
            <a:endParaRPr lang="en-US" sz="1300" dirty="0"/>
          </a:p>
        </p:txBody>
      </p:sp>
      <p:sp>
        <p:nvSpPr>
          <p:cNvPr id="22" name="Text 20"/>
          <p:cNvSpPr/>
          <p:nvPr/>
        </p:nvSpPr>
        <p:spPr>
          <a:xfrm>
            <a:off x="640080" y="5760720"/>
            <a:ext cx="10881360" cy="502920"/>
          </a:xfrm>
          <a:prstGeom prst="rect">
            <a:avLst/>
          </a:prstGeom>
          <a:noFill/>
          <a:ln/>
        </p:spPr>
        <p:txBody>
          <a:bodyPr wrap="square" lIns="0" tIns="0" rIns="0" bIns="0" rtlCol="0" anchor="ctr"/>
          <a:lstStyle/>
          <a:p>
            <a:pPr indent="0" marL="0">
              <a:buNone/>
            </a:pPr>
            <a:r>
              <a:rPr lang="en-US" sz="1300" i="1" dirty="0">
                <a:solidFill>
                  <a:srgbClr val="6B6580"/>
                </a:solidFill>
                <a:latin typeface="Calibri" pitchFamily="34" charset="0"/>
                <a:ea typeface="Calibri" pitchFamily="34" charset="-122"/>
                <a:cs typeface="Calibri" pitchFamily="34" charset="-120"/>
              </a:rPr>
              <a:t>O MCP não decide o loop, a parada nem a política de contexto. Ele resolve só como um servidor descreve o que oferece.</a:t>
            </a:r>
            <a:endParaRPr lang="en-US" sz="1300" dirty="0"/>
          </a:p>
        </p:txBody>
      </p:sp>
      <p:sp>
        <p:nvSpPr>
          <p:cNvPr id="24" name="Text 21"/>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5" name="Text 22"/>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MCP NA PRÁTICA</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Ferramentas de fora entram na MESMA lista</a:t>
            </a:r>
            <a:endParaRPr lang="en-US" sz="3400" dirty="0"/>
          </a:p>
        </p:txBody>
      </p:sp>
      <p:sp>
        <p:nvSpPr>
          <p:cNvPr id="4" name="Text 2"/>
          <p:cNvSpPr/>
          <p:nvPr/>
        </p:nvSpPr>
        <p:spPr>
          <a:xfrm>
            <a:off x="640080" y="1691640"/>
            <a:ext cx="4480560" cy="1030224"/>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Skills são capacidade local. Quando o agente precisa falar com o mundo, banco, API, repositório, sistema de tickets, entra o Model Context Protocol.</a:t>
            </a:r>
            <a:endParaRPr lang="en-US" sz="1400" dirty="0"/>
          </a:p>
        </p:txBody>
      </p:sp>
      <p:sp>
        <p:nvSpPr>
          <p:cNvPr id="5" name="Shape 3"/>
          <p:cNvSpPr/>
          <p:nvPr/>
        </p:nvSpPr>
        <p:spPr>
          <a:xfrm>
            <a:off x="640080" y="2996184"/>
            <a:ext cx="4480560" cy="2993136"/>
          </a:xfrm>
          <a:prstGeom prst="roundRect">
            <a:avLst>
              <a:gd name="adj" fmla="val 3055"/>
            </a:avLst>
          </a:prstGeom>
          <a:solidFill>
            <a:srgbClr val="F2F0F7"/>
          </a:solidFill>
          <a:ln/>
        </p:spPr>
      </p:sp>
      <p:sp>
        <p:nvSpPr>
          <p:cNvPr id="6" name="Text 4"/>
          <p:cNvSpPr/>
          <p:nvPr/>
        </p:nvSpPr>
        <p:spPr>
          <a:xfrm>
            <a:off x="859536" y="3142488"/>
            <a:ext cx="4041648" cy="2700528"/>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A linha que importa é a última. Do ponto de vista do loop que você escreveu no dia 1, não há diferença: é um nome, um schema e uma função que devolve texto.</a:t>
            </a:r>
            <a:endParaRPr lang="en-US" sz="1250" dirty="0"/>
          </a:p>
        </p:txBody>
      </p:sp>
      <p:sp>
        <p:nvSpPr>
          <p:cNvPr id="7" name="Shape 5"/>
          <p:cNvSpPr/>
          <p:nvPr/>
        </p:nvSpPr>
        <p:spPr>
          <a:xfrm>
            <a:off x="5486400" y="1691640"/>
            <a:ext cx="6035040" cy="4297680"/>
          </a:xfrm>
          <a:prstGeom prst="roundRect">
            <a:avLst>
              <a:gd name="adj" fmla="val 2128"/>
            </a:avLst>
          </a:prstGeom>
          <a:solidFill>
            <a:srgbClr val="0F0C1A"/>
          </a:solidFill>
          <a:ln/>
        </p:spPr>
      </p:sp>
      <p:sp>
        <p:nvSpPr>
          <p:cNvPr id="8" name="Text 6"/>
          <p:cNvSpPr/>
          <p:nvPr/>
        </p:nvSpPr>
        <p:spPr>
          <a:xfrm>
            <a:off x="5687568" y="1828800"/>
            <a:ext cx="5632704" cy="4023360"/>
          </a:xfrm>
          <a:prstGeom prst="rect">
            <a:avLst/>
          </a:prstGeom>
          <a:noFill/>
          <a:ln/>
        </p:spPr>
        <p:txBody>
          <a:bodyPr wrap="square" lIns="0" tIns="0" rIns="0" bIns="0" rtlCol="0" anchor="t"/>
          <a:lstStyle/>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from langchain_mcp_adapters.client import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MultiServerMCPClient)</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cliente = MultiServerMCPClient({</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"arquivos":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"command": "npx",</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"args": ["-y",</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"@modelcontextprotocol/"</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"server-filesystem", "./docs"],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"transport": "stdio"},</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ferramentas_mcp = await cliente.get_tools()</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FERRAMENTAS = [calcular,</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buscar_documentos] + ferramentas_mcp</a:t>
            </a:r>
            <a:endParaRPr lang="en-US" sz="115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AGENT-COMPUTER INTERFACE</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2800" b="1" dirty="0">
                <a:solidFill>
                  <a:srgbClr val="1A1725"/>
                </a:solidFill>
                <a:latin typeface="Cambria" pitchFamily="34" charset="0"/>
                <a:ea typeface="Cambria" pitchFamily="34" charset="-122"/>
                <a:cs typeface="Cambria" pitchFamily="34" charset="-120"/>
              </a:rPr>
              <a:t>Para o agente, a descrição da ferramenta É a interface</a:t>
            </a:r>
            <a:endParaRPr lang="en-US" sz="2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5394960"/>
                <a:gridCol w="5486400"/>
              </a:tblGrid>
              <a:tr h="31089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Faça</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Não faça</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Nome que revela intenção: buscar_base_de_conhecimento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Nome vago: processar_dados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Cada parâmetro com descrição e exemplo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Parâmetro sem descrição, o agente adivinha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Uma ferramenta faz uma coisa e devolve</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Uma faz cinco coisas e tem efeito colateral</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Erro explica o que houve e o que fazer</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Erro diz apenas que falhou</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bl>
          </a:graphicData>
        </a:graphic>
      </p:graphicFrame>
      <p:sp>
        <p:nvSpPr>
          <p:cNvPr id="6" name="Text 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7"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71326"/>
        </a:solidFill>
      </p:bgPr>
    </p:bg>
    <p:spTree>
      <p:nvGrpSpPr>
        <p:cNvPr id="1" name=""/>
        <p:cNvGrpSpPr/>
        <p:nvPr/>
      </p:nvGrpSpPr>
      <p:grpSpPr>
        <a:xfrm>
          <a:off x="0" y="0"/>
          <a:ext cx="0" cy="0"/>
          <a:chOff x="0" y="0"/>
          <a:chExt cx="0" cy="0"/>
        </a:xfrm>
      </p:grpSpPr>
      <p:sp>
        <p:nvSpPr>
          <p:cNvPr id="2" name="Text 0"/>
          <p:cNvSpPr/>
          <p:nvPr/>
        </p:nvSpPr>
        <p:spPr>
          <a:xfrm>
            <a:off x="640080" y="1280160"/>
            <a:ext cx="10881360" cy="320040"/>
          </a:xfrm>
          <a:prstGeom prst="rect">
            <a:avLst/>
          </a:prstGeom>
          <a:noFill/>
          <a:ln/>
        </p:spPr>
        <p:txBody>
          <a:bodyPr wrap="square" lIns="0" tIns="0" rIns="0" bIns="0" rtlCol="0" anchor="t"/>
          <a:lstStyle/>
          <a:p>
            <a:pPr indent="0" marL="0">
              <a:buNone/>
            </a:pPr>
            <a:r>
              <a:rPr lang="en-US" sz="1200" b="1" spc="120" kern="0" dirty="0">
                <a:solidFill>
                  <a:srgbClr val="E8933A"/>
                </a:solidFill>
                <a:latin typeface="Calibri" pitchFamily="34" charset="0"/>
                <a:ea typeface="Calibri" pitchFamily="34" charset="-122"/>
                <a:cs typeface="Calibri" pitchFamily="34" charset="-120"/>
              </a:rPr>
              <a:t>FECHO DO BLOCO</a:t>
            </a:r>
            <a:endParaRPr lang="en-US" sz="1200" dirty="0"/>
          </a:p>
        </p:txBody>
      </p:sp>
      <p:sp>
        <p:nvSpPr>
          <p:cNvPr id="3" name="Text 1"/>
          <p:cNvSpPr/>
          <p:nvPr/>
        </p:nvSpPr>
        <p:spPr>
          <a:xfrm>
            <a:off x="640080" y="1783080"/>
            <a:ext cx="10881360" cy="1193800"/>
          </a:xfrm>
          <a:prstGeom prst="rect">
            <a:avLst/>
          </a:prstGeom>
          <a:noFill/>
          <a:ln/>
        </p:spPr>
        <p:txBody>
          <a:bodyPr wrap="square" lIns="0" tIns="0" rIns="0" bIns="0" rtlCol="0" anchor="t"/>
          <a:lstStyle/>
          <a:p>
            <a:pPr indent="0" marL="0">
              <a:lnSpc>
                <a:spcPct val="112000"/>
              </a:lnSpc>
              <a:buNone/>
            </a:pPr>
            <a:r>
              <a:rPr lang="en-US" sz="3200" b="1" dirty="0">
                <a:solidFill>
                  <a:srgbClr val="EDEAF5"/>
                </a:solidFill>
                <a:latin typeface="Cambria" pitchFamily="34" charset="0"/>
                <a:ea typeface="Cambria" pitchFamily="34" charset="-122"/>
                <a:cs typeface="Cambria" pitchFamily="34" charset="-120"/>
              </a:rPr>
              <a:t>Instructions dizem. Constraints impedem.</a:t>
            </a:r>
            <a:endParaRPr lang="en-US" sz="3200" dirty="0"/>
          </a:p>
          <a:p>
            <a:pPr indent="0" marL="0">
              <a:lnSpc>
                <a:spcPct val="112000"/>
              </a:lnSpc>
              <a:buNone/>
            </a:pPr>
            <a:r>
              <a:rPr lang="en-US" sz="3200" b="1" dirty="0">
                <a:solidFill>
                  <a:srgbClr val="EDEAF5"/>
                </a:solidFill>
                <a:latin typeface="Cambria" pitchFamily="34" charset="0"/>
                <a:ea typeface="Cambria" pitchFamily="34" charset="-122"/>
                <a:cs typeface="Cambria" pitchFamily="34" charset="-120"/>
              </a:rPr>
              <a:t>Capability dá o corpo. Steering corrige no meio.</a:t>
            </a:r>
            <a:endParaRPr lang="en-US" sz="3200" dirty="0"/>
          </a:p>
        </p:txBody>
      </p:sp>
      <p:sp>
        <p:nvSpPr>
          <p:cNvPr id="4" name="Text 2"/>
          <p:cNvSpPr/>
          <p:nvPr/>
        </p:nvSpPr>
        <p:spPr>
          <a:xfrm>
            <a:off x="640080" y="3388360"/>
            <a:ext cx="10149840" cy="2646680"/>
          </a:xfrm>
          <a:prstGeom prst="rect">
            <a:avLst/>
          </a:prstGeom>
          <a:noFill/>
          <a:ln/>
        </p:spPr>
        <p:txBody>
          <a:bodyPr wrap="square" lIns="0" tIns="0" rIns="0" bIns="0" rtlCol="0" anchor="t"/>
          <a:lstStyle/>
          <a:p>
            <a:pPr indent="0" marL="0">
              <a:lnSpc>
                <a:spcPct val="118000"/>
              </a:lnSpc>
              <a:buNone/>
            </a:pPr>
            <a:r>
              <a:rPr lang="en-US" sz="1600" dirty="0">
                <a:solidFill>
                  <a:srgbClr val="A79FC4"/>
                </a:solidFill>
                <a:latin typeface="Calibri" pitchFamily="34" charset="0"/>
                <a:ea typeface="Calibri" pitchFamily="34" charset="-122"/>
                <a:cs typeface="Calibri" pitchFamily="34" charset="-120"/>
              </a:rPr>
              <a:t>Os quatro trabalham juntos e nenhum substitui o outro. O erro mais caro do campo é tentar resolver com prompt o que precisava de código, e o segundo mais caro é conectar cinquenta ferramentas e chamar isso de arquitetura.</a:t>
            </a:r>
            <a:endParaRPr lang="en-US" sz="1600" dirty="0"/>
          </a:p>
        </p:txBody>
      </p:sp>
      <p:sp>
        <p:nvSpPr>
          <p:cNvPr id="6"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A79FC4"/>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4C3A8C"/>
        </a:solidFill>
      </p:bgPr>
    </p:bg>
    <p:spTree>
      <p:nvGrpSpPr>
        <p:cNvPr id="1" name=""/>
        <p:cNvGrpSpPr/>
        <p:nvPr/>
      </p:nvGrpSpPr>
      <p:grpSpPr>
        <a:xfrm>
          <a:off x="0" y="0"/>
          <a:ext cx="0" cy="0"/>
          <a:chOff x="0" y="0"/>
          <a:chExt cx="0" cy="0"/>
        </a:xfrm>
      </p:grpSpPr>
      <p:sp>
        <p:nvSpPr>
          <p:cNvPr id="2" name="Text 0"/>
          <p:cNvSpPr/>
          <p:nvPr/>
        </p:nvSpPr>
        <p:spPr>
          <a:xfrm>
            <a:off x="640080" y="1920240"/>
            <a:ext cx="1828800" cy="1280160"/>
          </a:xfrm>
          <a:prstGeom prst="rect">
            <a:avLst/>
          </a:prstGeom>
          <a:noFill/>
          <a:ln/>
        </p:spPr>
        <p:txBody>
          <a:bodyPr wrap="square" lIns="0" tIns="0" rIns="0" bIns="0" rtlCol="0" anchor="ctr"/>
          <a:lstStyle/>
          <a:p>
            <a:pPr indent="0" marL="0">
              <a:buNone/>
            </a:pPr>
            <a:r>
              <a:rPr lang="en-US" sz="7200" b="1" dirty="0">
                <a:solidFill>
                  <a:srgbClr val="E8933A"/>
                </a:solidFill>
                <a:latin typeface="Cambria" pitchFamily="34" charset="0"/>
                <a:ea typeface="Cambria" pitchFamily="34" charset="-122"/>
                <a:cs typeface="Cambria" pitchFamily="34" charset="-120"/>
              </a:rPr>
              <a:t>06</a:t>
            </a:r>
            <a:endParaRPr lang="en-US" sz="7200" dirty="0"/>
          </a:p>
        </p:txBody>
      </p:sp>
      <p:sp>
        <p:nvSpPr>
          <p:cNvPr id="3" name="Text 1"/>
          <p:cNvSpPr/>
          <p:nvPr/>
        </p:nvSpPr>
        <p:spPr>
          <a:xfrm>
            <a:off x="2560320" y="2057400"/>
            <a:ext cx="91440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Saindo da máquina</a:t>
            </a:r>
            <a:endParaRPr lang="en-US" sz="4000" dirty="0"/>
          </a:p>
        </p:txBody>
      </p:sp>
      <p:sp>
        <p:nvSpPr>
          <p:cNvPr id="4" name="Text 2"/>
          <p:cNvSpPr/>
          <p:nvPr/>
        </p:nvSpPr>
        <p:spPr>
          <a:xfrm>
            <a:off x="2560320" y="3200400"/>
            <a:ext cx="9144000" cy="1097280"/>
          </a:xfrm>
          <a:prstGeom prst="rect">
            <a:avLst/>
          </a:prstGeom>
          <a:noFill/>
          <a:ln/>
        </p:spPr>
        <p:txBody>
          <a:bodyPr wrap="square" lIns="0" tIns="0" rIns="0" bIns="0" rtlCol="0" anchor="ctr"/>
          <a:lstStyle/>
          <a:p>
            <a:pPr indent="0" marL="0">
              <a:buNone/>
            </a:pPr>
            <a:r>
              <a:rPr lang="en-US" sz="1700" dirty="0">
                <a:solidFill>
                  <a:srgbClr val="E4DEF7"/>
                </a:solidFill>
                <a:latin typeface="Calibri" pitchFamily="34" charset="0"/>
                <a:ea typeface="Calibri" pitchFamily="34" charset="-122"/>
                <a:cs typeface="Calibri" pitchFamily="34" charset="-120"/>
              </a:rPr>
              <a:t>Até agora o agente só leu o próprio disco.</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71326"/>
        </a:solidFill>
      </p:bgPr>
    </p:bg>
    <p:spTree>
      <p:nvGrpSpPr>
        <p:cNvPr id="1" name=""/>
        <p:cNvGrpSpPr/>
        <p:nvPr/>
      </p:nvGrpSpPr>
      <p:grpSpPr>
        <a:xfrm>
          <a:off x="0" y="0"/>
          <a:ext cx="0" cy="0"/>
          <a:chOff x="0" y="0"/>
          <a:chExt cx="0" cy="0"/>
        </a:xfrm>
      </p:grpSpPr>
      <p:sp>
        <p:nvSpPr>
          <p:cNvPr id="2" name="Text 0"/>
          <p:cNvSpPr/>
          <p:nvPr/>
        </p:nvSpPr>
        <p:spPr>
          <a:xfrm>
            <a:off x="640080" y="1280160"/>
            <a:ext cx="10881360" cy="320040"/>
          </a:xfrm>
          <a:prstGeom prst="rect">
            <a:avLst/>
          </a:prstGeom>
          <a:noFill/>
          <a:ln/>
        </p:spPr>
        <p:txBody>
          <a:bodyPr wrap="square" lIns="0" tIns="0" rIns="0" bIns="0" rtlCol="0" anchor="t"/>
          <a:lstStyle/>
          <a:p>
            <a:pPr indent="0" marL="0">
              <a:buNone/>
            </a:pPr>
            <a:r>
              <a:rPr lang="en-US" sz="1200" b="1" spc="120" kern="0" dirty="0">
                <a:solidFill>
                  <a:srgbClr val="E8933A"/>
                </a:solidFill>
                <a:latin typeface="Calibri" pitchFamily="34" charset="0"/>
                <a:ea typeface="Calibri" pitchFamily="34" charset="-122"/>
                <a:cs typeface="Calibri" pitchFamily="34" charset="-120"/>
              </a:rPr>
              <a:t>A TENSÃO QUE NINGUÉM NOMEIA</a:t>
            </a:r>
            <a:endParaRPr lang="en-US" sz="1200" dirty="0"/>
          </a:p>
        </p:txBody>
      </p:sp>
      <p:sp>
        <p:nvSpPr>
          <p:cNvPr id="3" name="Text 1"/>
          <p:cNvSpPr/>
          <p:nvPr/>
        </p:nvSpPr>
        <p:spPr>
          <a:xfrm>
            <a:off x="640080" y="1783080"/>
            <a:ext cx="10881360" cy="731520"/>
          </a:xfrm>
          <a:prstGeom prst="rect">
            <a:avLst/>
          </a:prstGeom>
          <a:noFill/>
          <a:ln/>
        </p:spPr>
        <p:txBody>
          <a:bodyPr wrap="square" lIns="0" tIns="0" rIns="0" bIns="0" rtlCol="0" anchor="t"/>
          <a:lstStyle/>
          <a:p>
            <a:pPr indent="0" marL="0">
              <a:lnSpc>
                <a:spcPct val="112000"/>
              </a:lnSpc>
              <a:buNone/>
            </a:pPr>
            <a:r>
              <a:rPr lang="en-US" sz="3600" b="1" dirty="0">
                <a:solidFill>
                  <a:srgbClr val="EDEAF5"/>
                </a:solidFill>
                <a:latin typeface="Cambria" pitchFamily="34" charset="0"/>
                <a:ea typeface="Cambria" pitchFamily="34" charset="-122"/>
                <a:cs typeface="Cambria" pitchFamily="34" charset="-120"/>
              </a:rPr>
              <a:t>O modelo continua local. A informação, não.</a:t>
            </a:r>
            <a:endParaRPr lang="en-US" sz="3600" dirty="0"/>
          </a:p>
        </p:txBody>
      </p:sp>
      <p:sp>
        <p:nvSpPr>
          <p:cNvPr id="4" name="Text 2"/>
          <p:cNvSpPr/>
          <p:nvPr/>
        </p:nvSpPr>
        <p:spPr>
          <a:xfrm>
            <a:off x="640080" y="2926080"/>
            <a:ext cx="10149840" cy="3108960"/>
          </a:xfrm>
          <a:prstGeom prst="rect">
            <a:avLst/>
          </a:prstGeom>
          <a:noFill/>
          <a:ln/>
        </p:spPr>
        <p:txBody>
          <a:bodyPr wrap="square" lIns="0" tIns="0" rIns="0" bIns="0" rtlCol="0" anchor="t"/>
          <a:lstStyle/>
          <a:p>
            <a:pPr indent="0" marL="0">
              <a:lnSpc>
                <a:spcPct val="118000"/>
              </a:lnSpc>
              <a:buNone/>
            </a:pPr>
            <a:r>
              <a:rPr lang="en-US" sz="1600" dirty="0">
                <a:solidFill>
                  <a:srgbClr val="A79FC4"/>
                </a:solidFill>
                <a:latin typeface="Calibri" pitchFamily="34" charset="0"/>
                <a:ea typeface="Calibri" pitchFamily="34" charset="-122"/>
                <a:cs typeface="Calibri" pitchFamily="34" charset="-120"/>
              </a:rPr>
              <a:t>Buscar na web significa que a PERGUNTA do usuário sai da máquina. Não os pesos, não o histórico, mas a consulta. Para um agente de pesquisa pública isso é irrelevante. Para um que processa dado de paciente ou cláusula de contrato, é inaceitável. A decisão é do projeto, não do framework.</a:t>
            </a:r>
            <a:endParaRPr lang="en-US" sz="1600" dirty="0"/>
          </a:p>
        </p:txBody>
      </p:sp>
      <p:sp>
        <p:nvSpPr>
          <p:cNvPr id="6"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A79FC4"/>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SEM CADASTRO</a:t>
            </a:r>
            <a:endParaRPr lang="en-US" sz="1100" dirty="0"/>
          </a:p>
        </p:txBody>
      </p:sp>
      <p:sp>
        <p:nvSpPr>
          <p:cNvPr id="3" name="Text 1"/>
          <p:cNvSpPr/>
          <p:nvPr/>
        </p:nvSpPr>
        <p:spPr>
          <a:xfrm>
            <a:off x="640080" y="676656"/>
            <a:ext cx="10881360" cy="1162304"/>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Busca que funciona para vinte alunos ao mesmo tempo</a:t>
            </a:r>
            <a:endParaRPr lang="en-US" sz="3400" dirty="0"/>
          </a:p>
        </p:txBody>
      </p:sp>
      <p:sp>
        <p:nvSpPr>
          <p:cNvPr id="4" name="Text 2"/>
          <p:cNvSpPr/>
          <p:nvPr/>
        </p:nvSpPr>
        <p:spPr>
          <a:xfrm>
            <a:off x="640080" y="2094992"/>
            <a:ext cx="4480560" cy="795528"/>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Nenhuma chave, nenhuma conta. É a escolha certa para sala de aula, e o Tavily entra como demonstração de três minutos.</a:t>
            </a:r>
            <a:endParaRPr lang="en-US" sz="1400" dirty="0"/>
          </a:p>
        </p:txBody>
      </p:sp>
      <p:sp>
        <p:nvSpPr>
          <p:cNvPr id="5" name="Shape 3"/>
          <p:cNvSpPr/>
          <p:nvPr/>
        </p:nvSpPr>
        <p:spPr>
          <a:xfrm>
            <a:off x="640080" y="3164840"/>
            <a:ext cx="4480560" cy="2824480"/>
          </a:xfrm>
          <a:prstGeom prst="roundRect">
            <a:avLst>
              <a:gd name="adj" fmla="val 3237"/>
            </a:avLst>
          </a:prstGeom>
          <a:solidFill>
            <a:srgbClr val="F2F0F7"/>
          </a:solidFill>
          <a:ln/>
        </p:spPr>
      </p:sp>
      <p:sp>
        <p:nvSpPr>
          <p:cNvPr id="6" name="Text 4"/>
          <p:cNvSpPr/>
          <p:nvPr/>
        </p:nvSpPr>
        <p:spPr>
          <a:xfrm>
            <a:off x="859536" y="3311144"/>
            <a:ext cx="4041648" cy="2531872"/>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Repare que a ferramenta devolve a URL junto com o trecho. Sem isso o Redator não cita fonte e o Crítico não verifica nada.</a:t>
            </a:r>
            <a:endParaRPr lang="en-US" sz="1250" dirty="0"/>
          </a:p>
        </p:txBody>
      </p:sp>
      <p:sp>
        <p:nvSpPr>
          <p:cNvPr id="7" name="Shape 5"/>
          <p:cNvSpPr/>
          <p:nvPr/>
        </p:nvSpPr>
        <p:spPr>
          <a:xfrm>
            <a:off x="5486400" y="2094992"/>
            <a:ext cx="6035040" cy="3894328"/>
          </a:xfrm>
          <a:prstGeom prst="roundRect">
            <a:avLst>
              <a:gd name="adj" fmla="val 2348"/>
            </a:avLst>
          </a:prstGeom>
          <a:solidFill>
            <a:srgbClr val="0F0C1A"/>
          </a:solidFill>
          <a:ln/>
        </p:spPr>
      </p:sp>
      <p:sp>
        <p:nvSpPr>
          <p:cNvPr id="8" name="Text 6"/>
          <p:cNvSpPr/>
          <p:nvPr/>
        </p:nvSpPr>
        <p:spPr>
          <a:xfrm>
            <a:off x="5687568" y="2232152"/>
            <a:ext cx="5632704" cy="3620008"/>
          </a:xfrm>
          <a:prstGeom prst="rect">
            <a:avLst/>
          </a:prstGeom>
          <a:noFill/>
          <a:ln/>
        </p:spPr>
        <p:txBody>
          <a:bodyPr wrap="square" lIns="0" tIns="0" rIns="0" bIns="0" rtlCol="0" anchor="t"/>
          <a:lstStyle/>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from ddgs import DDGS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from langchain_core.tools import tool</a:t>
            </a:r>
            <a:endParaRPr lang="en-US" sz="1100" dirty="0"/>
          </a:p>
          <a:p>
            <a:pPr indent="0" marL="0">
              <a:lnSpc>
                <a:spcPct val="102000"/>
              </a:lnSpc>
              <a:buNone/>
            </a:pP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@tool</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def buscar_web(consulta: str, k: int = 5) -&gt; str:</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"""Busca na web: titulo, trecho e URL.</a:t>
            </a:r>
            <a:endParaRPr lang="en-US" sz="1100" dirty="0"/>
          </a:p>
          <a:p>
            <a:pPr indent="0" marL="0">
              <a:lnSpc>
                <a:spcPct val="102000"/>
              </a:lnSpc>
              <a:buNone/>
            </a:pP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Use quando a resposta nao estiver nos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documentos locais.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k = max(1, min(k, 10))</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try:</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with DDGS() as ddgs: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rs = list(ddgs.text(consulta, max_results=k))</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except Exception as e:</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return f"ERRO na busca: {type(e).__name__}: {e}"</a:t>
            </a:r>
            <a:endParaRPr lang="en-US" sz="1100" dirty="0"/>
          </a:p>
          <a:p>
            <a:pPr indent="0" marL="0">
              <a:lnSpc>
                <a:spcPct val="102000"/>
              </a:lnSpc>
              <a:buNone/>
            </a:pP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if not rs: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return "Nenhum resultado encontrado."</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return "\n\n---\n\n".join(</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f"[{r['title']}]\n{r['body']}\nFonte: {r['href']}"</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for r in rs)</a:t>
            </a:r>
            <a:endParaRPr lang="en-US" sz="110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SCRAPING NÍVEL 1</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ler_pagina: HTML vira texto útil</a:t>
            </a:r>
            <a:endParaRPr lang="en-US" sz="3400" dirty="0"/>
          </a:p>
        </p:txBody>
      </p:sp>
      <p:sp>
        <p:nvSpPr>
          <p:cNvPr id="4" name="Text 2"/>
          <p:cNvSpPr/>
          <p:nvPr/>
        </p:nvSpPr>
        <p:spPr>
          <a:xfrm>
            <a:off x="640080" y="1691640"/>
            <a:ext cx="4480560" cy="795528"/>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A busca devolve um trecho. Às vezes você precisa da página inteira: a tabela de preços, o texto completo da norma.</a:t>
            </a:r>
            <a:endParaRPr lang="en-US" sz="1400" dirty="0"/>
          </a:p>
        </p:txBody>
      </p:sp>
      <p:sp>
        <p:nvSpPr>
          <p:cNvPr id="5" name="Shape 3"/>
          <p:cNvSpPr/>
          <p:nvPr/>
        </p:nvSpPr>
        <p:spPr>
          <a:xfrm>
            <a:off x="640080" y="2761488"/>
            <a:ext cx="4480560" cy="3227832"/>
          </a:xfrm>
          <a:prstGeom prst="roundRect">
            <a:avLst>
              <a:gd name="adj" fmla="val 2833"/>
            </a:avLst>
          </a:prstGeom>
          <a:solidFill>
            <a:srgbClr val="F2F0F7"/>
          </a:solidFill>
          <a:ln/>
        </p:spPr>
      </p:sp>
      <p:sp>
        <p:nvSpPr>
          <p:cNvPr id="6" name="Text 4"/>
          <p:cNvSpPr/>
          <p:nvPr/>
        </p:nvSpPr>
        <p:spPr>
          <a:xfrm>
            <a:off x="859536" y="2907792"/>
            <a:ext cx="4041648" cy="2935224"/>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Três detalhes que o aluno esquece: decompose antes de get_text, timeout sempre, e max_chars. Cada um resolve uma forma diferente de derrubar o agente.</a:t>
            </a:r>
            <a:endParaRPr lang="en-US" sz="1250" dirty="0"/>
          </a:p>
        </p:txBody>
      </p:sp>
      <p:sp>
        <p:nvSpPr>
          <p:cNvPr id="7" name="Shape 5"/>
          <p:cNvSpPr/>
          <p:nvPr/>
        </p:nvSpPr>
        <p:spPr>
          <a:xfrm>
            <a:off x="5486400" y="1691640"/>
            <a:ext cx="6035040" cy="4297680"/>
          </a:xfrm>
          <a:prstGeom prst="roundRect">
            <a:avLst>
              <a:gd name="adj" fmla="val 2128"/>
            </a:avLst>
          </a:prstGeom>
          <a:solidFill>
            <a:srgbClr val="0F0C1A"/>
          </a:solidFill>
          <a:ln/>
        </p:spPr>
      </p:sp>
      <p:sp>
        <p:nvSpPr>
          <p:cNvPr id="8" name="Text 6"/>
          <p:cNvSpPr/>
          <p:nvPr/>
        </p:nvSpPr>
        <p:spPr>
          <a:xfrm>
            <a:off x="5687568" y="1828800"/>
            <a:ext cx="5632704" cy="4023360"/>
          </a:xfrm>
          <a:prstGeom prst="rect">
            <a:avLst/>
          </a:prstGeom>
          <a:noFill/>
          <a:ln/>
        </p:spPr>
        <p:txBody>
          <a:bodyPr wrap="square" lIns="0" tIns="0" rIns="0" bIns="0" rtlCol="0" anchor="t"/>
          <a:lstStyle/>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CABECALHO = {"User-Agent": "NEXUS-curso/1.0"}</a:t>
            </a:r>
            <a:endParaRPr lang="en-US" sz="1100" dirty="0"/>
          </a:p>
          <a:p>
            <a:pPr indent="0" marL="0">
              <a:lnSpc>
                <a:spcPct val="102000"/>
              </a:lnSpc>
              <a:buNone/>
            </a:pP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@tool</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def ler_pagina(url: str, max_chars: int = 4000) -&gt; str:</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"""Baixa a pagina e devolve o texto sem HTML."""</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if not url.startswith(("http://", "https://")):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return "ERRO: url invalida"</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try:</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 = requests.get(url, headers=CABECALHO,</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timeout=15)</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r.raise_for_status()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except Exception as e:</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return f"ERRO ao baixar: {type(e).__name__}"</a:t>
            </a:r>
            <a:endParaRPr lang="en-US" sz="1100" dirty="0"/>
          </a:p>
          <a:p>
            <a:pPr indent="0" marL="0">
              <a:lnSpc>
                <a:spcPct val="102000"/>
              </a:lnSpc>
              <a:buNone/>
            </a:pP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sopa = BeautifulSoup(r.text, "html.parser")</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for lixo in sopa(["script", "style", "nav",</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"header", "footer", "aside"]):</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lixo.decompose()</a:t>
            </a:r>
            <a:endParaRPr lang="en-US" sz="1100" dirty="0"/>
          </a:p>
          <a:p>
            <a:pPr indent="0" marL="0">
              <a:lnSpc>
                <a:spcPct val="102000"/>
              </a:lnSpc>
              <a:buNone/>
            </a:pP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linhas = [l.strip() for l</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in sopa.get_text("\n").splitlines()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if l.strip()]</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limpo = "\n".join(linhas)</a:t>
            </a:r>
            <a:endParaRPr lang="en-US" sz="1100" dirty="0"/>
          </a:p>
          <a:p>
            <a:pPr indent="0" marL="0">
              <a:lnSpc>
                <a:spcPct val="102000"/>
              </a:lnSpc>
              <a:buNone/>
            </a:pPr>
            <a:r>
              <a:rPr lang="en-US" sz="1100" dirty="0">
                <a:solidFill>
                  <a:srgbClr val="D8D2EE"/>
                </a:solidFill>
                <a:latin typeface="Courier New" pitchFamily="34" charset="0"/>
                <a:ea typeface="Courier New" pitchFamily="34" charset="-122"/>
                <a:cs typeface="Courier New" pitchFamily="34" charset="-120"/>
              </a:rPr>
              <a:t>    return limpo[:max_chars]</a:t>
            </a:r>
            <a:endParaRPr lang="en-US" sz="110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SCRAPING NÍVEL 2</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Quando a página só existe depois do JavaScript</a:t>
            </a:r>
            <a:endParaRPr lang="en-US" sz="3400" dirty="0"/>
          </a:p>
        </p:txBody>
      </p:sp>
      <p:sp>
        <p:nvSpPr>
          <p:cNvPr id="4" name="Text 2"/>
          <p:cNvSpPr/>
          <p:nvPr/>
        </p:nvSpPr>
        <p:spPr>
          <a:xfrm>
            <a:off x="640080" y="1691640"/>
            <a:ext cx="4480560" cy="1030224"/>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Se a página aparece no navegador mas o requests devolve uma casca vazia, o conteúdo é renderizado no cliente. Aí não há como escapar de um navegador de verdade.</a:t>
            </a:r>
            <a:endParaRPr lang="en-US" sz="1400" dirty="0"/>
          </a:p>
        </p:txBody>
      </p:sp>
      <p:sp>
        <p:nvSpPr>
          <p:cNvPr id="5" name="Shape 3"/>
          <p:cNvSpPr/>
          <p:nvPr/>
        </p:nvSpPr>
        <p:spPr>
          <a:xfrm>
            <a:off x="640080" y="2996184"/>
            <a:ext cx="4480560" cy="2993136"/>
          </a:xfrm>
          <a:prstGeom prst="roundRect">
            <a:avLst>
              <a:gd name="adj" fmla="val 3055"/>
            </a:avLst>
          </a:prstGeom>
          <a:solidFill>
            <a:srgbClr val="F2F0F7"/>
          </a:solidFill>
          <a:ln/>
        </p:spPr>
      </p:sp>
      <p:sp>
        <p:nvSpPr>
          <p:cNvPr id="6" name="Text 4"/>
          <p:cNvSpPr/>
          <p:nvPr/>
        </p:nvSpPr>
        <p:spPr>
          <a:xfrm>
            <a:off x="859536" y="3142488"/>
            <a:ext cx="4041648" cy="2700528"/>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O finally com quit() não é preciosismo: sem ele, cada falha deixa um Chrome vivo. Vinte perguntas depois são dois gigabytes de navegadores fantasma.</a:t>
            </a:r>
            <a:endParaRPr lang="en-US" sz="1250" dirty="0"/>
          </a:p>
        </p:txBody>
      </p:sp>
      <p:sp>
        <p:nvSpPr>
          <p:cNvPr id="7" name="Shape 5"/>
          <p:cNvSpPr/>
          <p:nvPr/>
        </p:nvSpPr>
        <p:spPr>
          <a:xfrm>
            <a:off x="5486400" y="1691640"/>
            <a:ext cx="6035040" cy="4297680"/>
          </a:xfrm>
          <a:prstGeom prst="roundRect">
            <a:avLst>
              <a:gd name="adj" fmla="val 2128"/>
            </a:avLst>
          </a:prstGeom>
          <a:solidFill>
            <a:srgbClr val="0F0C1A"/>
          </a:solidFill>
          <a:ln/>
        </p:spPr>
      </p:sp>
      <p:sp>
        <p:nvSpPr>
          <p:cNvPr id="8" name="Text 6"/>
          <p:cNvSpPr/>
          <p:nvPr/>
        </p:nvSpPr>
        <p:spPr>
          <a:xfrm>
            <a:off x="5687568" y="1828800"/>
            <a:ext cx="5632704" cy="4023360"/>
          </a:xfrm>
          <a:prstGeom prst="rect">
            <a:avLst/>
          </a:prstGeom>
          <a:noFill/>
          <a:ln/>
        </p:spPr>
        <p:txBody>
          <a:bodyPr wrap="square" lIns="0" tIns="0" rIns="0" bIns="0" rtlCol="0" anchor="t"/>
          <a:lstStyle/>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@tool</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def ler_pagina_dinamica(url: str, espera: int = 3,</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max_chars: int = 4000) -&gt; str:</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"""Como ler_pagina, mas executa o JavaScript.</a:t>
            </a:r>
            <a:endParaRPr lang="en-US" sz="1050" dirty="0"/>
          </a:p>
          <a:p>
            <a:pPr indent="0" marL="0">
              <a:lnSpc>
                <a:spcPct val="102000"/>
              </a:lnSpc>
              <a:buNone/>
            </a:pP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Use so quando ler_pagina voltar vazio:</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e segundos, nao milissegundos.</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opcoes = Options()</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opcoes.add_argument("--headless=new")</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opcoes.add_argument("--no-sandbox")</a:t>
            </a:r>
            <a:endParaRPr lang="en-US" sz="1050" dirty="0"/>
          </a:p>
          <a:p>
            <a:pPr indent="0" marL="0">
              <a:lnSpc>
                <a:spcPct val="102000"/>
              </a:lnSpc>
              <a:buNone/>
            </a:pP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navegador = None</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try:</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navegador = webdriver.Chrome(options=opcoes)</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navegador.get(url)</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time.sleep(espera)</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html = navegador.page_source</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except Exception as e:</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return f"ERRO no navegador: {e}"</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finally:</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if navegador is not None:</a:t>
            </a: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navegador.quit()</a:t>
            </a:r>
            <a:endParaRPr lang="en-US" sz="1050" dirty="0"/>
          </a:p>
          <a:p>
            <a:pPr indent="0" marL="0">
              <a:lnSpc>
                <a:spcPct val="102000"/>
              </a:lnSpc>
              <a:buNone/>
            </a:pPr>
            <a:endParaRPr lang="en-US" sz="1050" dirty="0"/>
          </a:p>
          <a:p>
            <a:pPr indent="0" marL="0">
              <a:lnSpc>
                <a:spcPct val="102000"/>
              </a:lnSpc>
              <a:buNone/>
            </a:pPr>
            <a:r>
              <a:rPr lang="en-US" sz="1050" dirty="0">
                <a:solidFill>
                  <a:srgbClr val="D8D2EE"/>
                </a:solidFill>
                <a:latin typeface="Courier New" pitchFamily="34" charset="0"/>
                <a:ea typeface="Courier New" pitchFamily="34" charset="-122"/>
                <a:cs typeface="Courier New" pitchFamily="34" charset="-120"/>
              </a:rPr>
              <a:t>    return _limpar_html(html, max_chars)</a:t>
            </a:r>
            <a:endParaRPr lang="en-US" sz="105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REGRA DE DECISÃO</a:t>
            </a:r>
            <a:endParaRPr lang="en-US" sz="1100" dirty="0"/>
          </a:p>
        </p:txBody>
      </p:sp>
      <p:sp>
        <p:nvSpPr>
          <p:cNvPr id="3" name="Text 1"/>
          <p:cNvSpPr/>
          <p:nvPr/>
        </p:nvSpPr>
        <p:spPr>
          <a:xfrm>
            <a:off x="640080" y="676656"/>
            <a:ext cx="10881360" cy="1162304"/>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Quatro ferramentas parecidas exigem ordem explícita</a:t>
            </a:r>
            <a:endParaRPr lang="en-US" sz="34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40080" y="2094992"/>
          <a:ext cx="10881360" cy="914400"/>
        </p:xfrm>
        <a:graphic>
          <a:graphicData uri="http://schemas.openxmlformats.org/drawingml/2006/table">
            <a:tbl>
              <a:tblPr/>
              <a:tblGrid>
                <a:gridCol w="4937760"/>
                <a:gridCol w="3108960"/>
                <a:gridCol w="2834640"/>
              </a:tblGrid>
              <a:tr h="31089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Situação</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Ferramenta</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Custo típico</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A resposta está nos documentos locais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buscar_documentos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milissegundos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Preciso de informação pública e atual</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buscar_web</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1 a 3 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Preciso do texto completo de uma URL</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ler_pagina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0,5 a 2 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A página só carrega com JavaScript</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ler_pagina_dinamica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5 a 15 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bl>
          </a:graphicData>
        </a:graphic>
      </p:graphicFrame>
      <p:sp>
        <p:nvSpPr>
          <p:cNvPr id="6" name="Text 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7"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71326"/>
        </a:solidFill>
      </p:bgPr>
    </p:bg>
    <p:spTree>
      <p:nvGrpSpPr>
        <p:cNvPr id="1" name=""/>
        <p:cNvGrpSpPr/>
        <p:nvPr/>
      </p:nvGrpSpPr>
      <p:grpSpPr>
        <a:xfrm>
          <a:off x="0" y="0"/>
          <a:ext cx="0" cy="0"/>
          <a:chOff x="0" y="0"/>
          <a:chExt cx="0" cy="0"/>
        </a:xfrm>
      </p:grpSpPr>
      <p:sp>
        <p:nvSpPr>
          <p:cNvPr id="2" name="Text 0"/>
          <p:cNvSpPr/>
          <p:nvPr/>
        </p:nvSpPr>
        <p:spPr>
          <a:xfrm>
            <a:off x="640080" y="1280160"/>
            <a:ext cx="10881360" cy="320040"/>
          </a:xfrm>
          <a:prstGeom prst="rect">
            <a:avLst/>
          </a:prstGeom>
          <a:noFill/>
          <a:ln/>
        </p:spPr>
        <p:txBody>
          <a:bodyPr wrap="square" lIns="0" tIns="0" rIns="0" bIns="0" rtlCol="0" anchor="t"/>
          <a:lstStyle/>
          <a:p>
            <a:pPr indent="0" marL="0">
              <a:buNone/>
            </a:pPr>
            <a:r>
              <a:rPr lang="en-US" sz="1200" b="1" spc="120" kern="0" dirty="0">
                <a:solidFill>
                  <a:srgbClr val="E8933A"/>
                </a:solidFill>
                <a:latin typeface="Calibri" pitchFamily="34" charset="0"/>
                <a:ea typeface="Calibri" pitchFamily="34" charset="-122"/>
                <a:cs typeface="Calibri" pitchFamily="34" charset="-120"/>
              </a:rPr>
              <a:t>O QUE ESTE BLOCO COMPROU</a:t>
            </a:r>
            <a:endParaRPr lang="en-US" sz="1200" dirty="0"/>
          </a:p>
        </p:txBody>
      </p:sp>
      <p:sp>
        <p:nvSpPr>
          <p:cNvPr id="3" name="Text 1"/>
          <p:cNvSpPr/>
          <p:nvPr/>
        </p:nvSpPr>
        <p:spPr>
          <a:xfrm>
            <a:off x="640080" y="1783080"/>
            <a:ext cx="10881360" cy="1325880"/>
          </a:xfrm>
          <a:prstGeom prst="rect">
            <a:avLst/>
          </a:prstGeom>
          <a:noFill/>
          <a:ln/>
        </p:spPr>
        <p:txBody>
          <a:bodyPr wrap="square" lIns="0" tIns="0" rIns="0" bIns="0" rtlCol="0" anchor="t"/>
          <a:lstStyle/>
          <a:p>
            <a:pPr indent="0" marL="0">
              <a:lnSpc>
                <a:spcPct val="112000"/>
              </a:lnSpc>
              <a:buNone/>
            </a:pPr>
            <a:r>
              <a:rPr lang="en-US" sz="3600" b="1" dirty="0">
                <a:solidFill>
                  <a:srgbClr val="EDEAF5"/>
                </a:solidFill>
                <a:latin typeface="Cambria" pitchFamily="34" charset="0"/>
                <a:ea typeface="Cambria" pitchFamily="34" charset="-122"/>
                <a:cs typeface="Cambria" pitchFamily="34" charset="-120"/>
              </a:rPr>
              <a:t>Três capacidades novas. Zero mudança no grafo.</a:t>
            </a:r>
            <a:endParaRPr lang="en-US" sz="3600" dirty="0"/>
          </a:p>
        </p:txBody>
      </p:sp>
      <p:sp>
        <p:nvSpPr>
          <p:cNvPr id="4" name="Text 2"/>
          <p:cNvSpPr/>
          <p:nvPr/>
        </p:nvSpPr>
        <p:spPr>
          <a:xfrm>
            <a:off x="640080" y="3520440"/>
            <a:ext cx="10149840" cy="2514600"/>
          </a:xfrm>
          <a:prstGeom prst="rect">
            <a:avLst/>
          </a:prstGeom>
          <a:noFill/>
          <a:ln/>
        </p:spPr>
        <p:txBody>
          <a:bodyPr wrap="square" lIns="0" tIns="0" rIns="0" bIns="0" rtlCol="0" anchor="t"/>
          <a:lstStyle/>
          <a:p>
            <a:pPr indent="0" marL="0">
              <a:lnSpc>
                <a:spcPct val="118000"/>
              </a:lnSpc>
              <a:buNone/>
            </a:pPr>
            <a:r>
              <a:rPr lang="en-US" sz="1600" dirty="0">
                <a:solidFill>
                  <a:srgbClr val="A79FC4"/>
                </a:solidFill>
                <a:latin typeface="Calibri" pitchFamily="34" charset="0"/>
                <a:ea typeface="Calibri" pitchFamily="34" charset="-122"/>
                <a:cs typeface="Calibri" pitchFamily="34" charset="-120"/>
              </a:rPr>
              <a:t>As ferramentas entram na mesma lista, o ToolNode as executa igual, a topologia continua idêntica. Esse desacoplamento entre o que o agente PODE FAZER e como ele DECIDE é o que faz o LangGraph valer o custo de aprendê-lo.</a:t>
            </a:r>
            <a:endParaRPr lang="en-US" sz="1600" dirty="0"/>
          </a:p>
        </p:txBody>
      </p:sp>
      <p:sp>
        <p:nvSpPr>
          <p:cNvPr id="6"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A79FC4"/>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4C3A8C"/>
        </a:solidFill>
      </p:bgPr>
    </p:bg>
    <p:spTree>
      <p:nvGrpSpPr>
        <p:cNvPr id="1" name=""/>
        <p:cNvGrpSpPr/>
        <p:nvPr/>
      </p:nvGrpSpPr>
      <p:grpSpPr>
        <a:xfrm>
          <a:off x="0" y="0"/>
          <a:ext cx="0" cy="0"/>
          <a:chOff x="0" y="0"/>
          <a:chExt cx="0" cy="0"/>
        </a:xfrm>
      </p:grpSpPr>
      <p:sp>
        <p:nvSpPr>
          <p:cNvPr id="2" name="Text 0"/>
          <p:cNvSpPr/>
          <p:nvPr/>
        </p:nvSpPr>
        <p:spPr>
          <a:xfrm>
            <a:off x="640080" y="1920240"/>
            <a:ext cx="1828800" cy="1280160"/>
          </a:xfrm>
          <a:prstGeom prst="rect">
            <a:avLst/>
          </a:prstGeom>
          <a:noFill/>
          <a:ln/>
        </p:spPr>
        <p:txBody>
          <a:bodyPr wrap="square" lIns="0" tIns="0" rIns="0" bIns="0" rtlCol="0" anchor="ctr"/>
          <a:lstStyle/>
          <a:p>
            <a:pPr indent="0" marL="0">
              <a:buNone/>
            </a:pPr>
            <a:r>
              <a:rPr lang="en-US" sz="7200" b="1" dirty="0">
                <a:solidFill>
                  <a:srgbClr val="E8933A"/>
                </a:solidFill>
                <a:latin typeface="Cambria" pitchFamily="34" charset="0"/>
                <a:ea typeface="Cambria" pitchFamily="34" charset="-122"/>
                <a:cs typeface="Cambria" pitchFamily="34" charset="-120"/>
              </a:rPr>
              <a:t>07</a:t>
            </a:r>
            <a:endParaRPr lang="en-US" sz="7200" dirty="0"/>
          </a:p>
        </p:txBody>
      </p:sp>
      <p:sp>
        <p:nvSpPr>
          <p:cNvPr id="3" name="Text 1"/>
          <p:cNvSpPr/>
          <p:nvPr/>
        </p:nvSpPr>
        <p:spPr>
          <a:xfrm>
            <a:off x="2560320" y="2057400"/>
            <a:ext cx="91440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Aprovação humana</a:t>
            </a:r>
            <a:endParaRPr lang="en-US" sz="4000" dirty="0"/>
          </a:p>
        </p:txBody>
      </p:sp>
      <p:sp>
        <p:nvSpPr>
          <p:cNvPr id="4" name="Text 2"/>
          <p:cNvSpPr/>
          <p:nvPr/>
        </p:nvSpPr>
        <p:spPr>
          <a:xfrm>
            <a:off x="2560320" y="3200400"/>
            <a:ext cx="9144000" cy="1097280"/>
          </a:xfrm>
          <a:prstGeom prst="rect">
            <a:avLst/>
          </a:prstGeom>
          <a:noFill/>
          <a:ln/>
        </p:spPr>
        <p:txBody>
          <a:bodyPr wrap="square" lIns="0" tIns="0" rIns="0" bIns="0" rtlCol="0" anchor="ctr"/>
          <a:lstStyle/>
          <a:p>
            <a:pPr indent="0" marL="0">
              <a:buNone/>
            </a:pPr>
            <a:r>
              <a:rPr lang="en-US" sz="1700" dirty="0">
                <a:solidFill>
                  <a:srgbClr val="E4DEF7"/>
                </a:solidFill>
                <a:latin typeface="Calibri" pitchFamily="34" charset="0"/>
                <a:ea typeface="Calibri" pitchFamily="34" charset="-122"/>
                <a:cs typeface="Calibri" pitchFamily="34" charset="-120"/>
              </a:rPr>
              <a:t>Salvar arquivo sem confirmação é dar sudo ao modelo.</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CRITÉRIO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O que exige aprovação humana</a:t>
            </a:r>
            <a:endParaRPr lang="en-US" sz="3400" dirty="0"/>
          </a:p>
        </p:txBody>
      </p:sp>
      <p:sp>
        <p:nvSpPr>
          <p:cNvPr id="4" name="Shape 2"/>
          <p:cNvSpPr/>
          <p:nvPr/>
        </p:nvSpPr>
        <p:spPr>
          <a:xfrm>
            <a:off x="640080" y="1737360"/>
            <a:ext cx="3432048" cy="4206240"/>
          </a:xfrm>
          <a:prstGeom prst="roundRect">
            <a:avLst>
              <a:gd name="adj" fmla="val 2664"/>
            </a:avLst>
          </a:prstGeom>
          <a:solidFill>
            <a:srgbClr val="F2F0F7"/>
          </a:solidFill>
          <a:ln/>
        </p:spPr>
      </p:sp>
      <p:sp>
        <p:nvSpPr>
          <p:cNvPr id="5" name="Shape 3"/>
          <p:cNvSpPr/>
          <p:nvPr/>
        </p:nvSpPr>
        <p:spPr>
          <a:xfrm>
            <a:off x="841248" y="1938528"/>
            <a:ext cx="329184" cy="329184"/>
          </a:xfrm>
          <a:prstGeom prst="roundRect">
            <a:avLst>
              <a:gd name="adj" fmla="val 19444"/>
            </a:avLst>
          </a:prstGeom>
          <a:solidFill>
            <a:srgbClr val="4C3A8C"/>
          </a:solidFill>
          <a:ln/>
        </p:spPr>
      </p:sp>
      <p:sp>
        <p:nvSpPr>
          <p:cNvPr id="6" name="Text 4"/>
          <p:cNvSpPr/>
          <p:nvPr/>
        </p:nvSpPr>
        <p:spPr>
          <a:xfrm>
            <a:off x="841248"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Irreversível</a:t>
            </a:r>
            <a:endParaRPr lang="en-US" sz="1500" dirty="0"/>
          </a:p>
        </p:txBody>
      </p:sp>
      <p:sp>
        <p:nvSpPr>
          <p:cNvPr id="8" name="Text 6"/>
          <p:cNvSpPr/>
          <p:nvPr/>
        </p:nvSpPr>
        <p:spPr>
          <a:xfrm>
            <a:off x="841248"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Apagar, sobrescrever, enviar mensagem, publicar. Se desfazer é caro ou impossível, pare e pergunte.</a:t>
            </a:r>
            <a:endParaRPr lang="en-US" sz="1250" dirty="0"/>
          </a:p>
        </p:txBody>
      </p:sp>
      <p:sp>
        <p:nvSpPr>
          <p:cNvPr id="9" name="Shape 7"/>
          <p:cNvSpPr/>
          <p:nvPr/>
        </p:nvSpPr>
        <p:spPr>
          <a:xfrm>
            <a:off x="4364736" y="1737360"/>
            <a:ext cx="3432048" cy="4206240"/>
          </a:xfrm>
          <a:prstGeom prst="roundRect">
            <a:avLst>
              <a:gd name="adj" fmla="val 2664"/>
            </a:avLst>
          </a:prstGeom>
          <a:solidFill>
            <a:srgbClr val="F2F0F7"/>
          </a:solidFill>
          <a:ln/>
        </p:spPr>
      </p:sp>
      <p:sp>
        <p:nvSpPr>
          <p:cNvPr id="10" name="Shape 8"/>
          <p:cNvSpPr/>
          <p:nvPr/>
        </p:nvSpPr>
        <p:spPr>
          <a:xfrm>
            <a:off x="4565904" y="1938528"/>
            <a:ext cx="329184" cy="329184"/>
          </a:xfrm>
          <a:prstGeom prst="roundRect">
            <a:avLst>
              <a:gd name="adj" fmla="val 19444"/>
            </a:avLst>
          </a:prstGeom>
          <a:solidFill>
            <a:srgbClr val="4C3A8C"/>
          </a:solidFill>
          <a:ln/>
        </p:spPr>
      </p:sp>
      <p:sp>
        <p:nvSpPr>
          <p:cNvPr id="11" name="Text 9"/>
          <p:cNvSpPr/>
          <p:nvPr/>
        </p:nvSpPr>
        <p:spPr>
          <a:xfrm>
            <a:off x="4565904"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986528"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Custa dinheiro</a:t>
            </a:r>
            <a:endParaRPr lang="en-US" sz="1500" dirty="0"/>
          </a:p>
        </p:txBody>
      </p:sp>
      <p:sp>
        <p:nvSpPr>
          <p:cNvPr id="13" name="Text 11"/>
          <p:cNvSpPr/>
          <p:nvPr/>
        </p:nvSpPr>
        <p:spPr>
          <a:xfrm>
            <a:off x="4565904"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Compra, chamada de API cara, provisionamento de recurso. O agente não tem noção de orçamento.</a:t>
            </a:r>
            <a:endParaRPr lang="en-US" sz="1250" dirty="0"/>
          </a:p>
        </p:txBody>
      </p:sp>
      <p:sp>
        <p:nvSpPr>
          <p:cNvPr id="14" name="Shape 12"/>
          <p:cNvSpPr/>
          <p:nvPr/>
        </p:nvSpPr>
        <p:spPr>
          <a:xfrm>
            <a:off x="8089392" y="1737360"/>
            <a:ext cx="3432048" cy="4206240"/>
          </a:xfrm>
          <a:prstGeom prst="roundRect">
            <a:avLst>
              <a:gd name="adj" fmla="val 2664"/>
            </a:avLst>
          </a:prstGeom>
          <a:solidFill>
            <a:srgbClr val="F2F0F7"/>
          </a:solidFill>
          <a:ln/>
        </p:spPr>
      </p:sp>
      <p:sp>
        <p:nvSpPr>
          <p:cNvPr id="15" name="Shape 13"/>
          <p:cNvSpPr/>
          <p:nvPr/>
        </p:nvSpPr>
        <p:spPr>
          <a:xfrm>
            <a:off x="8290560" y="1938528"/>
            <a:ext cx="329184" cy="329184"/>
          </a:xfrm>
          <a:prstGeom prst="roundRect">
            <a:avLst>
              <a:gd name="adj" fmla="val 19444"/>
            </a:avLst>
          </a:prstGeom>
          <a:solidFill>
            <a:srgbClr val="E8933A"/>
          </a:solidFill>
          <a:ln/>
        </p:spPr>
      </p:sp>
      <p:sp>
        <p:nvSpPr>
          <p:cNvPr id="16" name="Text 14"/>
          <p:cNvSpPr/>
          <p:nvPr/>
        </p:nvSpPr>
        <p:spPr>
          <a:xfrm>
            <a:off x="829056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711184" y="1920240"/>
            <a:ext cx="2609088" cy="384048"/>
          </a:xfrm>
          <a:prstGeom prst="rect">
            <a:avLst/>
          </a:prstGeom>
          <a:noFill/>
          <a:ln/>
        </p:spPr>
        <p:txBody>
          <a:bodyPr wrap="square" lIns="0" tIns="0" rIns="0" bIns="0" rtlCol="0" anchor="ctr"/>
          <a:lstStyle/>
          <a:p>
            <a:pPr indent="0" marL="0">
              <a:buNone/>
            </a:pPr>
            <a:r>
              <a:rPr lang="en-US" sz="1500" b="1" dirty="0">
                <a:solidFill>
                  <a:srgbClr val="1A1725"/>
                </a:solidFill>
                <a:latin typeface="Calibri" pitchFamily="34" charset="0"/>
                <a:ea typeface="Calibri" pitchFamily="34" charset="-122"/>
                <a:cs typeface="Calibri" pitchFamily="34" charset="-120"/>
              </a:rPr>
              <a:t>Sai da organização</a:t>
            </a:r>
            <a:endParaRPr lang="en-US" sz="1500" dirty="0"/>
          </a:p>
        </p:txBody>
      </p:sp>
      <p:sp>
        <p:nvSpPr>
          <p:cNvPr id="18" name="Text 16"/>
          <p:cNvSpPr/>
          <p:nvPr/>
        </p:nvSpPr>
        <p:spPr>
          <a:xfrm>
            <a:off x="8290560" y="2395728"/>
            <a:ext cx="3029712" cy="3364992"/>
          </a:xfrm>
          <a:prstGeom prst="rect">
            <a:avLst/>
          </a:prstGeom>
          <a:noFill/>
          <a:ln/>
        </p:spPr>
        <p:txBody>
          <a:bodyPr wrap="square" lIns="0" tIns="0" rIns="0" bIns="0" rtlCol="0" anchor="t"/>
          <a:lstStyle/>
          <a:p>
            <a:pPr indent="0" marL="0">
              <a:lnSpc>
                <a:spcPct val="110000"/>
              </a:lnSpc>
              <a:buNone/>
            </a:pPr>
            <a:r>
              <a:rPr lang="en-US" sz="1250" dirty="0">
                <a:solidFill>
                  <a:srgbClr val="6B6580"/>
                </a:solidFill>
                <a:latin typeface="Calibri" pitchFamily="34" charset="0"/>
                <a:ea typeface="Calibri" pitchFamily="34" charset="-122"/>
                <a:cs typeface="Calibri" pitchFamily="34" charset="-120"/>
              </a:rPr>
              <a:t>E-mail para cliente, post público, commit em repositório de terceiro. O erro vira dano de reputação.</a:t>
            </a:r>
            <a:endParaRPr lang="en-US" sz="1250" dirty="0"/>
          </a:p>
        </p:txBody>
      </p:sp>
      <p:sp>
        <p:nvSpPr>
          <p:cNvPr id="20" name="Text 1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1" name="Text 1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INTERRUPÇÃO ESTÁTICA</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Parar antes de um nó</a:t>
            </a:r>
            <a:endParaRPr lang="en-US" sz="3400" dirty="0"/>
          </a:p>
        </p:txBody>
      </p:sp>
      <p:sp>
        <p:nvSpPr>
          <p:cNvPr id="4" name="Text 2"/>
          <p:cNvSpPr/>
          <p:nvPr/>
        </p:nvSpPr>
        <p:spPr>
          <a:xfrm>
            <a:off x="640080" y="1691640"/>
            <a:ext cx="4114800" cy="795528"/>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A forma mais simples: declarar na compilação que o grafo deve parar antes de determinado nó.</a:t>
            </a:r>
            <a:endParaRPr lang="en-US" sz="1400" dirty="0"/>
          </a:p>
        </p:txBody>
      </p:sp>
      <p:sp>
        <p:nvSpPr>
          <p:cNvPr id="5" name="Shape 3"/>
          <p:cNvSpPr/>
          <p:nvPr/>
        </p:nvSpPr>
        <p:spPr>
          <a:xfrm>
            <a:off x="640080" y="2761488"/>
            <a:ext cx="4114800" cy="3227832"/>
          </a:xfrm>
          <a:prstGeom prst="roundRect">
            <a:avLst>
              <a:gd name="adj" fmla="val 2833"/>
            </a:avLst>
          </a:prstGeom>
          <a:solidFill>
            <a:srgbClr val="F2F0F7"/>
          </a:solidFill>
          <a:ln/>
        </p:spPr>
      </p:sp>
      <p:sp>
        <p:nvSpPr>
          <p:cNvPr id="6" name="Text 4"/>
          <p:cNvSpPr/>
          <p:nvPr/>
        </p:nvSpPr>
        <p:spPr>
          <a:xfrm>
            <a:off x="859536" y="2907792"/>
            <a:ext cx="3675888" cy="2935224"/>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invoke(None, config) é o idioma de retomada: sem entrada nova, continue de onde parou.</a:t>
            </a:r>
            <a:endParaRPr lang="en-US" sz="1250" dirty="0"/>
          </a:p>
          <a:p>
            <a:pPr indent="0" marL="0">
              <a:lnSpc>
                <a:spcPct val="110000"/>
              </a:lnSpc>
              <a:buNone/>
            </a:pPr>
            <a:endParaRPr lang="en-US" sz="1250" dirty="0"/>
          </a:p>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O processo pode morrer entre o pedido e a resposta. A retomada funciona porque o estado está no banco, e não na memória.</a:t>
            </a:r>
            <a:endParaRPr lang="en-US" sz="1250" dirty="0"/>
          </a:p>
        </p:txBody>
      </p:sp>
      <p:sp>
        <p:nvSpPr>
          <p:cNvPr id="7" name="Shape 5"/>
          <p:cNvSpPr/>
          <p:nvPr/>
        </p:nvSpPr>
        <p:spPr>
          <a:xfrm>
            <a:off x="5120640" y="1691640"/>
            <a:ext cx="6400800" cy="4297680"/>
          </a:xfrm>
          <a:prstGeom prst="roundRect">
            <a:avLst>
              <a:gd name="adj" fmla="val 2128"/>
            </a:avLst>
          </a:prstGeom>
          <a:solidFill>
            <a:srgbClr val="0F0C1A"/>
          </a:solidFill>
          <a:ln/>
        </p:spPr>
      </p:sp>
      <p:sp>
        <p:nvSpPr>
          <p:cNvPr id="8" name="Text 6"/>
          <p:cNvSpPr/>
          <p:nvPr/>
        </p:nvSpPr>
        <p:spPr>
          <a:xfrm>
            <a:off x="5321808" y="1828800"/>
            <a:ext cx="5998464" cy="4023360"/>
          </a:xfrm>
          <a:prstGeom prst="rect">
            <a:avLst/>
          </a:prstGeom>
          <a:noFill/>
          <a:ln/>
        </p:spPr>
        <p:txBody>
          <a:bodyPr wrap="square" lIns="0" tIns="0" rIns="0" bIns="0" rtlCol="0" anchor="t"/>
          <a:lstStyle/>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grafo = construtor.compile(</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checkpointer=memoria,</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interrupt_before=["ferramentas"],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grafo.invoke(entrada, config)      # para antes</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estado = grafo.get_state(config)</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chamadas = estado.values["messages"][-1].tool_calls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print("vai executar:", chamadas)</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if input("aprovar? [s/n] ") == "s":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grafo.invoke(None, config)     # continua</a:t>
            </a:r>
            <a:endParaRPr lang="en-US" sz="115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INTERRUPÇÃO DINÂMICA</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interrupt: pausar de dentro de um nó</a:t>
            </a:r>
            <a:endParaRPr lang="en-US" sz="3400" dirty="0"/>
          </a:p>
        </p:txBody>
      </p:sp>
      <p:sp>
        <p:nvSpPr>
          <p:cNvPr id="4" name="Text 2"/>
          <p:cNvSpPr/>
          <p:nvPr/>
        </p:nvSpPr>
        <p:spPr>
          <a:xfrm>
            <a:off x="640080" y="1691640"/>
            <a:ext cx="3931920" cy="560832"/>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Mais expressivo: o nó decide quando pausar e devolve dados para quem vai decidir.</a:t>
            </a:r>
            <a:endParaRPr lang="en-US" sz="1400" dirty="0"/>
          </a:p>
        </p:txBody>
      </p:sp>
      <p:sp>
        <p:nvSpPr>
          <p:cNvPr id="5" name="Shape 3"/>
          <p:cNvSpPr/>
          <p:nvPr/>
        </p:nvSpPr>
        <p:spPr>
          <a:xfrm>
            <a:off x="640080" y="2526792"/>
            <a:ext cx="3931920" cy="3462528"/>
          </a:xfrm>
          <a:prstGeom prst="roundRect">
            <a:avLst>
              <a:gd name="adj" fmla="val 2641"/>
            </a:avLst>
          </a:prstGeom>
          <a:solidFill>
            <a:srgbClr val="F2F0F7"/>
          </a:solidFill>
          <a:ln/>
        </p:spPr>
      </p:sp>
      <p:sp>
        <p:nvSpPr>
          <p:cNvPr id="6" name="Text 4"/>
          <p:cNvSpPr/>
          <p:nvPr/>
        </p:nvSpPr>
        <p:spPr>
          <a:xfrm>
            <a:off x="859536" y="2673096"/>
            <a:ext cx="3493008" cy="3169920"/>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O interrupt congela o grafo no checkpoint e devolve o payload para o chamador.</a:t>
            </a:r>
            <a:endParaRPr lang="en-US" sz="1250" dirty="0"/>
          </a:p>
          <a:p>
            <a:pPr indent="0" marL="0">
              <a:lnSpc>
                <a:spcPct val="110000"/>
              </a:lnSpc>
              <a:buNone/>
            </a:pPr>
            <a:endParaRPr lang="en-US" sz="1250" dirty="0"/>
          </a:p>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O retorno de interrupt() é exatamente o valor passado em Command(resume=...). Trate a recusa devolvendo um ToolMessage que explique o motivo: o modelo precisa saber que foi recusado, e por quê.</a:t>
            </a:r>
            <a:endParaRPr lang="en-US" sz="1250" dirty="0"/>
          </a:p>
        </p:txBody>
      </p:sp>
      <p:sp>
        <p:nvSpPr>
          <p:cNvPr id="7" name="Shape 5"/>
          <p:cNvSpPr/>
          <p:nvPr/>
        </p:nvSpPr>
        <p:spPr>
          <a:xfrm>
            <a:off x="4937760" y="1691640"/>
            <a:ext cx="6583680" cy="4297680"/>
          </a:xfrm>
          <a:prstGeom prst="roundRect">
            <a:avLst>
              <a:gd name="adj" fmla="val 2128"/>
            </a:avLst>
          </a:prstGeom>
          <a:solidFill>
            <a:srgbClr val="0F0C1A"/>
          </a:solidFill>
          <a:ln/>
        </p:spPr>
      </p:sp>
      <p:sp>
        <p:nvSpPr>
          <p:cNvPr id="8" name="Text 6"/>
          <p:cNvSpPr/>
          <p:nvPr/>
        </p:nvSpPr>
        <p:spPr>
          <a:xfrm>
            <a:off x="5138928" y="1828800"/>
            <a:ext cx="6181344" cy="4023360"/>
          </a:xfrm>
          <a:prstGeom prst="rect">
            <a:avLst/>
          </a:prstGeom>
          <a:noFill/>
          <a:ln/>
        </p:spPr>
        <p:txBody>
          <a:bodyPr wrap="square" lIns="0" tIns="0" rIns="0" bIns="0" rtlCol="0" anchor="t"/>
          <a:lstStyle/>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from langgraph.types import interrupt, Command</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def no_aprovacao(estado: Estado) -&gt; dict:</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ch = estado["messages"][-1].tool_calls[0]</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decisao = interrupt({</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"pergunta": "Posso executar esta acao?",</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"ferramenta": ch["name"],</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"argumentos": ch["args"],</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if decisao == "nao":</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return {"messages": [ToolMessage(</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content="Usuario recusou. Explique e "</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"proponha alternativa.",</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tool_call_id=ch["id"])]}</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return {}</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retomando:</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grafo.invoke(Command(resume="sim"), config)</a:t>
            </a:r>
            <a:endParaRPr lang="en-US" sz="115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71326"/>
        </a:solidFill>
      </p:bgPr>
    </p:bg>
    <p:spTree>
      <p:nvGrpSpPr>
        <p:cNvPr id="1" name=""/>
        <p:cNvGrpSpPr/>
        <p:nvPr/>
      </p:nvGrpSpPr>
      <p:grpSpPr>
        <a:xfrm>
          <a:off x="0" y="0"/>
          <a:ext cx="0" cy="0"/>
          <a:chOff x="0" y="0"/>
          <a:chExt cx="0" cy="0"/>
        </a:xfrm>
      </p:grpSpPr>
      <p:sp>
        <p:nvSpPr>
          <p:cNvPr id="2" name="Text 0"/>
          <p:cNvSpPr/>
          <p:nvPr/>
        </p:nvSpPr>
        <p:spPr>
          <a:xfrm>
            <a:off x="640080" y="1280160"/>
            <a:ext cx="10881360" cy="320040"/>
          </a:xfrm>
          <a:prstGeom prst="rect">
            <a:avLst/>
          </a:prstGeom>
          <a:noFill/>
          <a:ln/>
        </p:spPr>
        <p:txBody>
          <a:bodyPr wrap="square" lIns="0" tIns="0" rIns="0" bIns="0" rtlCol="0" anchor="t"/>
          <a:lstStyle/>
          <a:p>
            <a:pPr indent="0" marL="0">
              <a:buNone/>
            </a:pPr>
            <a:r>
              <a:rPr lang="en-US" sz="1200" b="1" spc="120" kern="0" dirty="0">
                <a:solidFill>
                  <a:srgbClr val="E8933A"/>
                </a:solidFill>
                <a:latin typeface="Calibri" pitchFamily="34" charset="0"/>
                <a:ea typeface="Calibri" pitchFamily="34" charset="-122"/>
                <a:cs typeface="Calibri" pitchFamily="34" charset="-120"/>
              </a:rPr>
              <a:t>O ERRO QUE METADE DAS TURMAS COMETE</a:t>
            </a:r>
            <a:endParaRPr lang="en-US" sz="1200" dirty="0"/>
          </a:p>
        </p:txBody>
      </p:sp>
      <p:sp>
        <p:nvSpPr>
          <p:cNvPr id="3" name="Text 1"/>
          <p:cNvSpPr/>
          <p:nvPr/>
        </p:nvSpPr>
        <p:spPr>
          <a:xfrm>
            <a:off x="640080" y="1783080"/>
            <a:ext cx="10881360" cy="731520"/>
          </a:xfrm>
          <a:prstGeom prst="rect">
            <a:avLst/>
          </a:prstGeom>
          <a:noFill/>
          <a:ln/>
        </p:spPr>
        <p:txBody>
          <a:bodyPr wrap="square" lIns="0" tIns="0" rIns="0" bIns="0" rtlCol="0" anchor="t"/>
          <a:lstStyle/>
          <a:p>
            <a:pPr indent="0" marL="0">
              <a:lnSpc>
                <a:spcPct val="112000"/>
              </a:lnSpc>
              <a:buNone/>
            </a:pPr>
            <a:r>
              <a:rPr lang="en-US" sz="3600" b="1" dirty="0">
                <a:solidFill>
                  <a:srgbClr val="EDEAF5"/>
                </a:solidFill>
                <a:latin typeface="Cambria" pitchFamily="34" charset="0"/>
                <a:ea typeface="Cambria" pitchFamily="34" charset="-122"/>
                <a:cs typeface="Cambria" pitchFamily="34" charset="-120"/>
              </a:rPr>
              <a:t>Implementar o sim e esquecer o não.</a:t>
            </a:r>
            <a:endParaRPr lang="en-US" sz="3600" dirty="0"/>
          </a:p>
        </p:txBody>
      </p:sp>
      <p:sp>
        <p:nvSpPr>
          <p:cNvPr id="4" name="Text 2"/>
          <p:cNvSpPr/>
          <p:nvPr/>
        </p:nvSpPr>
        <p:spPr>
          <a:xfrm>
            <a:off x="640080" y="2926080"/>
            <a:ext cx="10149840" cy="3108960"/>
          </a:xfrm>
          <a:prstGeom prst="rect">
            <a:avLst/>
          </a:prstGeom>
          <a:noFill/>
          <a:ln/>
        </p:spPr>
        <p:txBody>
          <a:bodyPr wrap="square" lIns="0" tIns="0" rIns="0" bIns="0" rtlCol="0" anchor="t"/>
          <a:lstStyle/>
          <a:p>
            <a:pPr indent="0" marL="0">
              <a:lnSpc>
                <a:spcPct val="118000"/>
              </a:lnSpc>
              <a:buNone/>
            </a:pPr>
            <a:r>
              <a:rPr lang="en-US" sz="1600" dirty="0">
                <a:solidFill>
                  <a:srgbClr val="A79FC4"/>
                </a:solidFill>
                <a:latin typeface="Calibri" pitchFamily="34" charset="0"/>
                <a:ea typeface="Calibri" pitchFamily="34" charset="-122"/>
                <a:cs typeface="Calibri" pitchFamily="34" charset="-120"/>
              </a:rPr>
              <a:t>Quando o usuário recusa, o agente precisa saber que foi recusado, por quê, e o que fazer em seguida. Se você simplesmente não executa a ferramenta e devolve o controle, o modelo vê uma tool call sem resposta, fica confuso e tenta de novo. A recusa precisa virar uma observação no contexto, exatamente como um erro de ferramenta.</a:t>
            </a:r>
            <a:endParaRPr lang="en-US" sz="1600" dirty="0"/>
          </a:p>
        </p:txBody>
      </p:sp>
      <p:sp>
        <p:nvSpPr>
          <p:cNvPr id="6"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A79FC4"/>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ATUALIZAR E ROTEAR</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Command: as duas coisas de uma vez</a:t>
            </a:r>
            <a:endParaRPr lang="en-US" sz="3400" dirty="0"/>
          </a:p>
        </p:txBody>
      </p:sp>
      <p:sp>
        <p:nvSpPr>
          <p:cNvPr id="4" name="Text 2"/>
          <p:cNvSpPr/>
          <p:nvPr/>
        </p:nvSpPr>
        <p:spPr>
          <a:xfrm>
            <a:off x="640080" y="1691640"/>
            <a:ext cx="4297680" cy="795528"/>
          </a:xfrm>
          <a:prstGeom prst="rect">
            <a:avLst/>
          </a:prstGeom>
          <a:noFill/>
          <a:ln/>
        </p:spPr>
        <p:txBody>
          <a:bodyPr wrap="square" lIns="0" tIns="0" rIns="0" bIns="0" rtlCol="0" anchor="t"/>
          <a:lstStyle/>
          <a:p>
            <a:pPr indent="0" marL="0">
              <a:lnSpc>
                <a:spcPct val="115000"/>
              </a:lnSpc>
              <a:buNone/>
            </a:pPr>
            <a:r>
              <a:rPr lang="en-US" sz="1400" dirty="0">
                <a:solidFill>
                  <a:srgbClr val="1A1725"/>
                </a:solidFill>
                <a:latin typeface="Calibri" pitchFamily="34" charset="0"/>
                <a:ea typeface="Calibri" pitchFamily="34" charset="-122"/>
                <a:cs typeface="Calibri" pitchFamily="34" charset="-120"/>
              </a:rPr>
              <a:t>Quando um nó devolve Command, ele não precisa de conditional edge: o roteamento vem junto com a atualização do estado.</a:t>
            </a:r>
            <a:endParaRPr lang="en-US" sz="1400" dirty="0"/>
          </a:p>
        </p:txBody>
      </p:sp>
      <p:sp>
        <p:nvSpPr>
          <p:cNvPr id="5" name="Shape 3"/>
          <p:cNvSpPr/>
          <p:nvPr/>
        </p:nvSpPr>
        <p:spPr>
          <a:xfrm>
            <a:off x="640080" y="2761488"/>
            <a:ext cx="4297680" cy="3227832"/>
          </a:xfrm>
          <a:prstGeom prst="roundRect">
            <a:avLst>
              <a:gd name="adj" fmla="val 2833"/>
            </a:avLst>
          </a:prstGeom>
          <a:solidFill>
            <a:srgbClr val="F2F0F7"/>
          </a:solidFill>
          <a:ln/>
        </p:spPr>
      </p:sp>
      <p:sp>
        <p:nvSpPr>
          <p:cNvPr id="6" name="Text 4"/>
          <p:cNvSpPr/>
          <p:nvPr/>
        </p:nvSpPr>
        <p:spPr>
          <a:xfrm>
            <a:off x="859536" y="2907792"/>
            <a:ext cx="3858768" cy="2935224"/>
          </a:xfrm>
          <a:prstGeom prst="rect">
            <a:avLst/>
          </a:prstGeom>
          <a:noFill/>
          <a:ln/>
        </p:spPr>
        <p:txBody>
          <a:bodyPr wrap="square" lIns="0" tIns="0" rIns="0" bIns="0" rtlCol="0" anchor="t"/>
          <a:lstStyle/>
          <a:p>
            <a:pPr indent="0" marL="0">
              <a:lnSpc>
                <a:spcPct val="110000"/>
              </a:lnSpc>
              <a:buNone/>
            </a:pPr>
            <a:r>
              <a:rPr lang="en-US" sz="1250" dirty="0">
                <a:solidFill>
                  <a:srgbClr val="1A1725"/>
                </a:solidFill>
                <a:latin typeface="Calibri" pitchFamily="34" charset="0"/>
                <a:ea typeface="Calibri" pitchFamily="34" charset="-122"/>
                <a:cs typeface="Calibri" pitchFamily="34" charset="-120"/>
              </a:rPr>
              <a:t>Esta é a base do handoff entre agentes, que é o assunto de amanhã. Guarde o nome: Command com goto.</a:t>
            </a:r>
            <a:endParaRPr lang="en-US" sz="1250" dirty="0"/>
          </a:p>
        </p:txBody>
      </p:sp>
      <p:sp>
        <p:nvSpPr>
          <p:cNvPr id="7" name="Shape 5"/>
          <p:cNvSpPr/>
          <p:nvPr/>
        </p:nvSpPr>
        <p:spPr>
          <a:xfrm>
            <a:off x="5303520" y="1691640"/>
            <a:ext cx="6217920" cy="4297680"/>
          </a:xfrm>
          <a:prstGeom prst="roundRect">
            <a:avLst>
              <a:gd name="adj" fmla="val 2128"/>
            </a:avLst>
          </a:prstGeom>
          <a:solidFill>
            <a:srgbClr val="0F0C1A"/>
          </a:solidFill>
          <a:ln/>
        </p:spPr>
      </p:sp>
      <p:sp>
        <p:nvSpPr>
          <p:cNvPr id="8" name="Text 6"/>
          <p:cNvSpPr/>
          <p:nvPr/>
        </p:nvSpPr>
        <p:spPr>
          <a:xfrm>
            <a:off x="5504688" y="1828800"/>
            <a:ext cx="5815584" cy="4023360"/>
          </a:xfrm>
          <a:prstGeom prst="rect">
            <a:avLst/>
          </a:prstGeom>
          <a:noFill/>
          <a:ln/>
        </p:spPr>
        <p:txBody>
          <a:bodyPr wrap="square" lIns="0" tIns="0" rIns="0" bIns="0" rtlCol="0" anchor="t"/>
          <a:lstStyle/>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from langgraph.types import Command</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from typing import Literal</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def no_verificador(estado: Estado) -&gt; Command[</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Literal["agente", "redator"]]:</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if estado["tentativas"] &gt;= 3:</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return Command(</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update={"aviso": "limite atingido"},</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goto="redator")</a:t>
            </a:r>
            <a:endParaRPr lang="en-US" sz="1150" dirty="0"/>
          </a:p>
          <a:p>
            <a:pPr indent="0" marL="0">
              <a:lnSpc>
                <a:spcPct val="102000"/>
              </a:lnSpc>
              <a:buNone/>
            </a:pP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return Command(</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update={"tentativas": estado["tentativas"] + 1},</a:t>
            </a:r>
            <a:endParaRPr lang="en-US" sz="1150" dirty="0"/>
          </a:p>
          <a:p>
            <a:pPr indent="0" marL="0">
              <a:lnSpc>
                <a:spcPct val="102000"/>
              </a:lnSpc>
              <a:buNone/>
            </a:pPr>
            <a:r>
              <a:rPr lang="en-US" sz="1150" dirty="0">
                <a:solidFill>
                  <a:srgbClr val="D8D2EE"/>
                </a:solidFill>
                <a:latin typeface="Courier New" pitchFamily="34" charset="0"/>
                <a:ea typeface="Courier New" pitchFamily="34" charset="-122"/>
                <a:cs typeface="Courier New" pitchFamily="34" charset="-120"/>
              </a:rPr>
              <a:t>        goto="agente")</a:t>
            </a:r>
            <a:endParaRPr lang="en-US" sz="1150" dirty="0"/>
          </a:p>
        </p:txBody>
      </p:sp>
      <p:sp>
        <p:nvSpPr>
          <p:cNvPr id="10" name="Text 7"/>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1" name="Text 8"/>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ENUNCIADO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Laboratório da tarde: o NEXUS com freio</a:t>
            </a:r>
            <a:endParaRPr lang="en-US" sz="3400" dirty="0"/>
          </a:p>
        </p:txBody>
      </p:sp>
      <p:sp>
        <p:nvSpPr>
          <p:cNvPr id="4" name="Shape 2"/>
          <p:cNvSpPr/>
          <p:nvPr/>
        </p:nvSpPr>
        <p:spPr>
          <a:xfrm>
            <a:off x="640080" y="1645920"/>
            <a:ext cx="384048" cy="384048"/>
          </a:xfrm>
          <a:prstGeom prst="roundRect">
            <a:avLst>
              <a:gd name="adj" fmla="val 19048"/>
            </a:avLst>
          </a:prstGeom>
          <a:solidFill>
            <a:srgbClr val="4C3A8C"/>
          </a:solidFill>
          <a:ln/>
        </p:spPr>
      </p:sp>
      <p:sp>
        <p:nvSpPr>
          <p:cNvPr id="5" name="Text 3"/>
          <p:cNvSpPr/>
          <p:nvPr/>
        </p:nvSpPr>
        <p:spPr>
          <a:xfrm>
            <a:off x="6400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1618488"/>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Adicionar salvar_relatorio como ferramenta</a:t>
            </a:r>
            <a:endParaRPr lang="en-US" sz="1600" dirty="0"/>
          </a:p>
        </p:txBody>
      </p:sp>
      <p:sp>
        <p:nvSpPr>
          <p:cNvPr id="7" name="Text 5"/>
          <p:cNvSpPr/>
          <p:nvPr/>
        </p:nvSpPr>
        <p:spPr>
          <a:xfrm>
            <a:off x="1234440" y="1975104"/>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Escreve em saida/. É a primeira ação irreversível do curso.</a:t>
            </a:r>
            <a:endParaRPr lang="en-US" sz="1350" dirty="0"/>
          </a:p>
        </p:txBody>
      </p:sp>
      <p:sp>
        <p:nvSpPr>
          <p:cNvPr id="8" name="Shape 6"/>
          <p:cNvSpPr/>
          <p:nvPr/>
        </p:nvSpPr>
        <p:spPr>
          <a:xfrm>
            <a:off x="640080" y="2478024"/>
            <a:ext cx="384048" cy="384048"/>
          </a:xfrm>
          <a:prstGeom prst="roundRect">
            <a:avLst>
              <a:gd name="adj" fmla="val 19048"/>
            </a:avLst>
          </a:prstGeom>
          <a:solidFill>
            <a:srgbClr val="4C3A8C"/>
          </a:solidFill>
          <a:ln/>
        </p:spPr>
      </p:sp>
      <p:sp>
        <p:nvSpPr>
          <p:cNvPr id="9" name="Text 7"/>
          <p:cNvSpPr/>
          <p:nvPr/>
        </p:nvSpPr>
        <p:spPr>
          <a:xfrm>
            <a:off x="64008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34440" y="2450592"/>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Registrar duas políticas de PreToolUse</a:t>
            </a:r>
            <a:endParaRPr lang="en-US" sz="1600" dirty="0"/>
          </a:p>
        </p:txBody>
      </p:sp>
      <p:sp>
        <p:nvSpPr>
          <p:cNvPr id="11" name="Text 9"/>
          <p:cNvSpPr/>
          <p:nvPr/>
        </p:nvSpPr>
        <p:spPr>
          <a:xfrm>
            <a:off x="1234440" y="2807208"/>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Uma que impede escrita fora de saida/ e outra à sua escolha. Com teste, sem LLM.</a:t>
            </a:r>
            <a:endParaRPr lang="en-US" sz="1350" dirty="0"/>
          </a:p>
        </p:txBody>
      </p:sp>
      <p:sp>
        <p:nvSpPr>
          <p:cNvPr id="12" name="Shape 10"/>
          <p:cNvSpPr/>
          <p:nvPr/>
        </p:nvSpPr>
        <p:spPr>
          <a:xfrm>
            <a:off x="640080" y="3310128"/>
            <a:ext cx="384048" cy="384048"/>
          </a:xfrm>
          <a:prstGeom prst="roundRect">
            <a:avLst>
              <a:gd name="adj" fmla="val 19048"/>
            </a:avLst>
          </a:prstGeom>
          <a:solidFill>
            <a:srgbClr val="4C3A8C"/>
          </a:solidFill>
          <a:ln/>
        </p:spPr>
      </p:sp>
      <p:sp>
        <p:nvSpPr>
          <p:cNvPr id="13" name="Text 11"/>
          <p:cNvSpPr/>
          <p:nvPr/>
        </p:nvSpPr>
        <p:spPr>
          <a:xfrm>
            <a:off x="640080"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34440" y="3282696"/>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Pausar antes de salvar e pedir aprovação</a:t>
            </a:r>
            <a:endParaRPr lang="en-US" sz="1600" dirty="0"/>
          </a:p>
        </p:txBody>
      </p:sp>
      <p:sp>
        <p:nvSpPr>
          <p:cNvPr id="15" name="Text 13"/>
          <p:cNvSpPr/>
          <p:nvPr/>
        </p:nvSpPr>
        <p:spPr>
          <a:xfrm>
            <a:off x="1234440" y="3639312"/>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Com interrupt, mostrando ao humano exatamente o que será escrito.</a:t>
            </a:r>
            <a:endParaRPr lang="en-US" sz="1350" dirty="0"/>
          </a:p>
        </p:txBody>
      </p:sp>
      <p:sp>
        <p:nvSpPr>
          <p:cNvPr id="16" name="Shape 14"/>
          <p:cNvSpPr/>
          <p:nvPr/>
        </p:nvSpPr>
        <p:spPr>
          <a:xfrm>
            <a:off x="640080" y="4142232"/>
            <a:ext cx="384048" cy="384048"/>
          </a:xfrm>
          <a:prstGeom prst="roundRect">
            <a:avLst>
              <a:gd name="adj" fmla="val 19048"/>
            </a:avLst>
          </a:prstGeom>
          <a:solidFill>
            <a:srgbClr val="4C3A8C"/>
          </a:solidFill>
          <a:ln/>
        </p:spPr>
      </p:sp>
      <p:sp>
        <p:nvSpPr>
          <p:cNvPr id="17" name="Text 15"/>
          <p:cNvSpPr/>
          <p:nvPr/>
        </p:nvSpPr>
        <p:spPr>
          <a:xfrm>
            <a:off x="640080" y="4142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234440" y="4114800"/>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Implementar o caminho do não</a:t>
            </a:r>
            <a:endParaRPr lang="en-US" sz="1600" dirty="0"/>
          </a:p>
        </p:txBody>
      </p:sp>
      <p:sp>
        <p:nvSpPr>
          <p:cNvPr id="19" name="Text 17"/>
          <p:cNvSpPr/>
          <p:nvPr/>
        </p:nvSpPr>
        <p:spPr>
          <a:xfrm>
            <a:off x="1234440" y="4471416"/>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A recusa vira ToolMessage com motivo, e o agente propõe alternativa.</a:t>
            </a:r>
            <a:endParaRPr lang="en-US" sz="1350" dirty="0"/>
          </a:p>
        </p:txBody>
      </p:sp>
      <p:sp>
        <p:nvSpPr>
          <p:cNvPr id="20" name="Shape 18"/>
          <p:cNvSpPr/>
          <p:nvPr/>
        </p:nvSpPr>
        <p:spPr>
          <a:xfrm>
            <a:off x="640080" y="4974336"/>
            <a:ext cx="384048" cy="384048"/>
          </a:xfrm>
          <a:prstGeom prst="roundRect">
            <a:avLst>
              <a:gd name="adj" fmla="val 19048"/>
            </a:avLst>
          </a:prstGeom>
          <a:solidFill>
            <a:srgbClr val="4C3A8C"/>
          </a:solidFill>
          <a:ln/>
        </p:spPr>
      </p:sp>
      <p:sp>
        <p:nvSpPr>
          <p:cNvPr id="21" name="Text 19"/>
          <p:cNvSpPr/>
          <p:nvPr/>
        </p:nvSpPr>
        <p:spPr>
          <a:xfrm>
            <a:off x="640080" y="4974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234440" y="4946904"/>
            <a:ext cx="10241280" cy="347472"/>
          </a:xfrm>
          <a:prstGeom prst="rect">
            <a:avLst/>
          </a:prstGeom>
          <a:noFill/>
          <a:ln/>
        </p:spPr>
        <p:txBody>
          <a:bodyPr wrap="square" lIns="0" tIns="0" rIns="0" bIns="0" rtlCol="0" anchor="t"/>
          <a:lstStyle/>
          <a:p>
            <a:pPr indent="0" marL="0">
              <a:buNone/>
            </a:pPr>
            <a:r>
              <a:rPr lang="en-US" sz="1600" b="1" dirty="0">
                <a:solidFill>
                  <a:srgbClr val="1A1725"/>
                </a:solidFill>
                <a:latin typeface="Calibri" pitchFamily="34" charset="0"/>
                <a:ea typeface="Calibri" pitchFamily="34" charset="-122"/>
                <a:cs typeface="Calibri" pitchFamily="34" charset="-120"/>
              </a:rPr>
              <a:t>Provar a retomada após queda</a:t>
            </a:r>
            <a:endParaRPr lang="en-US" sz="1600" dirty="0"/>
          </a:p>
        </p:txBody>
      </p:sp>
      <p:sp>
        <p:nvSpPr>
          <p:cNvPr id="23" name="Text 21"/>
          <p:cNvSpPr/>
          <p:nvPr/>
        </p:nvSpPr>
        <p:spPr>
          <a:xfrm>
            <a:off x="1234440" y="5303520"/>
            <a:ext cx="10241280" cy="304038"/>
          </a:xfrm>
          <a:prstGeom prst="rect">
            <a:avLst/>
          </a:prstGeom>
          <a:noFill/>
          <a:ln/>
        </p:spPr>
        <p:txBody>
          <a:bodyPr wrap="square" lIns="0" tIns="0" rIns="0" bIns="0" rtlCol="0" anchor="t"/>
          <a:lstStyle/>
          <a:p>
            <a:pPr indent="0" marL="0">
              <a:buNone/>
            </a:pPr>
            <a:r>
              <a:rPr lang="en-US" sz="1350" dirty="0">
                <a:solidFill>
                  <a:srgbClr val="6B6580"/>
                </a:solidFill>
                <a:latin typeface="Calibri" pitchFamily="34" charset="0"/>
                <a:ea typeface="Calibri" pitchFamily="34" charset="-122"/>
                <a:cs typeface="Calibri" pitchFamily="34" charset="-120"/>
              </a:rPr>
              <a:t>Pause, mate o processo, suba de novo e retome. Anote o que foi preciso para funcionar.</a:t>
            </a:r>
            <a:endParaRPr lang="en-US" sz="1350" dirty="0"/>
          </a:p>
        </p:txBody>
      </p:sp>
      <p:sp>
        <p:nvSpPr>
          <p:cNvPr id="25" name="Text 2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26" name="Text 2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4C3A8C"/>
        </a:solidFill>
      </p:bgPr>
    </p:bg>
    <p:spTree>
      <p:nvGrpSpPr>
        <p:cNvPr id="1" name=""/>
        <p:cNvGrpSpPr/>
        <p:nvPr/>
      </p:nvGrpSpPr>
      <p:grpSpPr>
        <a:xfrm>
          <a:off x="0" y="0"/>
          <a:ext cx="0" cy="0"/>
          <a:chOff x="0" y="0"/>
          <a:chExt cx="0" cy="0"/>
        </a:xfrm>
      </p:grpSpPr>
      <p:sp>
        <p:nvSpPr>
          <p:cNvPr id="2" name="Text 0"/>
          <p:cNvSpPr/>
          <p:nvPr/>
        </p:nvSpPr>
        <p:spPr>
          <a:xfrm>
            <a:off x="640080" y="1920240"/>
            <a:ext cx="1828800" cy="1280160"/>
          </a:xfrm>
          <a:prstGeom prst="rect">
            <a:avLst/>
          </a:prstGeom>
          <a:noFill/>
          <a:ln/>
        </p:spPr>
        <p:txBody>
          <a:bodyPr wrap="square" lIns="0" tIns="0" rIns="0" bIns="0" rtlCol="0" anchor="ctr"/>
          <a:lstStyle/>
          <a:p>
            <a:pPr indent="0" marL="0">
              <a:buNone/>
            </a:pPr>
            <a:r>
              <a:rPr lang="en-US" sz="7200" b="1" dirty="0">
                <a:solidFill>
                  <a:srgbClr val="E8933A"/>
                </a:solidFill>
                <a:latin typeface="Cambria" pitchFamily="34" charset="0"/>
                <a:ea typeface="Cambria" pitchFamily="34" charset="-122"/>
                <a:cs typeface="Cambria" pitchFamily="34" charset="-120"/>
              </a:rPr>
              <a:t>08</a:t>
            </a:r>
            <a:endParaRPr lang="en-US" sz="7200" dirty="0"/>
          </a:p>
        </p:txBody>
      </p:sp>
      <p:sp>
        <p:nvSpPr>
          <p:cNvPr id="3" name="Text 1"/>
          <p:cNvSpPr/>
          <p:nvPr/>
        </p:nvSpPr>
        <p:spPr>
          <a:xfrm>
            <a:off x="2560320" y="2057400"/>
            <a:ext cx="91440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Streaming, testes e fechamento</a:t>
            </a:r>
            <a:endParaRPr lang="en-US" sz="4000" dirty="0"/>
          </a:p>
        </p:txBody>
      </p:sp>
      <p:sp>
        <p:nvSpPr>
          <p:cNvPr id="4" name="Text 2"/>
          <p:cNvSpPr/>
          <p:nvPr/>
        </p:nvSpPr>
        <p:spPr>
          <a:xfrm>
            <a:off x="2560320" y="3200400"/>
            <a:ext cx="9144000" cy="1097280"/>
          </a:xfrm>
          <a:prstGeom prst="rect">
            <a:avLst/>
          </a:prstGeom>
          <a:noFill/>
          <a:ln/>
        </p:spPr>
        <p:txBody>
          <a:bodyPr wrap="square" lIns="0" tIns="0" rIns="0" bIns="0" rtlCol="0" anchor="ctr"/>
          <a:lstStyle/>
          <a:p>
            <a:pPr indent="0" marL="0">
              <a:buNone/>
            </a:pPr>
            <a:r>
              <a:rPr lang="en-US" sz="1700" dirty="0">
                <a:solidFill>
                  <a:srgbClr val="E4DEF7"/>
                </a:solidFill>
                <a:latin typeface="Calibri" pitchFamily="34" charset="0"/>
                <a:ea typeface="Calibri" pitchFamily="34" charset="-122"/>
                <a:cs typeface="Calibri" pitchFamily="34" charset="-120"/>
              </a:rPr>
              <a:t>Mostrar progresso, e provar que o roteamento está certo.</a:t>
            </a:r>
            <a:endParaRPr lang="en-US" sz="17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STREAMING</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Quatro modos, quatro usos</a:t>
            </a:r>
            <a:endParaRPr lang="en-US" sz="34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2468880"/>
                <a:gridCol w="4480560"/>
                <a:gridCol w="3931920"/>
              </a:tblGrid>
              <a:tr h="31089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stream_mode</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 que entrega</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Quando usar</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values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O estado completo depois de cada nó</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Depuração: ver o estado inteiro evoluindo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updates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Só o delta, com o nome do nó</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Log de progresso e traço em disco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messages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Token a token, como um chat</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Interface para o usuário final</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custom</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O que você emitir de dentro do nó</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Barras de progresso e eventos próprios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bl>
          </a:graphicData>
        </a:graphic>
      </p:graphicFrame>
      <p:sp>
        <p:nvSpPr>
          <p:cNvPr id="6" name="Text 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7"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TESTES</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2800" b="1" dirty="0">
                <a:solidFill>
                  <a:srgbClr val="1A1725"/>
                </a:solidFill>
                <a:latin typeface="Cambria" pitchFamily="34" charset="0"/>
                <a:ea typeface="Cambria" pitchFamily="34" charset="-122"/>
                <a:cs typeface="Cambria" pitchFamily="34" charset="-120"/>
              </a:rPr>
              <a:t>Toda lógica de roteamento deve ser testável sem modelo</a:t>
            </a:r>
            <a:endParaRPr lang="en-US" sz="2800" dirty="0"/>
          </a:p>
        </p:txBody>
      </p:sp>
      <p:sp>
        <p:nvSpPr>
          <p:cNvPr id="4" name="Shape 2"/>
          <p:cNvSpPr/>
          <p:nvPr/>
        </p:nvSpPr>
        <p:spPr>
          <a:xfrm>
            <a:off x="640080" y="1645920"/>
            <a:ext cx="10881360" cy="3794760"/>
          </a:xfrm>
          <a:prstGeom prst="roundRect">
            <a:avLst>
              <a:gd name="adj" fmla="val 2410"/>
            </a:avLst>
          </a:prstGeom>
          <a:solidFill>
            <a:srgbClr val="0F0C1A"/>
          </a:solidFill>
          <a:ln/>
        </p:spPr>
      </p:sp>
      <p:sp>
        <p:nvSpPr>
          <p:cNvPr id="5" name="Text 3"/>
          <p:cNvSpPr/>
          <p:nvPr/>
        </p:nvSpPr>
        <p:spPr>
          <a:xfrm>
            <a:off x="868680" y="1783080"/>
            <a:ext cx="10424160" cy="3520440"/>
          </a:xfrm>
          <a:prstGeom prst="rect">
            <a:avLst/>
          </a:prstGeom>
          <a:noFill/>
          <a:ln/>
        </p:spPr>
        <p:txBody>
          <a:bodyPr wrap="square" lIns="0" tIns="0" rIns="0" bIns="0" rtlCol="0" anchor="t"/>
          <a:lstStyle/>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def test_rotear_termina_sem_toolcall():</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estado = {"messages": [AIMessage(content="pronto")], "passos": 1}</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assert rotear(estado) == END</a:t>
            </a:r>
            <a:endParaRPr lang="en-US" sz="1250" dirty="0"/>
          </a:p>
          <a:p>
            <a:pPr indent="0" marL="0">
              <a:lnSpc>
                <a:spcPct val="102000"/>
              </a:lnSpc>
              <a:buNone/>
            </a:pPr>
            <a:endParaRPr lang="en-US" sz="1250" dirty="0"/>
          </a:p>
          <a:p>
            <a:pPr indent="0" marL="0">
              <a:lnSpc>
                <a:spcPct val="102000"/>
              </a:lnSpc>
              <a:buNone/>
            </a:pP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def test_rotear_corta_no_limite():</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ai = AIMessage(content="", tool_calls=[</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{"name": "calcular", "args": {"expressao": "1+1"}, "id": "x"}])</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assert rotear({"messages": [ai], "passos": 10}) == END</a:t>
            </a:r>
            <a:endParaRPr lang="en-US" sz="1250" dirty="0"/>
          </a:p>
          <a:p>
            <a:pPr indent="0" marL="0">
              <a:lnSpc>
                <a:spcPct val="102000"/>
              </a:lnSpc>
              <a:buNone/>
            </a:pPr>
            <a:endParaRPr lang="en-US" sz="1250" dirty="0"/>
          </a:p>
          <a:p>
            <a:pPr indent="0" marL="0">
              <a:lnSpc>
                <a:spcPct val="102000"/>
              </a:lnSpc>
              <a:buNone/>
            </a:pP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def test_politica_nega_fora_da_pasta():</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assert proteger_fora_da_pasta(</a:t>
            </a: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"salvar_relatorio", {"caminho": "/etc/passwd"}) is not None</a:t>
            </a:r>
            <a:endParaRPr lang="en-US" sz="1250" dirty="0"/>
          </a:p>
          <a:p>
            <a:pPr indent="0" marL="0">
              <a:lnSpc>
                <a:spcPct val="102000"/>
              </a:lnSpc>
              <a:buNone/>
            </a:pPr>
            <a:endParaRPr lang="en-US" sz="1250" dirty="0"/>
          </a:p>
          <a:p>
            <a:pPr indent="0" marL="0">
              <a:lnSpc>
                <a:spcPct val="102000"/>
              </a:lnSpc>
              <a:buNone/>
            </a:pPr>
            <a:endParaRPr lang="en-US" sz="1250" dirty="0"/>
          </a:p>
          <a:p>
            <a:pPr indent="0" marL="0">
              <a:lnSpc>
                <a:spcPct val="102000"/>
              </a:lnSpc>
              <a:buNone/>
            </a:pPr>
            <a:r>
              <a:rPr lang="en-US" sz="1250" dirty="0">
                <a:solidFill>
                  <a:srgbClr val="D8D2EE"/>
                </a:solidFill>
                <a:latin typeface="Courier New" pitchFamily="34" charset="0"/>
                <a:ea typeface="Courier New" pitchFamily="34" charset="-122"/>
                <a:cs typeface="Courier New" pitchFamily="34" charset="-120"/>
              </a:rPr>
              <a:t># nenhum destes testes chama o LLM. Sao rapidos e deterministicos.</a:t>
            </a:r>
            <a:endParaRPr lang="en-US" sz="1250" dirty="0"/>
          </a:p>
        </p:txBody>
      </p:sp>
      <p:sp>
        <p:nvSpPr>
          <p:cNvPr id="6" name="Text 4"/>
          <p:cNvSpPr/>
          <p:nvPr/>
        </p:nvSpPr>
        <p:spPr>
          <a:xfrm>
            <a:off x="640080" y="5577840"/>
            <a:ext cx="10881360" cy="731520"/>
          </a:xfrm>
          <a:prstGeom prst="rect">
            <a:avLst/>
          </a:prstGeom>
          <a:noFill/>
          <a:ln/>
        </p:spPr>
        <p:txBody>
          <a:bodyPr wrap="square" lIns="0" tIns="0" rIns="0" bIns="0" rtlCol="0" anchor="t"/>
          <a:lstStyle/>
          <a:p>
            <a:pPr indent="0" marL="0">
              <a:buNone/>
            </a:pPr>
            <a:r>
              <a:rPr lang="en-US" sz="1350" i="1" dirty="0">
                <a:solidFill>
                  <a:srgbClr val="6B6580"/>
                </a:solidFill>
                <a:latin typeface="Calibri" pitchFamily="34" charset="0"/>
                <a:ea typeface="Calibri" pitchFamily="34" charset="-122"/>
                <a:cs typeface="Calibri" pitchFamily="34" charset="-120"/>
              </a:rPr>
              <a:t>Se o seu roteador precisa do LLM para ser testado, ele está fazendo coisa demais. Separe a decisão, que é testável, da geração, que não é determinística.</a:t>
            </a:r>
            <a:endParaRPr lang="en-US" sz="1350" dirty="0"/>
          </a:p>
        </p:txBody>
      </p:sp>
      <p:sp>
        <p:nvSpPr>
          <p:cNvPr id="8" name="Text 5"/>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9" name="Text 6"/>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O QUE MUDOU</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O NEXUS ao fim do dia 3</a:t>
            </a:r>
            <a:endParaRPr lang="en-US" sz="3400" dirty="0"/>
          </a:p>
        </p:txBody>
      </p:sp>
      <p:sp>
        <p:nvSpPr>
          <p:cNvPr id="4" name="Shape 2"/>
          <p:cNvSpPr/>
          <p:nvPr/>
        </p:nvSpPr>
        <p:spPr>
          <a:xfrm>
            <a:off x="640080" y="1828800"/>
            <a:ext cx="2480310" cy="1920240"/>
          </a:xfrm>
          <a:prstGeom prst="roundRect">
            <a:avLst>
              <a:gd name="adj" fmla="val 4762"/>
            </a:avLst>
          </a:prstGeom>
          <a:solidFill>
            <a:srgbClr val="F2F0F7"/>
          </a:solidFill>
          <a:ln/>
        </p:spPr>
      </p:sp>
      <p:sp>
        <p:nvSpPr>
          <p:cNvPr id="5" name="Text 3"/>
          <p:cNvSpPr/>
          <p:nvPr/>
        </p:nvSpPr>
        <p:spPr>
          <a:xfrm>
            <a:off x="777240" y="2011680"/>
            <a:ext cx="2205990" cy="914400"/>
          </a:xfrm>
          <a:prstGeom prst="rect">
            <a:avLst/>
          </a:prstGeom>
          <a:noFill/>
          <a:ln/>
        </p:spPr>
        <p:txBody>
          <a:bodyPr wrap="square" lIns="0" tIns="0" rIns="0" bIns="0" rtlCol="0" anchor="ctr"/>
          <a:lstStyle/>
          <a:p>
            <a:pPr algn="ctr" indent="0" marL="0">
              <a:buNone/>
            </a:pPr>
            <a:r>
              <a:rPr lang="en-US" sz="4400" b="1" dirty="0">
                <a:solidFill>
                  <a:srgbClr val="4C3A8C"/>
                </a:solidFill>
                <a:latin typeface="Cambria" pitchFamily="34" charset="0"/>
                <a:ea typeface="Cambria" pitchFamily="34" charset="-122"/>
                <a:cs typeface="Cambria" pitchFamily="34" charset="-120"/>
              </a:rPr>
              <a:t>2</a:t>
            </a:r>
            <a:endParaRPr lang="en-US" sz="4400" dirty="0"/>
          </a:p>
        </p:txBody>
      </p:sp>
      <p:sp>
        <p:nvSpPr>
          <p:cNvPr id="6" name="Text 4"/>
          <p:cNvSpPr/>
          <p:nvPr/>
        </p:nvSpPr>
        <p:spPr>
          <a:xfrm>
            <a:off x="777240" y="2926080"/>
            <a:ext cx="2205990" cy="685800"/>
          </a:xfrm>
          <a:prstGeom prst="rect">
            <a:avLst/>
          </a:prstGeom>
          <a:noFill/>
          <a:ln/>
        </p:spPr>
        <p:txBody>
          <a:bodyPr wrap="square" lIns="0" tIns="0" rIns="0" bIns="0" rtlCol="0" anchor="ctr"/>
          <a:lstStyle/>
          <a:p>
            <a:pPr algn="ctr" indent="0" marL="0">
              <a:buNone/>
            </a:pPr>
            <a:r>
              <a:rPr lang="en-US" sz="1250" dirty="0">
                <a:solidFill>
                  <a:srgbClr val="6B6580"/>
                </a:solidFill>
                <a:latin typeface="Calibri" pitchFamily="34" charset="0"/>
                <a:ea typeface="Calibri" pitchFamily="34" charset="-122"/>
                <a:cs typeface="Calibri" pitchFamily="34" charset="-120"/>
              </a:rPr>
              <a:t>nós: agente e ferramentas</a:t>
            </a:r>
            <a:endParaRPr lang="en-US" sz="1250" dirty="0"/>
          </a:p>
        </p:txBody>
      </p:sp>
      <p:sp>
        <p:nvSpPr>
          <p:cNvPr id="7" name="Shape 5"/>
          <p:cNvSpPr/>
          <p:nvPr/>
        </p:nvSpPr>
        <p:spPr>
          <a:xfrm>
            <a:off x="3440430" y="1828800"/>
            <a:ext cx="2480310" cy="1920240"/>
          </a:xfrm>
          <a:prstGeom prst="roundRect">
            <a:avLst>
              <a:gd name="adj" fmla="val 4762"/>
            </a:avLst>
          </a:prstGeom>
          <a:solidFill>
            <a:srgbClr val="F2F0F7"/>
          </a:solidFill>
          <a:ln/>
        </p:spPr>
      </p:sp>
      <p:sp>
        <p:nvSpPr>
          <p:cNvPr id="8" name="Text 6"/>
          <p:cNvSpPr/>
          <p:nvPr/>
        </p:nvSpPr>
        <p:spPr>
          <a:xfrm>
            <a:off x="3577590" y="2011680"/>
            <a:ext cx="2205990" cy="914400"/>
          </a:xfrm>
          <a:prstGeom prst="rect">
            <a:avLst/>
          </a:prstGeom>
          <a:noFill/>
          <a:ln/>
        </p:spPr>
        <p:txBody>
          <a:bodyPr wrap="square" lIns="0" tIns="0" rIns="0" bIns="0" rtlCol="0" anchor="ctr"/>
          <a:lstStyle/>
          <a:p>
            <a:pPr algn="ctr" indent="0" marL="0">
              <a:buNone/>
            </a:pPr>
            <a:r>
              <a:rPr lang="en-US" sz="4400" b="1" dirty="0">
                <a:solidFill>
                  <a:srgbClr val="4C3A8C"/>
                </a:solidFill>
                <a:latin typeface="Cambria" pitchFamily="34" charset="0"/>
                <a:ea typeface="Cambria" pitchFamily="34" charset="-122"/>
                <a:cs typeface="Cambria" pitchFamily="34" charset="-120"/>
              </a:rPr>
              <a:t>6</a:t>
            </a:r>
            <a:endParaRPr lang="en-US" sz="4400" dirty="0"/>
          </a:p>
        </p:txBody>
      </p:sp>
      <p:sp>
        <p:nvSpPr>
          <p:cNvPr id="9" name="Text 7"/>
          <p:cNvSpPr/>
          <p:nvPr/>
        </p:nvSpPr>
        <p:spPr>
          <a:xfrm>
            <a:off x="3577590" y="2926080"/>
            <a:ext cx="2205990" cy="685800"/>
          </a:xfrm>
          <a:prstGeom prst="rect">
            <a:avLst/>
          </a:prstGeom>
          <a:noFill/>
          <a:ln/>
        </p:spPr>
        <p:txBody>
          <a:bodyPr wrap="square" lIns="0" tIns="0" rIns="0" bIns="0" rtlCol="0" anchor="ctr"/>
          <a:lstStyle/>
          <a:p>
            <a:pPr algn="ctr" indent="0" marL="0">
              <a:buNone/>
            </a:pPr>
            <a:r>
              <a:rPr lang="en-US" sz="1250" dirty="0">
                <a:solidFill>
                  <a:srgbClr val="6B6580"/>
                </a:solidFill>
                <a:latin typeface="Calibri" pitchFamily="34" charset="0"/>
                <a:ea typeface="Calibri" pitchFamily="34" charset="-122"/>
                <a:cs typeface="Calibri" pitchFamily="34" charset="-120"/>
              </a:rPr>
              <a:t>ferramentas registradas</a:t>
            </a:r>
            <a:endParaRPr lang="en-US" sz="1250" dirty="0"/>
          </a:p>
        </p:txBody>
      </p:sp>
      <p:sp>
        <p:nvSpPr>
          <p:cNvPr id="10" name="Shape 8"/>
          <p:cNvSpPr/>
          <p:nvPr/>
        </p:nvSpPr>
        <p:spPr>
          <a:xfrm>
            <a:off x="6240780" y="1828800"/>
            <a:ext cx="2480310" cy="1920240"/>
          </a:xfrm>
          <a:prstGeom prst="roundRect">
            <a:avLst>
              <a:gd name="adj" fmla="val 4762"/>
            </a:avLst>
          </a:prstGeom>
          <a:solidFill>
            <a:srgbClr val="F2F0F7"/>
          </a:solidFill>
          <a:ln/>
        </p:spPr>
      </p:sp>
      <p:sp>
        <p:nvSpPr>
          <p:cNvPr id="11" name="Text 9"/>
          <p:cNvSpPr/>
          <p:nvPr/>
        </p:nvSpPr>
        <p:spPr>
          <a:xfrm>
            <a:off x="6377940" y="2011680"/>
            <a:ext cx="2205990" cy="914400"/>
          </a:xfrm>
          <a:prstGeom prst="rect">
            <a:avLst/>
          </a:prstGeom>
          <a:noFill/>
          <a:ln/>
        </p:spPr>
        <p:txBody>
          <a:bodyPr wrap="square" lIns="0" tIns="0" rIns="0" bIns="0" rtlCol="0" anchor="ctr"/>
          <a:lstStyle/>
          <a:p>
            <a:pPr algn="ctr" indent="0" marL="0">
              <a:buNone/>
            </a:pPr>
            <a:r>
              <a:rPr lang="en-US" sz="4400" b="1" dirty="0">
                <a:solidFill>
                  <a:srgbClr val="4C3A8C"/>
                </a:solidFill>
                <a:latin typeface="Cambria" pitchFamily="34" charset="0"/>
                <a:ea typeface="Cambria" pitchFamily="34" charset="-122"/>
                <a:cs typeface="Cambria" pitchFamily="34" charset="-120"/>
              </a:rPr>
              <a:t>2</a:t>
            </a:r>
            <a:endParaRPr lang="en-US" sz="4400" dirty="0"/>
          </a:p>
        </p:txBody>
      </p:sp>
      <p:sp>
        <p:nvSpPr>
          <p:cNvPr id="12" name="Text 10"/>
          <p:cNvSpPr/>
          <p:nvPr/>
        </p:nvSpPr>
        <p:spPr>
          <a:xfrm>
            <a:off x="6377940" y="2926080"/>
            <a:ext cx="2205990" cy="685800"/>
          </a:xfrm>
          <a:prstGeom prst="rect">
            <a:avLst/>
          </a:prstGeom>
          <a:noFill/>
          <a:ln/>
        </p:spPr>
        <p:txBody>
          <a:bodyPr wrap="square" lIns="0" tIns="0" rIns="0" bIns="0" rtlCol="0" anchor="ctr"/>
          <a:lstStyle/>
          <a:p>
            <a:pPr algn="ctr" indent="0" marL="0">
              <a:buNone/>
            </a:pPr>
            <a:r>
              <a:rPr lang="en-US" sz="1250" dirty="0">
                <a:solidFill>
                  <a:srgbClr val="6B6580"/>
                </a:solidFill>
                <a:latin typeface="Calibri" pitchFamily="34" charset="0"/>
                <a:ea typeface="Calibri" pitchFamily="34" charset="-122"/>
                <a:cs typeface="Calibri" pitchFamily="34" charset="-120"/>
              </a:rPr>
              <a:t>políticas de PreToolUse</a:t>
            </a:r>
            <a:endParaRPr lang="en-US" sz="1250" dirty="0"/>
          </a:p>
        </p:txBody>
      </p:sp>
      <p:sp>
        <p:nvSpPr>
          <p:cNvPr id="13" name="Shape 11"/>
          <p:cNvSpPr/>
          <p:nvPr/>
        </p:nvSpPr>
        <p:spPr>
          <a:xfrm>
            <a:off x="9041130" y="1828800"/>
            <a:ext cx="2480310" cy="1920240"/>
          </a:xfrm>
          <a:prstGeom prst="roundRect">
            <a:avLst>
              <a:gd name="adj" fmla="val 4762"/>
            </a:avLst>
          </a:prstGeom>
          <a:solidFill>
            <a:srgbClr val="F2F0F7"/>
          </a:solidFill>
          <a:ln/>
        </p:spPr>
      </p:sp>
      <p:sp>
        <p:nvSpPr>
          <p:cNvPr id="14" name="Text 12"/>
          <p:cNvSpPr/>
          <p:nvPr/>
        </p:nvSpPr>
        <p:spPr>
          <a:xfrm>
            <a:off x="9178290" y="2011680"/>
            <a:ext cx="2205990" cy="914400"/>
          </a:xfrm>
          <a:prstGeom prst="rect">
            <a:avLst/>
          </a:prstGeom>
          <a:noFill/>
          <a:ln/>
        </p:spPr>
        <p:txBody>
          <a:bodyPr wrap="square" lIns="0" tIns="0" rIns="0" bIns="0" rtlCol="0" anchor="ctr"/>
          <a:lstStyle/>
          <a:p>
            <a:pPr algn="ctr" indent="0" marL="0">
              <a:buNone/>
            </a:pPr>
            <a:r>
              <a:rPr lang="en-US" sz="4400" b="1" dirty="0">
                <a:solidFill>
                  <a:srgbClr val="4C3A8C"/>
                </a:solidFill>
                <a:latin typeface="Cambria" pitchFamily="34" charset="0"/>
                <a:ea typeface="Cambria" pitchFamily="34" charset="-122"/>
                <a:cs typeface="Cambria" pitchFamily="34" charset="-120"/>
              </a:rPr>
              <a:t>1</a:t>
            </a:r>
            <a:endParaRPr lang="en-US" sz="4400" dirty="0"/>
          </a:p>
        </p:txBody>
      </p:sp>
      <p:sp>
        <p:nvSpPr>
          <p:cNvPr id="15" name="Text 13"/>
          <p:cNvSpPr/>
          <p:nvPr/>
        </p:nvSpPr>
        <p:spPr>
          <a:xfrm>
            <a:off x="9178290" y="2926080"/>
            <a:ext cx="2205990" cy="685800"/>
          </a:xfrm>
          <a:prstGeom prst="rect">
            <a:avLst/>
          </a:prstGeom>
          <a:noFill/>
          <a:ln/>
        </p:spPr>
        <p:txBody>
          <a:bodyPr wrap="square" lIns="0" tIns="0" rIns="0" bIns="0" rtlCol="0" anchor="ctr"/>
          <a:lstStyle/>
          <a:p>
            <a:pPr algn="ctr" indent="0" marL="0">
              <a:buNone/>
            </a:pPr>
            <a:r>
              <a:rPr lang="en-US" sz="1250" dirty="0">
                <a:solidFill>
                  <a:srgbClr val="6B6580"/>
                </a:solidFill>
                <a:latin typeface="Calibri" pitchFamily="34" charset="0"/>
                <a:ea typeface="Calibri" pitchFamily="34" charset="-122"/>
                <a:cs typeface="Calibri" pitchFamily="34" charset="-120"/>
              </a:rPr>
              <a:t>banco SQLite de checkpoints</a:t>
            </a:r>
            <a:endParaRPr lang="en-US" sz="1250" dirty="0"/>
          </a:p>
        </p:txBody>
      </p:sp>
      <p:sp>
        <p:nvSpPr>
          <p:cNvPr id="16" name="Text 14"/>
          <p:cNvSpPr/>
          <p:nvPr/>
        </p:nvSpPr>
        <p:spPr>
          <a:xfrm>
            <a:off x="640080" y="4069080"/>
            <a:ext cx="10881360" cy="1874520"/>
          </a:xfrm>
          <a:prstGeom prst="rect">
            <a:avLst/>
          </a:prstGeom>
          <a:noFill/>
          <a:ln/>
        </p:spPr>
        <p:txBody>
          <a:bodyPr wrap="square" lIns="0" tIns="0" rIns="0" bIns="0" rtlCol="0" anchor="t"/>
          <a:lstStyle/>
          <a:p>
            <a:pPr indent="0" marL="0">
              <a:lnSpc>
                <a:spcPct val="115000"/>
              </a:lnSpc>
              <a:buNone/>
            </a:pPr>
            <a:r>
              <a:rPr lang="en-US" sz="1500" dirty="0">
                <a:solidFill>
                  <a:srgbClr val="1A1725"/>
                </a:solidFill>
                <a:latin typeface="Calibri" pitchFamily="34" charset="0"/>
                <a:ea typeface="Calibri" pitchFamily="34" charset="-122"/>
                <a:cs typeface="Calibri" pitchFamily="34" charset="-120"/>
              </a:rPr>
              <a:t>O limite de passos agora é DADO, e não variável de loop: dá para inspecioná-lo, persisti-lo e mostrá-lo na interface. Essa mudança de lugar, de código para dado, é o que o grafo compra.</a:t>
            </a:r>
            <a:endParaRPr lang="en-US" sz="1500" dirty="0"/>
          </a:p>
        </p:txBody>
      </p:sp>
      <p:sp>
        <p:nvSpPr>
          <p:cNvPr id="18" name="Text 15"/>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19" name="Text 16"/>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REFERÊNCIA</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Erros clássicos do dia 3</a:t>
            </a:r>
            <a:endParaRPr lang="en-US" sz="34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3840480"/>
                <a:gridCol w="3383280"/>
                <a:gridCol w="36576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Sintoma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Causa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Correção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r>
              <a:tr h="310896">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Histórico some a cada nó</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Falta o reducer add_messages</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Adicione Annotated com add_messages</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KeyError numa chave do estado</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O nó devolveu o estado inteiro</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Devolva só o delta</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Grafo não para nunca</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A condicional nunca retorna END</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Contador de passos no estado</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Memória não persiste</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Sem thread_id no config</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configurable com thread_id</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SQLite: database is locked</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Vários processos no mesmo arquivo</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Um saver por processo</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invoke(None) reinicia tudo</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Faltou o checkpointer</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Compile com checkpointer</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Duas conversas se misturam</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Mesmo thread_id</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250" dirty="0">
                          <a:solidFill>
                            <a:srgbClr val="1A1725"/>
                          </a:solidFill>
                          <a:latin typeface="Calibri" pitchFamily="34" charset="0"/>
                          <a:ea typeface="Calibri" pitchFamily="34" charset="-122"/>
                          <a:cs typeface="Calibri" pitchFamily="34" charset="-120"/>
                        </a:rPr>
                        <a:t>Um thread_id por conversa, com o dono junto</a:t>
                      </a:r>
                      <a:endParaRPr lang="en-US" sz="12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bl>
          </a:graphicData>
        </a:graphic>
      </p:graphicFrame>
      <p:sp>
        <p:nvSpPr>
          <p:cNvPr id="6" name="Text 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7"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56032"/>
          </a:xfrm>
          <a:prstGeom prst="rect">
            <a:avLst/>
          </a:prstGeom>
          <a:noFill/>
          <a:ln/>
        </p:spPr>
        <p:txBody>
          <a:bodyPr wrap="square" lIns="0" tIns="0" rIns="0" bIns="0" rtlCol="0" anchor="t"/>
          <a:lstStyle/>
          <a:p>
            <a:pPr indent="0" marL="0">
              <a:buNone/>
            </a:pPr>
            <a:r>
              <a:rPr lang="en-US" sz="1100" b="1" spc="120" kern="0" dirty="0">
                <a:solidFill>
                  <a:srgbClr val="E8933A"/>
                </a:solidFill>
                <a:latin typeface="Calibri" pitchFamily="34" charset="0"/>
                <a:ea typeface="Calibri" pitchFamily="34" charset="-122"/>
                <a:cs typeface="Calibri" pitchFamily="34" charset="-120"/>
              </a:rPr>
              <a:t>RECAPITULAÇÃO</a:t>
            </a:r>
            <a:endParaRPr lang="en-US" sz="1100" dirty="0"/>
          </a:p>
        </p:txBody>
      </p:sp>
      <p:sp>
        <p:nvSpPr>
          <p:cNvPr id="3" name="Text 1"/>
          <p:cNvSpPr/>
          <p:nvPr/>
        </p:nvSpPr>
        <p:spPr>
          <a:xfrm>
            <a:off x="640080" y="676656"/>
            <a:ext cx="10881360" cy="685800"/>
          </a:xfrm>
          <a:prstGeom prst="rect">
            <a:avLst/>
          </a:prstGeom>
          <a:noFill/>
          <a:ln/>
        </p:spPr>
        <p:txBody>
          <a:bodyPr wrap="square" lIns="0" tIns="0" rIns="0" bIns="0" rtlCol="0" anchor="t"/>
          <a:lstStyle/>
          <a:p>
            <a:pPr indent="0" marL="0">
              <a:buNone/>
            </a:pPr>
            <a:r>
              <a:rPr lang="en-US" sz="3400" b="1" dirty="0">
                <a:solidFill>
                  <a:srgbClr val="1A1725"/>
                </a:solidFill>
                <a:latin typeface="Cambria" pitchFamily="34" charset="0"/>
                <a:ea typeface="Cambria" pitchFamily="34" charset="-122"/>
                <a:cs typeface="Cambria" pitchFamily="34" charset="-120"/>
              </a:rPr>
              <a:t>As cinco camadas, e o que fizemos hoje</a:t>
            </a:r>
            <a:endParaRPr lang="en-US" sz="34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2377440"/>
                <a:gridCol w="4754880"/>
                <a:gridCol w="3749040"/>
              </a:tblGrid>
              <a:tr h="31089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Camada</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 que construímos hoje</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Onde aprofunda</a:t>
                      </a:r>
                      <a:endParaRPr lang="en-US" sz="135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4C3A8C"/>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Instructions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Ordem de preferência entre ferramentas, no prompt</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Dia 4, um prompt por especialista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Constraints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Hooks que negam, sandbox de caminho, aprovação humana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Dia 4, orçamento por agente</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Feedback</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Recusa que explica, testes de roteamento e política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Dia 4, com o Crítico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Memory</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Checkpointer, thread_id com dono, poda de contexto</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Dia 4, memória entre agentes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2F0F7"/>
                    </a:solidFill>
                  </a:tcPr>
                </a:tc>
              </a:tr>
              <a:tr h="310896">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Orchestration</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Um grafo, dois nós; a estrutura já está pronta</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c>
                  <a:txBody>
                    <a:bodyPr/>
                    <a:lstStyle/>
                    <a:p>
                      <a:pPr indent="0" marL="0">
                        <a:buNone/>
                      </a:pPr>
                      <a:r>
                        <a:rPr lang="en-US" sz="1300" dirty="0">
                          <a:solidFill>
                            <a:srgbClr val="1A1725"/>
                          </a:solidFill>
                          <a:latin typeface="Calibri" pitchFamily="34" charset="0"/>
                          <a:ea typeface="Calibri" pitchFamily="34" charset="-122"/>
                          <a:cs typeface="Calibri" pitchFamily="34" charset="-120"/>
                        </a:rPr>
                        <a:t>Dia 4, cinco topologias</a:t>
                      </a:r>
                      <a:endParaRPr lang="en-US" sz="1300" dirty="0">
                        <a:latin typeface="Calibri" charset="0"/>
                        <a:ea typeface="Calibri" charset="0"/>
                        <a:cs typeface="Calibri" charset="0"/>
                      </a:endParaRPr>
                    </a:p>
                  </a:txBody>
                  <a:tcPr marL="73152" marR="73152" marT="73152" marB="73152" anchor="ctr">
                    <a:lnL w="12700" cap="flat" cmpd="sng" algn="ctr">
                      <a:solidFill>
                        <a:srgbClr val="E8E4F2"/>
                      </a:solidFill>
                      <a:prstDash val="solid"/>
                      <a:round/>
                      <a:headEnd type="none" w="med" len="med"/>
                      <a:tailEnd type="none" w="med" len="med"/>
                    </a:lnL>
                    <a:lnR w="12700" cap="flat" cmpd="sng" algn="ctr">
                      <a:solidFill>
                        <a:srgbClr val="E8E4F2"/>
                      </a:solidFill>
                      <a:prstDash val="solid"/>
                      <a:round/>
                      <a:headEnd type="none" w="med" len="med"/>
                      <a:tailEnd type="none" w="med" len="med"/>
                    </a:lnR>
                    <a:lnT w="12700" cap="flat" cmpd="sng" algn="ctr">
                      <a:solidFill>
                        <a:srgbClr val="E8E4F2"/>
                      </a:solidFill>
                      <a:prstDash val="solid"/>
                      <a:round/>
                      <a:headEnd type="none" w="med" len="med"/>
                      <a:tailEnd type="none" w="med" len="med"/>
                    </a:lnT>
                    <a:lnB w="12700" cap="flat" cmpd="sng" algn="ctr">
                      <a:solidFill>
                        <a:srgbClr val="E8E4F2"/>
                      </a:solidFill>
                      <a:prstDash val="solid"/>
                      <a:round/>
                      <a:headEnd type="none" w="med" len="med"/>
                      <a:tailEnd type="none" w="med" len="med"/>
                    </a:lnB>
                    <a:solidFill>
                      <a:srgbClr val="FFFFFF"/>
                    </a:solidFill>
                  </a:tcPr>
                </a:tc>
              </a:tr>
            </a:tbl>
          </a:graphicData>
        </a:graphic>
      </p:graphicFrame>
      <p:sp>
        <p:nvSpPr>
          <p:cNvPr id="6" name="Text 2"/>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6B6580"/>
                </a:solidFill>
                <a:latin typeface="Calibri" pitchFamily="34" charset="0"/>
                <a:ea typeface="Calibri" pitchFamily="34" charset="-122"/>
                <a:cs typeface="Calibri" pitchFamily="34" charset="-120"/>
              </a:rPr>
              <a:t>Dia 3 - LangGraph: estado, memória, constraints e aprovação humana</a:t>
            </a:r>
            <a:endParaRPr lang="en-US" sz="1000" dirty="0"/>
          </a:p>
        </p:txBody>
      </p:sp>
      <p:sp>
        <p:nvSpPr>
          <p:cNvPr id="7"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6B6580"/>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71326"/>
        </a:solidFill>
      </p:bgPr>
    </p:bg>
    <p:spTree>
      <p:nvGrpSpPr>
        <p:cNvPr id="1" name=""/>
        <p:cNvGrpSpPr/>
        <p:nvPr/>
      </p:nvGrpSpPr>
      <p:grpSpPr>
        <a:xfrm>
          <a:off x="0" y="0"/>
          <a:ext cx="0" cy="0"/>
          <a:chOff x="0" y="0"/>
          <a:chExt cx="0" cy="0"/>
        </a:xfrm>
      </p:grpSpPr>
      <p:sp>
        <p:nvSpPr>
          <p:cNvPr id="2" name="Text 0"/>
          <p:cNvSpPr/>
          <p:nvPr/>
        </p:nvSpPr>
        <p:spPr>
          <a:xfrm>
            <a:off x="640080" y="1280160"/>
            <a:ext cx="10881360" cy="320040"/>
          </a:xfrm>
          <a:prstGeom prst="rect">
            <a:avLst/>
          </a:prstGeom>
          <a:noFill/>
          <a:ln/>
        </p:spPr>
        <p:txBody>
          <a:bodyPr wrap="square" lIns="0" tIns="0" rIns="0" bIns="0" rtlCol="0" anchor="t"/>
          <a:lstStyle/>
          <a:p>
            <a:pPr indent="0" marL="0">
              <a:buNone/>
            </a:pPr>
            <a:r>
              <a:rPr lang="en-US" sz="1200" b="1" spc="120" kern="0" dirty="0">
                <a:solidFill>
                  <a:srgbClr val="E8933A"/>
                </a:solidFill>
                <a:latin typeface="Calibri" pitchFamily="34" charset="0"/>
                <a:ea typeface="Calibri" pitchFamily="34" charset="-122"/>
                <a:cs typeface="Calibri" pitchFamily="34" charset="-120"/>
              </a:rPr>
              <a:t>PARA AMANHÃ</a:t>
            </a:r>
            <a:endParaRPr lang="en-US" sz="1200" dirty="0"/>
          </a:p>
        </p:txBody>
      </p:sp>
      <p:sp>
        <p:nvSpPr>
          <p:cNvPr id="3" name="Text 1"/>
          <p:cNvSpPr/>
          <p:nvPr/>
        </p:nvSpPr>
        <p:spPr>
          <a:xfrm>
            <a:off x="640080" y="1783080"/>
            <a:ext cx="10881360" cy="1325880"/>
          </a:xfrm>
          <a:prstGeom prst="rect">
            <a:avLst/>
          </a:prstGeom>
          <a:noFill/>
          <a:ln/>
        </p:spPr>
        <p:txBody>
          <a:bodyPr wrap="square" lIns="0" tIns="0" rIns="0" bIns="0" rtlCol="0" anchor="t"/>
          <a:lstStyle/>
          <a:p>
            <a:pPr indent="0" marL="0">
              <a:lnSpc>
                <a:spcPct val="112000"/>
              </a:lnSpc>
              <a:buNone/>
            </a:pPr>
            <a:r>
              <a:rPr lang="en-US" sz="3600" b="1" dirty="0">
                <a:solidFill>
                  <a:srgbClr val="EDEAF5"/>
                </a:solidFill>
                <a:latin typeface="Cambria" pitchFamily="34" charset="0"/>
                <a:ea typeface="Cambria" pitchFamily="34" charset="-122"/>
                <a:cs typeface="Cambria" pitchFamily="34" charset="-120"/>
              </a:rPr>
              <a:t>Um agente com nove ferramentas e um prompt</a:t>
            </a:r>
            <a:endParaRPr lang="en-US" sz="3600" dirty="0"/>
          </a:p>
          <a:p>
            <a:pPr indent="0" marL="0">
              <a:lnSpc>
                <a:spcPct val="112000"/>
              </a:lnSpc>
              <a:buNone/>
            </a:pPr>
            <a:r>
              <a:rPr lang="en-US" sz="3600" b="1" dirty="0">
                <a:solidFill>
                  <a:srgbClr val="EDEAF5"/>
                </a:solidFill>
                <a:latin typeface="Cambria" pitchFamily="34" charset="0"/>
                <a:ea typeface="Cambria" pitchFamily="34" charset="-122"/>
                <a:cs typeface="Cambria" pitchFamily="34" charset="-120"/>
              </a:rPr>
              <a:t>de sistema de sessenta linhas começa a errar.</a:t>
            </a:r>
            <a:endParaRPr lang="en-US" sz="3600" dirty="0"/>
          </a:p>
        </p:txBody>
      </p:sp>
      <p:sp>
        <p:nvSpPr>
          <p:cNvPr id="4" name="Text 2"/>
          <p:cNvSpPr/>
          <p:nvPr/>
        </p:nvSpPr>
        <p:spPr>
          <a:xfrm>
            <a:off x="640080" y="3520440"/>
            <a:ext cx="10149840" cy="2514600"/>
          </a:xfrm>
          <a:prstGeom prst="rect">
            <a:avLst/>
          </a:prstGeom>
          <a:noFill/>
          <a:ln/>
        </p:spPr>
        <p:txBody>
          <a:bodyPr wrap="square" lIns="0" tIns="0" rIns="0" bIns="0" rtlCol="0" anchor="t"/>
          <a:lstStyle/>
          <a:p>
            <a:pPr indent="0" marL="0">
              <a:lnSpc>
                <a:spcPct val="118000"/>
              </a:lnSpc>
              <a:buNone/>
            </a:pPr>
            <a:r>
              <a:rPr lang="en-US" sz="1600" dirty="0">
                <a:solidFill>
                  <a:srgbClr val="A79FC4"/>
                </a:solidFill>
                <a:latin typeface="Calibri" pitchFamily="34" charset="0"/>
                <a:ea typeface="Calibri" pitchFamily="34" charset="-122"/>
                <a:cs typeface="Calibri" pitchFamily="34" charset="-120"/>
              </a:rPr>
              <a:t>Escolhe a ferramenta errada. Esquece regras do começo do prompt. Mistura os critérios de duas tarefas diferentes. O que acontece se, em vez de um agente com nove ferramentas, tivermos três agentes com três ferramentas cada?</a:t>
            </a:r>
            <a:endParaRPr lang="en-US" sz="1600" dirty="0"/>
          </a:p>
        </p:txBody>
      </p:sp>
      <p:sp>
        <p:nvSpPr>
          <p:cNvPr id="6" name="Text 3"/>
          <p:cNvSpPr/>
          <p:nvPr/>
        </p:nvSpPr>
        <p:spPr>
          <a:xfrm>
            <a:off x="10972800" y="6400800"/>
            <a:ext cx="548640" cy="274320"/>
          </a:xfrm>
          <a:prstGeom prst="rect">
            <a:avLst/>
          </a:prstGeom>
          <a:noFill/>
          <a:ln/>
        </p:spPr>
        <p:txBody>
          <a:bodyPr wrap="square" lIns="0" tIns="0" rIns="0" bIns="0" rtlCol="0" anchor="ctr"/>
          <a:lstStyle/>
          <a:p>
            <a:pPr algn="r" indent="0" marL="0">
              <a:buNone/>
            </a:pPr>
            <a:r>
              <a:rPr lang="en-US" sz="1000" dirty="0">
                <a:solidFill>
                  <a:srgbClr val="A79FC4"/>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 3 - LangGraph: orquestrando um agente</dc:title>
  <dc:subject>PptxGenJS Presentation</dc:subject>
  <dc:creator>Curso Multi-Agente com Modelos Locais</dc:creator>
  <cp:lastModifiedBy>Curso Multi-Agente com Modelos Locais</cp:lastModifiedBy>
  <cp:revision>1</cp:revision>
  <dcterms:created xsi:type="dcterms:W3CDTF">2026-08-31T15:27:44Z</dcterms:created>
  <dcterms:modified xsi:type="dcterms:W3CDTF">2026-08-31T15:27:44Z</dcterms:modified>
</cp:coreProperties>
</file>