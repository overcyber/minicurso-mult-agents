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65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29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64.xml" ContentType="application/vnd.openxmlformats-officedocument.presentationml.slide+xml"/>
  <Override PartName="/ppt/slides/slide61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.xml" ContentType="application/vnd.openxmlformats-officedocument.presentationml.slide+xml"/>
  <Override PartName="/ppt/slides/slide77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72.xml" ContentType="application/vnd.openxmlformats-officedocument.presentationml.slide+xml"/>
  <Override PartName="/ppt/slides/slide75.xml" ContentType="application/vnd.openxmlformats-officedocument.presentationml.slide+xml"/>
  <Override PartName="/ppt/slides/slide49.xml" ContentType="application/vnd.openxmlformats-officedocument.presentationml.slide+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6.xml" ContentType="application/vnd.openxmlformats-officedocument.presentationml.slide+xml"/>
  <Override PartName="/ppt/slides/slide71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0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14.xml" ContentType="application/vnd.openxmlformats-officedocument.presentationml.slide+xml"/>
  <Override PartName="/ppt/slides/slide73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74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49EEAD-EE63-492D-99AB-491B70E3F1F4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FA6AD7-4E62-4DB2-8FD2-E5B8E8684A9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Deixe o roteiro na tela enquanto a turma se acomoda. O ponto a marcar: mais da metade do dia é teclado, não slide. Quem veio esperando palestra vai codar.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Pergunte quantos já rodaram um modelo local. O número costuma ser baixo, e serve para calibrar o ritmo do bloco 2.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'preciso de GPU?' — Não. Tudo hoje roda em CPU com um modelo de 4B. Vai ser lento, e a lentidão é pedagógica: eles vão ver o custo de cada volta do loop.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7FC492-1C3B-4A2A-85A0-AEA93F87392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09:05 - 09:35, 30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sai convencida de que o problema não é capacidade do modelo, e sim acesso e verificação; e já tem a equação Agent = Model + Harness no quadro.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o README.md ao vivo (5) · o commit ao vivo (3) · o modelo não tem acesso (4) · ninguém consegue provar (4) · as quatro faltas (5) · Agent = Model + Harness (3) · a definição da OpenAI (3) · a origem da palavra (4) · o custo A/B (5).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a origem da palavra sai primeiro. As duas demonstrações ao vivo não saem: elas são o gancho do dia inteiro.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E0ED9B-1602-45F3-8A73-A21A7DB6119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Nada de introdução antes disto. O primeiro contato da turma com o assunto tem que ser um erro na tela deles, não uma definição no seu slide.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Rode na sua máquina, ao vivo, e rode o wc -l logo em seguida. Peça para três alunos lerem o número que apareceu na tela deles: costuma variar entre máquinas, e a variação é o gancho.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FAÇA — Não use o exemplo antigo de multiplicação ('quanto é 4871 vezes 3299'). Modelos atuais acertam contas de vários dígitos. Esse argumento envelheceu e ensina a coisa errada.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se eu der o arquivo no prompt?' — Aí funciona, e é exatamente o ponto: alguém teve que buscar o arquivo. Esse alguém é o harness.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5290BC-4C0B-4FC0-8B2F-159B8D6ABDD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O modelo não está mentindo no sentido humano. Ele está fazendo exatamente o que foi treinado a fazer: completar a sequência mais provável. Um hash de sete caracteres seguido de 'fix:' e um nome é o padrão mais provável de uma resposta a essa pergunta.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Aponte o formato: a3f9c21 é um hash perfeitamente bem formado. O modelo aprendeu a FORMA sem ter o CONTEÚDO.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'modelos maiores não avisam que não sabem?' — Avisam com mais frequência, sim. Mas a taxa nunca é 100%, e o modo de falha continua o mesmo. Você não pode construir um sistema em cima de 'geralmente ele avisa'.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8CC88FA-F655-49B0-8D3D-B63EE294A28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Enfatize as duas respostas erradas que a turma vai dar: 'o modelo é burro' e 'o modelo não sabe fazer conta'. As duas estão desatualizadas. Modelos atuais raciocinam bem e calculam certo. O problema não é capacidade, é ACESSO.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Escreva no quadro: ACESSO. Vai ficar lá o dia inteiro, e a segunda palavra entra no próximo slide.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'isso não é alucinação?' — É o mecanismo por trás dela. Vale separar: alucinar é produzir conteúdo não fundamentado; a falta de acesso é uma das causas. RAG, no dia 2, ataca outra causa.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96A4F5-2825-4759-A118-483E6F95C24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Este slide justifica sozinho metade do curso. O Crítico do dia 4 e a avaliação do dia 5 existem por causa deste achado. Escreva a segunda palavra no quadro: VERIFICAÇÃO.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Pergunte à turma: quem já aceitou código gerado por IA sem rodar? Todo mundo levanta a mão. O agente faz o mesmo, e por um motivo parecido: parece certo.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'não basta pedir no prompt que ele teste?' — Ajuda e não resolve. É sugestão, não restrição — distinção que formalizamos no dia 3. Sob contexto longo, sugestão é a primeira coisa que se perde.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F3B0A7-DED6-4354-85D0-992280494B8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terceira coluna é o mapa do curso. Cada falta tem um dia com o nome dela. Isso responde de antemão a pergunta 'quando a gente vai ver X?'.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Volte a esta tabela no fechamento do dia: as duas primeiras linhas terão sido resolvidas pelo código que eles mesmos escreveram.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prompt engineering, morreu?' — Não. Continua sendo como você aproveita bem o contexto. Só não resolve nenhuma das quatro linhas: nenhuma frase abre um arquivo.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F61B018-ED02-474A-A820-4D0221D6936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equação é da LangChain e cabe no quadro. Ela volta duas vezes: no fim do dia 1, quando discutirmos harness decay, e no dia 5, quando o aluno escolher modelo por papel.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Escreva a equação no quadro, ao lado de ACESSO e VERIFICAÇÃO. As três coisas ficam lá o dia inteiro.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'então o modelo importa pouco?' — Importa muito, e a equação diz isso: é uma soma, não uma substituição. O que ela nega é a ideia de que basta esperar o próximo modelo.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2D03E80-8B49-4613-81B5-363440F92F6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Duas coisas nessa definição contrariam o senso comum, e vale nomear as duas. Primeira: harness NÃO é o prompt; o prompt é dado de entrada do harness. Segunda: harness NÃO deixa o modelo mais esperto; o cérebro continua o mesmo.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Esta é a definição para citar quando alguém do time disser 'já fazemos isso, temos um prompt bom'.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'é a mesma coisa que agent framework?' — Não. Framework é uma implementação de partes do harness. Você pode ter harness sem framework nenhum, e é o que faremos hoje à tarde.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1293AF1-D8E6-487A-A2FE-B6DCB25949E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palavra não foi inventada pelo mundo de IA. Ela tem uso técnico consolidado há décadas, e em todas as áreas significa a mesma coisa. Isso não é curiosidade etimológica: é o argumento de que o campo redescobriu uma disciplina que já existia.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à turma que escolha qual das cinco metáforas explica melhor o que eles fazem hoje. Costuma sair 'test harness' de quem programa e 'cinto de segurança' de quem opera.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'por que não traduzir?' — Porque nenhuma tradução pega os cinco sentidos. Arreio pega um. O termo em inglês é o que a documentação usa, e é o que eles vão encontrar.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02854A-91B3-4BF2-ACB5-4AE00C8B6C2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Dado de um teste A/B da Anthropic. Vinte e duas vezes mais caro. A pergunta certa não é 'vale a pena?', é 'o que esse dinheiro comprou?' — e a resposta é o curso inteiro: planejamento separado da execução, avaliador independente, entrega incremental com verificação a cada passo.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Deixe a turma reagir ao número antes de explicar. A reação inicial é sempre 'caro demais'. Aí você pergunta: quanto custa uma semana de engenheiro consertando o software quebrado?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(a ressalva honesta) — Nem toda tarefa justifica harness completo. Script de vinte linhas com agente sem harness é perfeitamente razoável. O harness se paga quando a tarefa é longa, quando o erro é caro, ou quando outra pessoa depende do resultado.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'esses números valem para modelo local?' — A proporção sim, os valores absolutos não. Local você paga em tempo e eletricidade, não em token. O ponto é a razão entre as duas linhas.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4B233D9-D2DE-42E8-A8D3-E7BAD66E7F8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09:35 - 10:30, 55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sai sabendo nomear as cinco camadas e dizer, para qualquer falha de agente, em qual delas mexer.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Agent = Model + Harness (3) · definição da OpenAI (3) · origem da palavra (4) · custo A/B (5) · a tabela das cinco camadas (6) · uma camada por slide, cinco slides (20) · o mesmo bolo em três cortes (5) · como se relacionam no tempo (4) · checkpoint (5).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corte o slide de origem da palavra e o de três cortes. Os cinco slides de camada são inegociáveis: o dia inteiro se apoia neles.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6AB864-3F5F-4D35-92BB-570E33C6DA2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Entre fevereiro e abril de 2026, várias equipes que não combinaram nada descreveram o mesmo objeto com nomes diferentes: OpenAI em quatro verbos, Martin Fowler em três blocos, Anthropic em três agentes, LangChain numa equação. Esta tabela é a síntese que ficou. Ela não é minha opinião: é o denominador comum de quatro fontes independentes.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à turma para copiar esta tabela. Ao fim de cada um dos cinco dias voltamos aqui e perguntamos: qual camada construímos hoje?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A terceira coluna é a mais útil na prática. Quando um agente falha, o sintoma quase sempre aponta direto para uma linha desta tabela.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'a ordem importa?' — Sim, e é a ordem de construção também. Instructions primeiro, orchestration por último. Quem começa por orquestração constrói um sistema caro que erra em cinco lugares ao mesmo tempo.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7C702F1-BF60-49F1-982C-0F8500BBFC2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Instructions é a camada que todo mundo já faz, e é por isso que ela é a mais mal feita: as pessoas escrevem instrução como se estivessem escrevendo um manual de treinamento para um estagiário humano. O agente não é estagiário: ele já sabe programar, já sabe as convenções da linguagem, já sabe o que é um teste. O que ele não sabe é o que só existe no SEU projeto.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um exemplo à turma de regra que eles colocariam num AGENTS.md. Quase sempre alguém propõe 'escreva código limpo'. Use isso: é exatamente o tipo de linha que não faz nada.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'quanto é longo demais?' — A OpenAI parou em cerca de cem linhas para o Codex, depois de testar uma versão gigante que PIOROU o resultado. Um estudo da ETH Zurich de março de 2026 mediu o mesmo efeito. A regra prática: escreva só o que um bom engenheiro não conseguiria inferir lendo o repositório.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6A7189-3503-49E3-A06D-AFAC8009162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diferença entre as colunas não é estilo de escrita: é informação. Tudo à esquerda o modelo já sabe, e repetir só gasta contexto. Tudo à direita é fato específico do projeto, que ele não teria como adivinhar.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Leia 'NÃO ALUCINE' em voz alta e deixe a sala rir. É a linha que aparece em praticamente todo prompt de produção que eu já revisei, e ela é literalmente ruído.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regras de estilo, tipo aspas simples?' — Isso não é instruction, é constraint: coloque no linter e deixe o CI reclamar. Camada errada é o erro mais comum aqui.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B1107DD-D93E-42B0-B40B-B01EE1553E7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 é a camada que separa harness como arte de harness como engenharia. Enquanto tudo que você tem é texto pedindo bom comportamento, você está torcendo. No momento em que existe um pedaço de código que devolve NEGADO, você tem um sistema.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Dê o exemplo concreto: 'não rode rm -rf' no prompt funciona quase sempre. Um PreToolUse que casa o padrão e devolve negação funciona sempre. A diferença entre quase sempre e sempre é o que define se aquilo vai para produção.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'isso não engessa o agente?' — Restrição bem posta libera. Quando o agente não pode causar dano irreversível, você pode dar a ele muito mais autonomia. É o cinto de segurança: ele não limita a velocidade, ele torna a velocidade aceitável.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5794AE-3F91-47BE-B964-02AC1D1DE25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Feedback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é a camada mais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negligenciada 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 mais paga.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 ela o agente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 em ciclo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aberto: gera, acha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bom, entrega. Com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ela o agente opera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 ciclo fechado,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ciclo fechado é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única razão pela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qual um sistema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imperfeito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converge para um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resultado bom.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Use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analogia do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termostato.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Ninguém acha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termostato 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inteligente. Ele 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útil porque mede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corrige. O agente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 feedback 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isso, e o agente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 feedback 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 aquecedor no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máximo.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quarto item vai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 exercício 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tarde. Vocês vão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escrever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mensagens de erro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pensando 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quem lê: o modelo.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PERGUNTAREM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'e quando não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existe teste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automático?' — Aí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você constrói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sinal. Um segundo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modelo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confere contra um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checklist, um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schema que valida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saída, uma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consulta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conferência ao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banco. Se você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consegue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construir sinal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nenhum,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provavelmente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tarefa não deve ser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dada a um agente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ainda.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15E112D-D5A0-4CF7-AFC8-C5B35D98745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pergunta que define esta camada não é 'como eu guardo', é 'o que merece ser guardado'. Guardar tudo é a resposta preguiçosa e é ativamente ruim: contexto maior piora a recuperação, e voltamos a isso no bloco 7.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Antecipe o dia 3: o checkpointer do LangGraph é uma implementação pronta desta camada, e o thread_id é onde o quarto item vira código.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'memória não é só RAG?' — Não. RAG busca em base de conhecimento; memória guarda experiência do próprio agente. Um responde 'o que a empresa sabe', o outro responde 'o que eu já aprendi trabalhando aqui'. Implementação parecida, propósito diferente.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D03D27A-D5F8-4371-A758-38DBA776BBB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Guarde o quarto item. Multiagente é a parte mais vendida e a menos madura. A maioria dos sistemas que eu vi com cinco agentes funcionaria melhor com um agente e boas ferramentas. O dia 4 inteiro é dedicado a isto, e ele começa exatamente com a pergunta 'você precisa mesmo dividir?'.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Deixe registrado que hoje construímos um agente só, de propósito.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'quando dividir vale a pena?' — Três sinais: o contexto está estourando; a tarefa tem etapas que exigem ferramentas ou permissões incompatíveis; ou você precisa de avaliação independente. Fora isso, dividir só adiciona custo e pontos de falha.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B4A866A-F3BC-4D18-9C19-CBC32A81790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Vocês vão ler documentação da OpenAI, da Anthropic, da LangChain e posts do Fowler, e cada um usa um vocabulário. Esta tabela é o dicionário. O 'inform' da OpenAI cobre instructions e memory ao mesmo tempo, porque para eles a pergunta é uma só: o que o agente enxerga.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Aponte a lacuna: orquestração não aparece nos três blocos do Fowler. Isso não é descuido dele, é o estado do campo.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'qual vocabulário eu uso no meu time?' — O que já estiver em uso. O valor está em ter UM, não em ter o melhor. O que não funciona é metade do time falando em camadas e a outra metade em verbos.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A9757C-98EB-444A-B6C8-C0984CE2C7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Não é uma pilha, é um ciclo com dois eixos. A linha de cima é o que acontece dentro de uma execução; a de baixo é o que extrapola a execução. Repare que feedback aponta de volta para instructions: a correção de hoje vira regra amanhã.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Desenhe no quadro junto com o slide e deixe o desenho lá o resto do dia. Você vai apontar para ele umas dez vezes.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'preciso das cinco desde o primeiro dia?' — Não, e tentar é o erro clássico. Comece com instructions e um feedback simples. Constraints aparecem quando o agente te irritar o bastante; memória, quando você cansar de repetir a mesma regra; orquestração, por último.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5324E96-F691-40C0-9F42-6BFD2274F2C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Deixe a turma responder em voz alta, sem slide de resposta. Respostas: (1) feedback e constraints — a observação não voltou ao contexto, e não há detector de repetição; (2) feedback — não existe verificação independente; (3) memory — a correção não sobreviveu à sessão.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Se a turma acertar as três, o bloco cumpriu o objetivo. Se travar na terceira, vale repetir que memória é uma decisão de projeto, não um recurso do framework.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'na 1 não seria instructions?' — Escrever 'não repita buscas' ajuda pouco e é o exemplo perfeito da diferença entre pedir e impedir. Um contador de chamadas idênticas resolve de vez.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3D6496B-A864-4C39-9ADC-3408C7F160A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10:45 - 11:25, 40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consegue desenhar o loop de memória e apontar, para cada bug de agente, em qual passo do runtime ele nasce.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os cinco passos por dentro (5) · o desenho do loop (6) · uma volta completa, mensagem a mensagem (6) · o que o harness NÃO é (4) · tabela de diagnóstico (6) · condições de parada (5) · checkpoint (4).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a tabela de diagnóstico pode virar leitura da apostila. O desenho do loop e as condições de parada não podem sair: o laboratório da tarde depende deles.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8C6EEFA-880C-4E0F-8524-D2E8D533DAD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 tabela não substitui as cinco camadas: as camadas são o vocabulário de projeto, estes cinco passos são o vocabulário de implementação. O registro de ferramentas dá corpo às instructions; a sandbox implementa constraints; a condição de parada é constraint e feedback ao mesmo tempo.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Diga que a tarde inteira é escrever estas cinco linhas em Python. Isso baixa a ansiedade de quem está achando abstrato demais.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'o framework não faz isso por mim?' — Faz, e é por isso mesmo que hoje escrevemos à mão. Depurar LangGraph sem saber o que ele executa por baixo é adivinhação.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6625284-00DE-436A-9E90-F632F24AC7E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Este desenho é o dia inteiro em uma figura, e ele cabe num guardanapo. Percorra na ordem: monta contexto, chama o modelo, o modelo devolve texto ou uma tool call, o executor roda de verdade, a observação volta ao contexto, e a volta recomeça. A saída do loop é a única volta em que o modelo devolve texto em vez de uma chamada.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Desenhe no quadro enquanto fala e insista na seta de retorno. Se a observação não voltar ao contexto, o modelo repete a mesma ação para sempre. Este é o bug número um da tarde, e vale avisar agora para eles reconhecerem quando acontecer.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'onde entra o streaming?' — É apresentação, não arquitetura: o texto sai token a token, mas a decisão de chamar ferramenta só existe quando a mensagem termina. Vemos no dia 3.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ferramentas em paralelo?' — Modelos atuais pedem várias tool calls na mesma volta. O executor roda todas e devolve todas as observações juntas. Muda o desempenho, não o desenho.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52402EE-8E4C-4F77-A33E-9D1CE032B94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Este slide costuma ser o momento em que a ficha cai. O modelo não 'chama' nada: ele emite um pedido estruturado, e quem executa é o seu código. A palavra tool call engana porque parece que o modelo executou algo.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Percorra linha a linha com o cursor. Pare no tool_call_id e explique que ele é o que amarra pedido e resposta quando há várias ferramentas na mesma volta.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Repare que o histórico só cresce. Três voltas e já são seis mensagens. Numa tarefa de trinta passos isso vira dezenas de milhares de tokens, e é exatamente daí que nasce o problema de contexto do bloco 7.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'preciso mandar o histórico inteiro toda vez?' — Hoje sim, é como a API funciona: o modelo não guarda estado entre chamadas. Decidir o que fica e o que sai do histórico é a camada de memória.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F3AE86B-2065-48C3-B33D-8E1A2290817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Estas três negações previnem os três erros de raciocínio mais comuns que a turma vai cometer nas próximas semanas: esperar o próximo modelo resolver, tentar consertar tudo no prompt, e achar que adotar um framework já é ter um harness.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que anotem. Você vai citar de volta as três ao longo da semana.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'então framework não serve para nada?' — Serve muito: ele te dá as partes prontas e testadas. O erro é achar que instalar a biblioteca já resolveu o projeto. O dia 2 e o dia 3 são inteiros sobre framework, e eles fazem mais sentido depois da tarde de hoje.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F7ED066-F06E-44C3-879A-EC56F4FED8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 é a tabela que eu mandaria imprimir e colar no monitor. Quem só sabe mexer no prompt escreve POR FAVOR NÃO ALUCINE em maiúsculas e reza. Quem entende harness lê o sintoma e vai direto no componente.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à turma um sexto sintoma, de experiência própria, e diagnostique junto. Quase sempre cai numa das linhas existentes, e isso reforça o ponto.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quando o modelo é ruim mesmo?' — Existe, e o sintoma é diferente: ele erra o raciocínio com todo o contexto correto na frente. É minoria. A regra prática é suspeitar do harness primeiro, porque é onde está a maioria dos defeitos e é a única parte que você controla.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EE206D-94FC-47F8-800A-6A0AA643D25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Só a primeira condição é a que todo mundo escreve. As outras três aparecem depois do primeiro susto: a conta de API do fim do mês, ou o agente que ficou meia hora relendo o mesmo arquivo.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Comente que a número 3 é a que mais salva com modelo local pequeno, porque repetição é o modo de falha típico de modelo pequeno em loop.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'qual valor de MAX_PASSOS?' — Comece em 10 para tarefa simples e 25 para tarefa de pesquisa. O número certo é o que você descobre olhando o traço: se o agente costuma terminar em 6, um teto de 10 pega os casos patológicos sem cortar os legítimos.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se a repetição for legítima?' — Acontece: ler dois arquivos diferentes com a mesma ferramenta não é repetição, porque os argumentos mudam. Por isso a chave inclui os argumentos.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10421EC-F0D7-4D23-91EE-CB880AF9D4E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Fecha o bloco teórico da manhã. A partir daqui é teclado.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Anuncie o laboratório e o intervalo. Diga o que precisa estar rodando quando voltarem: Ollama instalado e um modelo baixado, porque o download é a parte lenta.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quem não conseguiu instalar?' — Dupla com quem conseguiu. Não pare a sala por instalação; resolva individualmente durante o laboratório.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4F6FF0-3ED0-4140-B78F-6896CA66B98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11:25 - 12:15, 50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cada aluno com pelo menos um modelo respondendo localmente, e sabendo escolher entre os quatro caminhos.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por que local (4) · comparação dos quatro caminhos (6) · o mesmo cliente, três backends (5) · flags de tool calling (5) · critérios de escolha de modelo (5) · enunciado do laboratório (3) · laboratório assistido (22).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vá direto de 'comparação' para o laboratório; as flags podem ser lidas durante o próprio laboratório, quando o erro aparecer.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39AF437-C20A-45F2-8A65-809EBB2ED66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Seja honesto sobre o outro lado: modelo local pequeno é pior que modelo de fronteira em raciocínio longo, e isso não vai mudar hoje. O curso é sobre harness justamente porque um harness bom faz um modelo médio entregar bem.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Pergunte quantos têm restrição real de dado no trabalho. Em turma corporativa a mão sobe alto, e isso ancora o resto do dia.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'dá para misturar local e nuvem?' — Dá, e é o padrão maduro: local para as etapas de alto volume e baixo risco, nuvem para as poucas etapas que exigem raciocínio pesado. Escolher modelo por papel é assunto do dia 5.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969DE4-C283-4C1E-B57F-88F4AE0468B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Não existe o melhor: existe o adequado à etapa. Ollama para prototipar, llama.cpp quando o hardware é modesto ou você precisa de controle, vLLM quando várias pessoas ou vários agentes consomem o mesmo modelo, Transformers quando o objetivo é didático.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Diga qual você vai usar hoje na demonstração e por quê. Recomendo Ollama para a sala inteira e uma demonstração sua de vLLM, porque nem toda máquina da turma tem GPU.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Os quatro falam o mesmo dialeto na saída. É isso que permite o exercício do próximo slide.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LM Studio, e Jan?' — São interfaces gráficas sobre os mesmos motores. Ótimos para explorar, mas o curso trabalha com servidor e API porque é o que vai para produção.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C0505EB-C704-45CC-9DA1-6477D102338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O que este slide prova é a tese de que modelo e harness são camadas independentes. Mesmo código, três motores. Se amanhã sair um modelo melhor, muda a variável MODELO.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Rode ao vivo com Ollama e deixe a turma reproduzir. Depois rode a sua instância de vLLM e mostre que a saída sai igual.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FAÇA — Não gaste tempo de sala instalando vLLM em máquina sem GPU. Deixe como opcional da apostila.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'por que api_key se é local?' — A biblioteca exige o campo; o servidor ignora. É só um artefato de compatibilidade.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73557D-DF93-4F41-B1EB-2FAA959493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Estas três caixas economizam uma tarde inteira de frustração. O sintoma do terceiro cartão vai aparecer na sala hoje, e a conclusão errada que a pessoa tira é 'esse modelo não sabe usar ferramenta'.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Provoque o erro de propósito na sua máquina, se der tempo: suba o llama-server sem --jinja e mostre a saída em texto puro. Ver o sintoma vale mais que ouvir sobre ele.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se o meu modelo realmente não tem tool calling?' — Aí existe o plano B, que é o formato ReAct em texto puro com parsing feito pelo harness. Escrevemos isso no fim da tarde.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89C4574-C9EF-43F7-8152-16391EFDD5C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O terceiro item é o que a turma mais subestima. Latência num agente não é somada, é multiplicada: dez passos a nove segundos são um minoto e meio de espera por tarefa, e isso muda completamente o que é viável.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Mostre no relógio a diferença entre um 4B e um 8B respondendo a mesma pergunta na sua máquina.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'qual modelo você recomenda hoje?' — Recomendo a família, não a versão: Qwen e Llama têm tool calling consistente e tamanhos para todo hardware. A versão específica muda a cada poucos meses, e o critério para trocar é este slide, não o anúncio.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D8A1A0-1E05-41F3-8F07-774C31A8FAC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 + 22 min de laboratório]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Leia os quatro itens, ponha o cronômetro visível e circule pela sala. Não resolva no projetor: resolva na mesa da pessoa.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Quem travar na instalação faz dupla. O objetivo do bloco não é instalar: é ter um modelo respondendo.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FAÇA — Não libere o código pronto da extensão. Quem chegar lá sozinho ganha meia hora de vantagem à tarde, e isso é bom.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'posso usar API paga em vez de local?' — Pode acompanhar o curso assim, e tudo funciona igual. Mas faça pelo menos um backend local hoje: metade do valor do curso está em ver o modelo rodando na sua máquina.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12593C5-FF17-4E9B-B493-22762104C4E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13:15 - 13:50, 35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reconhece o padrão ReAct em qualquer framework e sabe quando um padrão diferente compensa.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a ideia em um parágrafo (5) · o traço original (6) · texto puro x campo estruturado (5) · as cinco variações (6) · quando trocar de padrão (5) · checkpoint (4).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corte 'quando trocar de padrão'; ReAct sozinho cobre o que a semana precisa.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FCA6F21-8044-44EC-90AB-F6D5A48389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Reasoning mais Acting. O artigo é de outubro de 2022, anterior a praticamente tudo que a turma usa, e continua sendo o esqueleto de LangGraph, smolagents, OpenHands e do Claude Code.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Ligue explicitamente ao desenho do loop da manhã: ReAct é o nome do formato de conversa que roda dentro daquele desenho.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'ainda é o estado da arte?' — Como padrão base, sim. O que mudou foi a implementação: em 2022 o pensamento era texto parseado pelo harness; hoje é campo estruturado da API. O ciclo lógico é o mesmo.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3604757-9E5C-498C-82D0-E4B82A20584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Leia o traço em voz alta como se fosse um diálogo, porque é isso que ele é. Observation não é o modelo falando: é o mundo respondendo. Essa é a única linha do traço que o modelo não escreveu.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Cubra a última Observation com a mão e pergunte à turma o que o modelo escreveria em seguida se ela não existisse. A resposta é: ele inventaria um número. Volta ao slide de abertura do dia.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Repare na citação da fonte na resposta final. Isso não é enfeite: é a camada de feedback aparecendo no formato de saída. Qualquer pessoa pode reconferir.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'o Thought serve para alguma coisa ou é enfeite?' — Serve. Escrever o raciocínio antes de agir mede melhor em benchmark do que agir direto, e além disso é o que você lê quando vai depurar. Um traço sem Thought é muito mais difícil de diagnosticar.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230DAD5-B0CB-4829-AA43-6F442F38479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Muita gente acha que tool calling estruturado substituiu o ReAct. Não substituiu: implementou. O que sumiu foi o parsing frágil, não o ciclo.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Ligue ao slide das flags da manhã: quando o servidor está mal configurado, você recebe a coluna da esquerda achando que pediu a da direita.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'qual eu uso?' — Estruturado sempre que o modelo suportar. Texto puro é plano B, e vale ter implementado porque um dia você vai precisar rodar num modelo que não suporta.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43EB9F7-2076-49F0-BCA5-7F834F580E1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Não decorem. O objetivo é reconhecer o nome quando ele aparecer num paper, num README ou numa reunião, e saber que todos são variações do mesmo esqueleto.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Aponte o último cartão e volte ao desenho do loop no quadro. Se a turma enxergar que os cinco cabem naquele desenho, o bloco cumpriu o objetivo.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'qual é o melhor?' — A pergunta certa é 'melhor para qual tarefa'. ReAct para tarefas exploratórias, Plan-and-Execute quando o caminho é previsível e alguém precisa aprovar o plano, Reflexion quando existe sinal de sucesso automático, CodeAct quando as ferramentas se compõem muito entre si.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8E174CF-9F7D-4717-B38B-29D04E26457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última linha é a mais honesta da tabela. Quando não existe forma automática de saber se deu certo, nenhum padrão esperto resolve: o que você precisa é de um humano no ciclo, e isso é assunto do dia 3.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à turma que classifique uma tarefa real do trabalho deles nesta tabela. É o melhor teste de que entenderam.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'posso misturar?' — Pode e é comum: planejar uma vez, executar cada etapa em ReAct e refletir quando o teste falhar. Os padrões não são exclusivos.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B5B3CD7-5D0F-4D5E-B05B-B304D399796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Feche o bloco com esta frase e conecte de volta ao README.md do começo do dia. A turma precisa sair do dia 1 com uma linha só na cabeça, e é esta.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O próximo bloco mostra quem já resolveu isso em produção, e o que eles cortaram para chegar lá.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se a ferramenta mentir?' — Excelente pergunta, e vale elogiar. Ferramenta com bug é observação falsa, e o agente confia nela cegamente. Por isso ferramenta de agente precisa de teste unitário como qualquer outro código. Fazemos isso no dia 2.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61405B-1EF2-41D5-851F-4E2D8E90271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13:50 - 14:20, 30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sabe o que existe pronto, o que cada um resolve, e por que ainda assim vamos escrever o nosso à mão.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Agent Zero (5) · a lição da transparência de prompt (4) · Hermes, os dois (5) · voz como interface (4) · a tabela de vocabulário (6) · MCP não é harness (4) · nota sobre por que escrever o nosso (2).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corte o slide de voz e o de MCP; ambos estão na apostila com mais detalhe do que cabe aqui.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393E07-B37B-4212-8822-E156EF553F0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Agent Zero leva ao extremo uma aposta: em vez de desenhar ferramentas para cada tarefa, dê ao agente o computador inteiro. Isso é uma escolha explícita de capability alta e constraint forte, e as duas coisas andam juntas: só dá para entregar um shell porque tudo roda num container descartável.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Abra o repositório e mostre a pasta prompts/ na tela. É mais convincente que descrever.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'isso é seguro?' — Dentro do container, sim, dentro do que o container garante. Fora dele, não seria. O ponto do projeto é justamente que a segurança está no isolamento, não na boa vontade do modelo.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A26986-8E9B-42AA-ADF7-0E718E7B0FE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Este é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critério prático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eu uso para avaliar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qualquer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framework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agente: consigo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ver, sem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gambiarra,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exatamente o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foi enviado ao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modelo? Se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é não,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manutenção vai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aparecer depois.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Antecipe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laboratório 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tarde: a primeira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ferramenta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depuração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vocês vão escrever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é justamente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imprimir o contexto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 antes de cada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chamada.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PERGUNTAREM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'LangChain deixa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ver?' — Deixa,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 callbacks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 LangSmith,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vamos usar. Mas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padrão ele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esconde bastante,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é por isso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hoje escrevemos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 framework.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A080AF2-514B-4872-B560-D11E8942515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Confundir os dois é comum em conversa técnica, e o mal-entendido custa tempo. Quando alguém disser 'estamos usando Hermes', pergunte qual.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Ligue a coluna da esquerda ao slide das flags da manhã: o --tool-call-parser hermes é literalmente por causa dessa família.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O terceiro item da direita é o que mais interessa ao curso: um agente que registra o que funcionou e reusa depois deixa de ser uma função e começa a ser um sistema. É a camada de memória virando produto.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'skills auto-geradas funcionam mesmo?' — Funcionam quando existe verificação. Sem feedback, o agente registra como boa uma solução que só pareceu boa, e o erro passa a ser permanente. Memória sem verificação amplifica erro.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2C3DC11-39D7-4656-B76D-C31B9E958AF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O ponto de arquitetura é o terceiro cartão. Um harness bem desenhado trata entrada e saída como interfaces plugáveis: hoje texto e voz, amanhã imagem ou webhook. Se o seu loop só sabe falar com um terminal, você vai reescrevê-lo quando o produto pedir outra interface.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Comente a entrega diferente por plataforma: no Telegram vira bolha de áudio tocável em Opus, no Discord e no WhatsApp vira anexo de arquivo. Detalhe pequeno que decide a experiência.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'dá para fazer isso local de ponta a ponta?' — Dá: Whisper para entrada e Piper para saída, ambos rodando na máquina. É mais lento e é gratuito e privado.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64FFD4-03B4-455B-9015-CF721C25757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 tabela existe para a turma não se sentir perdida quando abrir o Hacker News. Nenhum desses nomes é pré-requisito do curso; todos vão aparecer na vida deles.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Pergunte quais eles já ouviram. Costuma sair CrewAI e AutoGPT, e é uma boa deixa para falar do custo do loop sem freio.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'por que CrewAI é difícil de depurar?' — Porque a abstração de papéis esconde a montagem do contexto. Volta ao critério de dois slides atrás: se você não vê o prompt enviado, você adivinha.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09C4039-EF03-46C5-B193-9837A401A6E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confusão mais comum de 2026 é achar que adotar MCP é ter arquitetura de agente. Não é. MCP resolve um problema de integração: como um servidor descreve as ferramentas que oferece, para que qualquer cliente consiga usá-las sem código dedicado. O loop, a parada e a política de contexto continuam sendo seu problema.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Use a analogia do USB-C: padronizar o conector não decide o que você liga nem para quê.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'vale adotar já?' — Vale quando você tem mais de um consumidor para as mesmas ferramentas, ou quando quer consumir ferramentas de terceiros. Para um agente único com três ferramentas próprias, é cerimônia sem ganho.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F8B5CD-452C-4FFC-BB1C-DB591BFD730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Antecipe a objeção antes que ela vire desmotivação: alguém vai pensar 'por que escrever à mão se existe framework?'. A resposta é a mesma de escrever uma lista ligada na faculdade.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Anuncie que o próximo bloco é o último de teoria, e depois é teclado até o fim do dia.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'dá para usar o código da tarde em produção?' — Para um script interno com duas ferramentas, dá e é razoável. A partir de estado persistente, aprovação humana e concorrência, use LangGraph.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6D39E47-0C7C-4A32-A6A2-68157D00C00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14:20 - 14:45, 25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sai com quatro provas de que o ganho veio de estrutura, e com duas receitas concretas de como escrever instruções.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OpenAI Codex em números (5) · as duas escolas de instrução (5) · o triângulo da Anthropic (5) · Stripe e o volume (4) · o que as quatro têm em comum (4) · fecho e intervalo (2).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Stripe pode virar uma frase dita em pé; os outros três sustentam argumentos usados no resto da semana.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5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AB4807-5EF5-469F-A8A7-2F10EE53C5B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Fevereiro de 2026, o texto que popularizou o termo harness engineering. Três pessoas e cinco meses para um milhão de linhas só é possível porque o trabalho humano deixou de ser escrever código e passou a ser construir e ajustar o harness.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Deixe a turma reagir aos três primeiros números antes de revelar o quarto. O contraste entre 1M e 100 é o slide inteiro.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O que sustentou o resultado, além do AGENTS.md curto: regras de lint no CI escritas pelo próprio Codex, arquitetura de dependências em camadas fixas, e o Chrome DevTools Protocol dando olhos ao agente para ele ver o que tinha construído.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'um milhão de linhas não é métrica ruim?' — É, e vale dizer isso. O número que importa aqui é o 100, não o 1M. Linha de código mede volume, não valor.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5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6649EEF-3DE7-4164-8B0A-07A1E52F384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Parecem opostas e não são. A da esquerda diz o que colocar; a da direita diz quando colocar. Junte as duas e você tem a receita: comece com o mapa mínimo do projeto, e a partir daí só acrescente linha quando um erro real justificar.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Recomende a prática do Hashimoto explicitamente como tarefa de casa da semana: toda vez que corrigirem o agente na mão, perguntem se aquilo vira uma linha de instrução.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Boris Cherny, criador do Claude Code, chama isso de engenharia de juros compostos: cada correção que vira regra rende para sempre.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se o arquivo crescer demais?' — Aí você poda, e a poda é parte do trabalho. O critério está dois blocos à frente: se eu apagar esta linha, o agente volta a errar? Se não volta, apague.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5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AA79EA-F60A-491A-ABA2-17B26BCE9A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pergunta óbvia é por que não deixar o Generator conferir o próprio trabalho. A resposta deles é direta e vale citar: projetar um avaliador independente e rigoroso é muito mais fácil do que ensinar um gerador a criticar a si mesmo.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Ligue à camada de feedback do bloco 2 e anuncie que este triângulo é a origem direta do Crítico que vamos construir no dia 4.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O Sprint Contract é a peça que a maioria esquece. Acordar o critério de pronto ANTES de gerar é o que impede a discussão de virar opinião depois.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'não fica caro rodar três agentes?' — Fica mais caro por tarefa e mais barato por tarefa entregue. É o slide do US$ 9 contra US$ 200 do começo do dia.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6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5EE8B4D-1A81-4AA8-8E9E-EA0212615FE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Este caso responde a pergunta 'e quando escala?'. A resposta é desconfortável: o gargalo se desloca para a revisão humana, e o harness precisa ser desenhado para produzir trabalho revisável, não só trabalho correto.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Pergunte à turma quantos PRs por semana o time deles consegue revisar de verdade. O número costuma ser bem menor do que 1300, e é aí que a ficha cai.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'quem revisa 1300 PRs?' — Não é uma pessoa: é o conjunto dos times donos de cada área, e cada PR é pequeno o suficiente para caber em minutos. O desenho do escopo é o que torna isso possível.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6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346E7CA-3371-4DE1-9FDA-92E981D8804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Se a turma levar três coisas deste bloco, são estas. E repare que nenhuma delas é sobre escolher o modelo certo.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Volte à tabela das cinco camadas e mostre que os três cartões são instructions, feedback e orchestration. As quatro equipes chegaram sozinhas ao mesmo lugar.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memória? Ninguém usa?' — Usam, e é a camada menos documentada nos posts públicos, provavelmente porque é a mais específica de cada empresa. É também onde a diferença entre um agente bom e um agente ótimo aparece depois de alguns meses.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6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BBA019-BCD3-482F-9B6A-1E18F76872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15:00 - 15:25, 25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sai sabendo que harness também se poda, e com um critério objetivo para decidir o que cortar.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context rot (5) · o sanduíche de raciocínio (5) · harness decay (5) · o critério de poda (5) · construir para apagar (3) · fecho (2).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o sanduíche pode sair; context rot e harness decay não, porque o dia 4 se apoia nos dois.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6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3095954-AB65-46A2-A8E9-354F7933E6F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Este é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que contraria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intuição de todo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mundo na sala.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intuição diz: na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dúvida, coloque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mais no contexto.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medição diz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contrário. Várias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equipes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independentes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chegaram ao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mesmo resultado,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um estudo 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ETH Zurich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março de 2026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mostrou casos 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 ter um arquivo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instruções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PIOROU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desempenho do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Use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analogia da mesa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trabalho: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encontrar um papel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específico numa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mesa com 200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papéis é mais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difícil do que numa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 20, mesmo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 a mesa caiba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 200.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PERGUNTAREM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'então janela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grande não serve?'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Serve, e muito,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tarefas 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 o volume 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inevitável. O erro 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tratar janela grande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como licença para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decidir o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entra. Capacidade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substitui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curadoria.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6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45D59BB-4B8B-4399-9A14-4AC058E76F5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Leia a primeira linha em voz alta e deixe o número afundar: a configuração mais cara e mais capaz foi a pior das três. Planejar exige deliberação; implementar é largamente mecânico; verificar exige capacidade total de novo. Gastar o máximo na parte mecânica não compra nada e custa tempo.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Generalize para a turma: alocação de recurso importa mais que quantidade de recurso. Vale para contexto, para raciocínio, para orçamento e para tempo de equipe.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'dá para fazer isso com modelo local?' — Dá, e é uma das vantagens de rodar local: você troca de modelo por etapa sem pagar a mais. Planejar com um 14B, executar com um 4B, verificar de novo com o 14B. Fazemos isso no dia 5.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6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155AFD3-205F-4ABF-8793-5127525D2C8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Isto muda a forma de escrever harness. Cada peça que você adiciona existe para compensar uma limitação atual do modelo. Quando a limitação some, a peça vira peso morto — e peso morto no contexto custa duas vezes: em token e em context rot.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à turma que imagine o próprio código daqui a um ano. Quantas das regras que escreveram hoje ainda seriam necessárias?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'como eu sei que a limitação sumiu?' — Você testa. Remova a peça, rode o conjunto de casos que você guardou, compare. É por isso que avaliação, no dia 5, não é um extra acadêmico: sem ela você não consegue podar com segurança.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 type="sldNum" idx="6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EBC1B78-7C53-4BC3-893C-CE28B7DA32A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O terceiro cartão é o mais rentável dos três e o menos praticado. Metade do que as pessoas escrevem em AGENTS.md deveria ser uma regra de lint. Migrar do texto para o código libera contexto e transforma sugestão em lei ao mesmo tempo.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um exemplo de linha de instrução do projeto de alguém e classifique junto com a sala nas três perguntas.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quando não dá para automatizar?' — Aí fica no texto, e tudo bem. O ponto não é esvaziar o arquivo: é não deixar nele o que poderia estar em outro lugar mais forte.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sldNum" idx="6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59F5F94-DE18-4091-BB83-8825851AAA7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Feche o bloco de teoria do dia com esta frase. É a mais fácil de esquecer e a que mais separa harness maduro de harness inchado.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Anuncie o laboratório final: a partir daqui, teclado até o fim do dia.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'como eu justifico poda para o meu chefe?' — Com os dois números do dia: 38% de queda de custo na Anthropic ao remover peças, e 53,9% contra 66,5% na LangChain ao alocar melhor em vez de gastar mais.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PlaceHolder 3"/>
          <p:cNvSpPr>
            <a:spLocks noGrp="1"/>
          </p:cNvSpPr>
          <p:nvPr>
            <p:ph type="sldNum" idx="6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45F50ED-B2F2-463C-ABB4-8BF5649C3F8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15:25 - 16:30, 65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cada aluno com um agente próprio funcionando, escrito à mão, com duas ferramentas e quatro condições de parada.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a arquitetura em uma tela (4) · ferramentas como funções (6) · o princípio do erro útil (4) · schemas (5) · o loop digitado ao vivo (8) · conferência componente a componente (5) · plano B sem tool calling (4) · enunciado (3) · laboratório assistido (26).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o plano B pode ficar para a apostila. Digitar o loop ao vivo é a parte que não pode sair de jeito nenhum.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 type="sldNum" idx="6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5E3947B-3A9F-4D14-BD02-A5DFC87B2A9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Mostre o mapa antes de digitar qualquer linha. Quem sabe onde a peça encaixa erra menos quando trava.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Diga o tempo alvo de cada parte: ferramentas em 15 minutos, schemas em 10, loop em 20, instrumentação em 10, e o resto para provocar falhas.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'posso usar LangChain já?' — Hoje não. Amanhã sim, e amanhã vai parecer fácil justamente por causa de hoje.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PlaceHolder 3"/>
          <p:cNvSpPr>
            <a:spLocks noGrp="1"/>
          </p:cNvSpPr>
          <p:nvPr>
            <p:ph type="sldNum" idx="7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53694F-1C61-473A-8E1A-C758D9DA791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Pare aqui e discuta segurança por dois minutos de verdade. Pergunte o que acontece se o modelo pedir ler_arquivo('../../../etc/passwd'). A checagem de prefixo é a camada de constraint aparecendo em três linhas de código.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Por que existe a ferramenta calcular, se modelos atuais acertam contas? Não é muleta aritmética. É que, quando a conta passa pela ferramenta, três coisas passam a valer: a expressão exata fica registrada no traço, o resultado é idêntico em toda rodada, e qualquer pessoa reconfere sem precisar confiar no modelo. É determinismo e auditoria.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Mostre o corte em 4000 caracteres e explique que é política de contexto, não preguiça: um arquivo de 200 KB entra inteiro no histórico e envenena todas as voltas seguintes.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'não é mais simples usar eval com try?' — Não. try não protege contra __import__('os').system('rm -rf /'), que é uma expressão perfeitamente válida em Python. O AST limitado é a única forma segura.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PlaceHolder 3"/>
          <p:cNvSpPr>
            <a:spLocks noGrp="1"/>
          </p:cNvSpPr>
          <p:nvPr>
            <p:ph type="sldNum" idx="7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3C7A79B-C476-47BD-AD5E-F92EE5DF1A7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Escreva no quadro e deixe lá: mensagem de erro é interface. Este princípio volta todos os dias do curso, e é a coisa mais barata de implementar com maior retorno.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à turma que abra o código de alguma ferramenta que já escreveram no trabalho e leia a mensagem de erro. Quase sempre ela foi escrita pensando num humano lendo log, não num modelo tentando se corrigir.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'isso não vaza informação?' — Pode vazar, e é uma decisão consciente: listar arquivos do diretório revela o diretório. Em contexto sensível você lista menos, ou lista só nomes que casam com o padrão pedido. Segurança e utilidade se negociam aqui.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sldNum" idx="7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C20FC9F-4FEB-4BBD-A7D1-AC9C89A2003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A description não é documentação: é a única coisa que o modelo lê para decidir se aquela ferramenta serve. Uma description ruim produz um agente que ignora a ferramenta certa ou usa a errada. Isso tem nome no campo: Agent-Computer Interface.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Não passe rápido daqui. A dor da duplicação entre REGISTRO e ESPECIFICACOES precisa ser sentida hoje, para que o valor do @tool amanhã seja óbvio. Pergunte o que acontece quando alguém renomeia um argumento e esquece o schema.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'quantas ferramentas o modelo aguenta?' — Depende do modelo, mas a regra prática é: acima de umas dez ou quinze, a taxa de escolha errada sobe visivelmente. A saída é agrupar por especialidade em vez de aumentar a lista, e isso leva direto ao dia 4.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PlaceHolder 3"/>
          <p:cNvSpPr>
            <a:spLocks noGrp="1"/>
          </p:cNvSpPr>
          <p:nvPr>
            <p:ph type="sldNum" idx="7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9638E8-975A-4AEB-880D-033044D4321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[8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Este é o slide mais importante do dia. Os quatro comentários à direita são quatro dos cinco passos do runtime da manhã; o quinto, memória, é justamente o que não existe aqui.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Digite ao vivo, linha por linha, com a turma acompanhando. Não cole pronto. Digitar leva quatro minutos e vale mais que quarenta de explicação, porque eles veem a ordem em que as peças aparecem.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FAÇA — Não pule o mensagens.append da resposta do modelo. É o erro que mais aparece: as pessoas anexam a observação e esquecem de anexar a mensagem do assistente que pediu a ferramenta, e a API recusa o histórico.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'por que temperature=0?' — Porque num agente você quer o mesmo comportamento nas mesmas condições. Criatividade aqui é ruído, e ruído torna o traço impossível de comparar entre execuções.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se a ferramenta lançar exceção?' — Aí o loop morre inteiro, e é um exercício de hoje: envolver a chamada em try e devolver o erro como observação. O agente precisa poder se recuperar de ferramenta quebrada.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PlaceHolder 3"/>
          <p:cNvSpPr>
            <a:spLocks noGrp="1"/>
          </p:cNvSpPr>
          <p:nvPr>
            <p:ph type="sldNum" idx="7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C23DAF5-89BC-4176-9EA4-AEC2A503379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 tabela é a agenda dos próximos quatro dias, e vale dizer isso explicitamente. A duplicação vira @tool amanhã; a sandbox mínima vira hooks no dia 3; a memória inexistente vira checkpointer no dia 3; as duas condições de parada que faltam são exercício de hoje.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que cada aluno preencha a coluna Status com o próprio código no fim do laboratório. É a autoavaliação do bloco.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'o que falta para isso ir para produção?' — Persistência, tratamento de concorrência, observabilidade de verdade e aprovação humana em ações irreversíveis. Todos os quatro estão nos próximos dias.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PlaceHolder 3"/>
          <p:cNvSpPr>
            <a:spLocks noGrp="1"/>
          </p:cNvSpPr>
          <p:nvPr>
            <p:ph type="sldNum" idx="7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67C4DD-A33F-4820-B216-C4068F912F3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Muitos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modelos de 1B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3B só funcionam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assim, e é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caminho para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máquinas fracas.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Repare que isto 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literalmente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 original: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em texto,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parsing no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harness.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Avise do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modo de falha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típico: o modelo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escreve uma frase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do JSON.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isso a extração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procura a primeira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chave e a última,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 vez de tentar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json.loads no texto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inteiro.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PERGUNTAREM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'e se vier JSON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inválido?' 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Reinjete o erro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parsing como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observação e deixe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modelo tentar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novo, com limite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tentativas.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Isso é feedback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puro, e funciona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surpreendentement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bem.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3"/>
          <p:cNvSpPr>
            <a:spLocks noGrp="1"/>
          </p:cNvSpPr>
          <p:nvPr>
            <p:ph type="sldNum" idx="7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0540B9A-1EFB-458E-B110-0728A3D255A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 + 26 min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laboratório]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Leia os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quatro itens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deixe visível.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Circule pela sala;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resolva no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projetor.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Para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quem terminar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antes: implemente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plano B 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 e compare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taxa de sucesso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 a do tool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calling nativo, no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mesmo modelo,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dez tentativas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NÃO FAÇA — Não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libere o andaime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código no início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bloco. Libere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aluno, sob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demanda, e só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depois de a pessoa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 travado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verdade por alguns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minutos.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PERGUNTAREM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'quanto vale o item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4?' — Vale mais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 os outros três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juntos, e vale dizer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isso. Provocar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falha de propósito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é a habilidade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separa quem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depura de quem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tenta de novo.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PlaceHolder 3"/>
          <p:cNvSpPr>
            <a:spLocks noGrp="1"/>
          </p:cNvSpPr>
          <p:nvPr>
            <p:ph type="sldNum" idx="7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F195F81-DCAC-4916-B8B0-536B7FAC263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[BLOCO: 16:30 - 17:00, 30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QUE ESTE BLOCO ENTREGA - a turma sai com instrumentação montada, com a tabela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erros clássicos na mão e com a pergunta do dia 2 no 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- os três instrumentos (6) · como se lê um traço (5) · erros clássicos (6) · o que ficou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faltando no nosso harness (4) · recapitulação das cinco camadas (4) · gancho para o dia 2 (3) ·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leitura de casa (2).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O TEMPO APERTAR - a recapitulação pode ser feita oralmente enquanto a turma guarda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coisas. Os erros clássicos ficam, porque poupam horas durante a semana.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PlaceHolder 3"/>
          <p:cNvSpPr>
            <a:spLocks noGrp="1"/>
          </p:cNvSpPr>
          <p:nvPr>
            <p:ph type="sldNum" idx="7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029185C-40AE-49A5-9B62-895F35F99E1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Reserve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 real para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isso. Alunos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pulam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instrumentação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hoje sofrem no dia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4, quando houver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cinco agentes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nenhuma forma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 o que cada um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recebeu.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Mostre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sua saída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instrumentada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rodando. Ver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ajuda mais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 descrever.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TAMBÉM 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terceiro item é 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mais subestimado.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Guardar o traço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custa cinco linhas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é a diferença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entre comparar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duas execuções 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discutir de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memória.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PERGUNTAREM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'não é melhor usar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LangSmith ou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Langfuse?' — É,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quando o projeto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cresce, e vemos no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4. Hoje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versão de cinco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linhas ensina o que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ferramenta faz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você.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PlaceHolder 3"/>
          <p:cNvSpPr>
            <a:spLocks noGrp="1"/>
          </p:cNvSpPr>
          <p:nvPr>
            <p:ph type="sldNum" idx="7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1916D4F-DB58-4FFC-BDC2-F6675A49395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Depurar agente é diferente de depurar código comum porque não há stack trace: o sistema funciona e entrega a coisa errada. O traço é o seu único instrumento.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Se algum aluno teve uma falha real no laboratório, abra o traço dele no projetor e percorra os quatro passos ao vivo. Vale mais que qualquer exemplo preparado.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'e quando o traço está certo e a resposta está errada?' — Aí o problema é de modelo ou de ferramenta que mentiu. Confira a ferramenta primeiro: ela é código seu e tem bug com muito mais frequência do que o modelo raciocina errado com todo o dado correto na frente.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PlaceHolder 3"/>
          <p:cNvSpPr>
            <a:spLocks noGrp="1"/>
          </p:cNvSpPr>
          <p:nvPr>
            <p:ph type="sldNum" idx="8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86E9BAB-D54B-40AA-98E0-B9D462E1DF5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Leia esta tabela em voz alta antes de a turma ir embora. Eles vão bater em pelo menos três destes durante a semana, e reconhecer o sintoma economiza horas.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que fotografem o slide. É a página mais consultada da apostila.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'a quinta linha não é problema do modelo?' — Às vezes é, mas na maioria das vezes é description que só diz o que a ferramenta faz e não diz quando usar. Comparar as duas versões da description no mesmo modelo é um teste rápido e costuma resolver.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PlaceHolder 3"/>
          <p:cNvSpPr>
            <a:spLocks noGrp="1"/>
          </p:cNvSpPr>
          <p:nvPr>
            <p:ph type="sldNum" idx="8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500970A-252C-4C60-85F8-B7C77C1D6A1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Feche o dia com honestidade sobre o que foi construído. O harness da tarde é real e é insuficiente, e as duas coisas são verdade ao mesmo tempo.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Aponte cada item da direita e diga o dia. A turma sai sabendo por que existe o resto da semana.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'dá para usar isso amanhã no trabalho?' — Para um script interno com duas ferramentas, dá. Assim que aparecer estado persistente ou ação irreversível, espere o dia 3.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PlaceHolder 3"/>
          <p:cNvSpPr>
            <a:spLocks noGrp="1"/>
          </p:cNvSpPr>
          <p:nvPr>
            <p:ph type="sldNum" idx="8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3FB549-08FC-455F-A0AF-DDAD977ABE1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Esta é a promessa feita de manhã sendo cumprida: ao fim de cada dia voltamos às cinco camadas e dizemos o que foi construído. Repare que duas ficaram vazias hoje, e isso é de propósito.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Peça à turma que copie esta tabela e a atualize sozinha ao fim de cada dia da semana. Quem fizer isso sai com um mapa próprio do curso inteiro.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'faltou capability nessa lista?' — Capability não é uma sexta camada: as ferramentas são o corpo que as instructions comandam e que os constraints limitam. Manter cinco nomes é o que faz o vocabulário ser útil.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PlaceHolder 3"/>
          <p:cNvSpPr>
            <a:spLocks noGrp="1"/>
          </p:cNvSpPr>
          <p:nvPr>
            <p:ph type="sldNum" idx="8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7E1B46D-23DE-4736-B373-DE8CA629405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Termine com esta pergunta no ar e não responda hoje. A frustração de manter os dois em sincronia é o que faz o decorador @tool parecer óbvio amanhã.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Deixe o slide na tela enquanto a turma guarda as coisas.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'não dá para gerar o schema por reflexão?' — Dá, e é exatamente o que o @tool faz com type hints e docstring. Se alguém chegou nessa pergunta sozinho, o dia funcionou.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PlaceHolder 3"/>
          <p:cNvSpPr>
            <a:spLocks noGrp="1"/>
          </p:cNvSpPr>
          <p:nvPr>
            <p:ph type="sldNum" idx="8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28E979A-1518-482E-B6AD-1023F45532F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 min]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— Não é leitura obrigatória para acompanhar amanhã, mas quem ler chega com perguntas melhores.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— Os links estão no capítulo de recursos da apostila.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PERGUNTAREM 'tem algo em português?' — A apostila deste curso é o material em português; os textos originais estão todos em inglês, e vale ler no original porque a terminologia é a que eles vão encontrar em documentação.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PlaceHolder 3"/>
          <p:cNvSpPr>
            <a:spLocks noGrp="1"/>
          </p:cNvSpPr>
          <p:nvPr>
            <p:ph type="sldNum" idx="8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45368F-0C50-41A2-BB71-CB08DE9BD9E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do texto do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40080" y="914400"/>
            <a:ext cx="1919880" cy="685440"/>
          </a:xfrm>
          <a:prstGeom prst="roundRect">
            <a:avLst>
              <a:gd name="adj" fmla="val 16000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91440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71326"/>
                </a:solidFill>
                <a:effectLst/>
                <a:uFillTx/>
                <a:latin typeface="Calibri"/>
                <a:ea typeface="Calibri"/>
              </a:rPr>
              <a:t>DIA 1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1874520"/>
            <a:ext cx="10881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O que é um agente, de verdade</a:t>
            </a:r>
            <a:endParaRPr lang="pt-B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3337560"/>
            <a:ext cx="9509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Agent harness, as cinco camadas e o loop rodando na sua própria máquina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40080" y="4572000"/>
            <a:ext cx="2445840" cy="123408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47091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5074920"/>
            <a:ext cx="208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deaf5"/>
                </a:solidFill>
                <a:effectLst/>
                <a:uFillTx/>
                <a:latin typeface="Calibri"/>
                <a:ea typeface="Calibri"/>
              </a:rPr>
              <a:t>Por que um LLM sozinho não age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360600" y="4572000"/>
            <a:ext cx="2445840" cy="123408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543480" y="47091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543480" y="5074920"/>
            <a:ext cx="208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deaf5"/>
                </a:solidFill>
                <a:effectLst/>
                <a:uFillTx/>
                <a:latin typeface="Calibri"/>
                <a:ea typeface="Calibri"/>
              </a:rPr>
              <a:t>As cinco camadas de um harness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6080760" y="4572000"/>
            <a:ext cx="2445840" cy="123408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263640" y="47091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263640" y="5074920"/>
            <a:ext cx="208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deaf5"/>
                </a:solidFill>
                <a:effectLst/>
                <a:uFillTx/>
                <a:latin typeface="Calibri"/>
                <a:ea typeface="Calibri"/>
              </a:rPr>
              <a:t>Modelos locais por quatro caminhos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8801280" y="4572000"/>
            <a:ext cx="2445840" cy="123408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8984160" y="470916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8984160" y="5074920"/>
            <a:ext cx="2080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deaf5"/>
                </a:solidFill>
                <a:effectLst/>
                <a:uFillTx/>
                <a:latin typeface="Calibri"/>
                <a:ea typeface="Calibri"/>
              </a:rPr>
              <a:t>Escrever o loop em Python puro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ROTEIRO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As oito horas de hoje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09:00 – 10:30 · O problema e o vocabulário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1234440" y="197496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Por que o modelo inventa, o que é um harness, as cinco camadas e o loop por dentro. Termina com a turma sabendo nomear cada peça.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640080" y="26362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 7"/>
          <p:cNvSpPr/>
          <p:nvPr/>
        </p:nvSpPr>
        <p:spPr>
          <a:xfrm>
            <a:off x="640080" y="2636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234440" y="260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10:45 – 11:00 · Laboratório: o modelo na sua máquina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1234440" y="296532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Subir Ollama, llama.cpp e vLLM. Provar que o mesmo cliente fala com os três. Medir a diferença.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640080" y="34286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640080" y="3428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1234440" y="34012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13:10 – 14:45 · Como os outros fazem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1234440" y="37580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ReAct e variantes, harnesses prontos, e quatro equipes reais que resolveram isso em produção.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640080" y="42213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640080" y="4221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1234440" y="419400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15:00 – 16:30 · Laboratório: escrever o harness à mão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234440" y="45504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Ferramentas, schemas, o loop, a parada. Sessenta linhas que funcionam.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640080" y="50137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640080" y="5013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1234440" y="49863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16:30 – 17:00 · Fechamento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234440" y="534312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Demos rápidas, erros clássicos, tarefa de casa.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 problema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Começamos por uma resposta inventada.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ABERTURA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Rode isto agora, na pasta de um projeto seu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640080" y="1691640"/>
            <a:ext cx="3748680" cy="12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Uma pergunta sobre o SEU mundo. O modelo responde com um número exato e um tom seguro.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 erra.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640080" y="3231000"/>
            <a:ext cx="3748680" cy="275796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4"/>
          <p:cNvSpPr/>
          <p:nvPr/>
        </p:nvSpPr>
        <p:spPr>
          <a:xfrm>
            <a:off x="859680" y="3377160"/>
            <a:ext cx="3309840" cy="24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Não é um modelo ruim. Qualquer modelo faz isso, do menor local ao maior de fronteira.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4754880" y="1691640"/>
            <a:ext cx="6766200" cy="429732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956120" y="1828800"/>
            <a:ext cx="63637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$ ollama run qwen3:4b \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"Quantas linhas tem o README.md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deste projeto?"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&gt; "O README.md tem 128 linhas."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$ wc -l README.md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&gt; 47 README.md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 SEGUNDA PERGUNTA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E agora sem a menor chance de sorte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640080" y="1691640"/>
            <a:ext cx="374868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 a primeira ainda deixa dúvida — 'talvez ele tenha chutado bem' — a segunda não deixa nenhuma.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640080" y="2761560"/>
            <a:ext cx="3748680" cy="3227400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4"/>
          <p:cNvSpPr/>
          <p:nvPr/>
        </p:nvSpPr>
        <p:spPr>
          <a:xfrm>
            <a:off x="859680" y="2907720"/>
            <a:ext cx="330984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Hash plausível. Mensagem plausível. Autor plausível. Tudo inventado.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Repare no que ele NÃO fez: dizer que não tem como saber.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4754880" y="1691640"/>
            <a:ext cx="6766200" cy="429732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6"/>
          <p:cNvSpPr/>
          <p:nvPr/>
        </p:nvSpPr>
        <p:spPr>
          <a:xfrm>
            <a:off x="4956120" y="1828800"/>
            <a:ext cx="63637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$ ollama run qwen3:4b \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"Qual foi o ultimo commit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deste repositorio, e quem fez?"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&gt; "a3f9c21 - fix: corrige validacao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&gt;  de token (Maria Silva)"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$ git log -1 --oneline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&gt; 8e1b402 docs: atualiza README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 PONTO DE PARTIDA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O modelo não tem acesso ao seu mundo.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E não avisa que não tem.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Um LLM só enxerga o texto que está no contexto. Ele não abre arquivos, não lê o disco, não consulta a rede, não olha o relógio. Quando você pergunta sobre o mundo, ele não consulta o mundo: completa a frase com o que é estatisticamente plausível.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 SEGUNDA METADE DO PROBLEMA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Mesmo quando acerta, ninguém consegue provar que acertou.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A LangChain mediu isso no Terminal Bench 2.0: o modo de falha dominante é o agente terminar de escrever, reler o próprio código, achar bom e parar. Sem rodar teste, sem verificar caso de borda. Não é incapacidade — é satisfação fácil demais.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 PROBLEMA INTEIRO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Quatro faltas, e nenhuma se resolve com prompt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Table 0"/>
          <p:cNvGraphicFramePr/>
          <p:nvPr/>
        </p:nvGraphicFramePr>
        <p:xfrm>
          <a:off x="640080" y="1691640"/>
          <a:ext cx="10881000" cy="17316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292608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modelo sozinho não consegue...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falta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Onde resolvemos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OLHAR o seu mundo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Ler arquivos, bancos, APIs, repositório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1 e 2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AGIR no seu mundo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Escrever, executar, publicar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1 e 3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PROVAR que acertou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Rodar teste, comparar, verificar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4 e 5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LEMBRAR do que descobriu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Persistir entre execuções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3 e 4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82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 TESE DO CURSO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40080" y="178308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Agent = Model + Harness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640080" y="2926080"/>
            <a:ext cx="101494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O harness é tudo que não é o modelo: instruções, limites, ferramentas, verificação, memória, orquestração. É o que você escreve, versiona e depura. E ele não deixa o modelo mais inteligente mas deixa a inteligência do modelo útil e verificável.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 DEFINIÇÃO DA OPENAI, FEVEREIRO DE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Se o modelo de raciocínio é o cérebro,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o harness são as mãos e os pés.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640080" y="3520440"/>
            <a:ext cx="50536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Um harness é o tool shell que permite a um agente afetar o mundo real. Ler arquivos, corrigir código, rodar testes, publicar em produção: tudo acontece dentro do harness. Repare que a definição não diz 'prompt' — diz shell, um ambiente inteiro.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m 4" descr="Harness Engineering: A Disciplina de Engenharia que Está Redefinindo Como  Trabalhamos com Agentes de IA"/>
          <p:cNvPicPr/>
          <p:nvPr/>
        </p:nvPicPr>
        <p:blipFill>
          <a:blip r:embed="rId1"/>
          <a:srcRect l="3288" t="0" r="6243" b="16175"/>
          <a:stretch/>
        </p:blipFill>
        <p:spPr>
          <a:xfrm>
            <a:off x="5895000" y="3361680"/>
            <a:ext cx="6359040" cy="331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DE ONDE VEM A PALAVRA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640080" y="676800"/>
            <a:ext cx="1088100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Harness tem uso técnico em cinco áreas, e sempre significa o mesmo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640080" y="1905840"/>
            <a:ext cx="3431520" cy="1872000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841320" y="210708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4"/>
          <p:cNvSpPr/>
          <p:nvPr/>
        </p:nvSpPr>
        <p:spPr>
          <a:xfrm>
            <a:off x="841320" y="21070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1261800" y="20887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Arreio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841320" y="2564280"/>
            <a:ext cx="302940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As rédeas não deixam o cavalo mais forte. Tornam a força dele aproveitável. É a metáfora que deu nome à coisa.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4364640" y="1905840"/>
            <a:ext cx="3431520" cy="1872000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4565880" y="210708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4565880" y="21070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4986360" y="20887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Chicote elétrico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4565880" y="2564280"/>
            <a:ext cx="302940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Norma NASA-STD-8739 para naves. Um fio solto e a missão acaba. Transmissão precisa de sinal num ambiente caótico.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8089560" y="1905840"/>
            <a:ext cx="3431520" cy="1872000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8290440" y="210708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8290440" y="21070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8711280" y="20887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Test harness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8290440" y="2564280"/>
            <a:ext cx="302940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Conceito antigo de engenharia de software: stubs e drivers que criam um ambiente controlado onde o sujeito do teste se comporta previsivelmente.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7"/>
          <p:cNvSpPr/>
          <p:nvPr/>
        </p:nvSpPr>
        <p:spPr>
          <a:xfrm>
            <a:off x="640080" y="4071240"/>
            <a:ext cx="3431520" cy="1872000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841320" y="427212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841320" y="4272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1261800" y="42541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Cinto de segurança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841320" y="4729320"/>
            <a:ext cx="302940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Não restringe seu movimento. Impede que você caia quando escorregar. É o guardrail do agente.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4364640" y="4071240"/>
            <a:ext cx="3431520" cy="1872000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23"/>
          <p:cNvSpPr/>
          <p:nvPr/>
        </p:nvSpPr>
        <p:spPr>
          <a:xfrm>
            <a:off x="4565880" y="427212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24"/>
          <p:cNvSpPr/>
          <p:nvPr/>
        </p:nvSpPr>
        <p:spPr>
          <a:xfrm>
            <a:off x="4565880" y="4272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4986360" y="42541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Chicote automotivo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4565880" y="4729320"/>
            <a:ext cx="302940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Não gera energia nem calcula nada. Sem ele, as peças do carro são ilhas isoladas que não se conhecem.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7"/>
          <p:cNvSpPr/>
          <p:nvPr/>
        </p:nvSpPr>
        <p:spPr>
          <a:xfrm>
            <a:off x="8089560" y="4071240"/>
            <a:ext cx="3431520" cy="1872000"/>
          </a:xfrm>
          <a:prstGeom prst="roundRect">
            <a:avLst>
              <a:gd name="adj" fmla="val 488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Shape 28"/>
          <p:cNvSpPr/>
          <p:nvPr/>
        </p:nvSpPr>
        <p:spPr>
          <a:xfrm>
            <a:off x="8290440" y="427212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29"/>
          <p:cNvSpPr/>
          <p:nvPr/>
        </p:nvSpPr>
        <p:spPr>
          <a:xfrm>
            <a:off x="8290440" y="4272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=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0"/>
          <p:cNvSpPr/>
          <p:nvPr/>
        </p:nvSpPr>
        <p:spPr>
          <a:xfrm>
            <a:off x="8711280" y="42541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que há em comum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1"/>
          <p:cNvSpPr/>
          <p:nvPr/>
        </p:nvSpPr>
        <p:spPr>
          <a:xfrm>
            <a:off x="8290440" y="4729320"/>
            <a:ext cx="302940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Nenhum substitui a força central. Todos tornam essa força controlável, confiável e útil. É exatamente o que fazemos com o modelo.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QUANTO CUSTA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Mesmo modelo, mesma tarefa, dois harnesses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0"/>
          <p:cNvGraphicFramePr/>
          <p:nvPr/>
        </p:nvGraphicFramePr>
        <p:xfrm>
          <a:off x="640080" y="1691640"/>
          <a:ext cx="10881000" cy="104184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011680"/>
                <a:gridCol w="283464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Configuração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Custo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Resultado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Agente sozinho, sem harness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US$ 9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Software quebrado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Harness completo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US$ 200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 h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Software funcionando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130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As cinco camadas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O vocabulário que o campo inteiro adotou em 2026.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FRAMEWORK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As cinco camadas de um harness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Table 0"/>
          <p:cNvGraphicFramePr/>
          <p:nvPr/>
        </p:nvGraphicFramePr>
        <p:xfrm>
          <a:off x="640080" y="1691640"/>
          <a:ext cx="10881000" cy="207648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9768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Camada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Pergunta que ela responde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acontece se faltar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Instructions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a IA deve saber e seguir?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 sabe quem é nem quais são as regras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Constraints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ela está proibida de fazer?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Regra vira sugestão, e sugestão é ignorada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Feedback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Como sabemos que deu certo?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agente acha que acertou e para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Memory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sobrevive entre execuções?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mesmo erro pela terceira vez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Orchestration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Como vários agentes se coordenam?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Um contexto só, e ele estoura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CAMADA 1 DE 5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640080" y="676800"/>
            <a:ext cx="108810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Instructions: o que o agente sabe antes de começar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640080" y="20948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640080" y="2094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1234440" y="20674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Identidade e escopo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1234440" y="24242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Quem é o agente, o que está no escopo dele e o que explicitamente não está. Duas ou três frases, não uma página.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640080" y="29476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640080" y="2947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1234440" y="292032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Mapa, não manual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1234440" y="327672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Estrutura do projeto e ponteiros para onde está a documentação profunda. O agente sabe navegar; ele só não sabe onde as coisas estão.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640080" y="4012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640080" y="4012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1234440" y="3985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Formato de saída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1234440" y="4341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Se você precisa de JSON, diga o schema. Se precisa de citação de fonte, diga o formato exato da citação.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640080" y="4865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640080" y="4865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1234440" y="4838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Onde isso mora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1234440" y="51948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AGENTS.md, CLAUDE.md, system prompt, arquivos em prompts/. O nome muda; a função é a mesma.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CAMADA 1, NA PRÁTICA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A mesma regra, escrita de dois jeitos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64008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8686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8686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129852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Não faz nada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91440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Escreva código limpo e bem estruturado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Sempre siga as melhores práticas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Seja cuidadoso e não cometa erros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Use boas convenções de nomenclatura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NÃO ALUCINE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626364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64922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64922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692208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Muda o comportamento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653796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Migrations ficam em db/migrations/, nunca em app/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Toda função pública precisa de type hints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Datas viajam em ISO-8601 UTC entre serviços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Nunca importe de core/ dentro de adapters/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 um teste falhar, pare e reporte; não desative o teste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CAMADA 2 DE 5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Constraints: o que ele não consegue fazer, nem querendo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Sugestão x restrição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1234440" y="197496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Instruction pede. Constraint impede. A primeira depende da boa vontade do modelo; a segunda roda no seu código, antes da ferramenta executar.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640080" y="27111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640080" y="2711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1234440" y="268380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Hooks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1234440" y="304056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Código seu que intercepta o ciclo. O PreToolUse é o único que pode NEGAR uma chamada de ferramenta. Formalizamos isso no dia 3.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640080" y="377640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640080" y="3776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1234440" y="3749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Sandbox e permissões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1234440" y="410580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Container, usuário sem privilégio, sistema de arquivos limitado, rede fechada. Um agente com shell é um agente que pode apagar seu disco.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640080" y="48416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640080" y="4841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1234440" y="48142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Portões automáticos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1234440" y="51710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Linter, type checker, teste no CI. O agente não passa; não é questão de ele concordar.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CAMADA 3 DE 5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Feedback: como o agente descobre que errou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sinal precisa ser automático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Teste que roda, linter que reclama, requisição HTTP que devolve 500. Nada que dependa de um humano ler.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 precisa voltar ao contexto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1234440" y="28278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 teste que falha e ninguém injeta na conversa não é feedback: é log. O agente só reage ao que ele lê.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640080" y="33512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640080" y="3351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1234440" y="33238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Verificação independente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1234440" y="368064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Quem escreveu não é quem avalia. A Anthropic separa Generator e Evaluator justamente porque o autor é mau juiz do próprio trabalho.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640080" y="44164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640080" y="4416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1234440" y="438912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Erro útil, não erro cru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1234440" y="474588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'FileNotFoundError' ensina pouco. 'arquivo não encontrado; disponíveis em docs/: a.md, b.md' faz o agente acertar na volta seguinte.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CAMADA 4 DE 5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Memory: o que atravessa o tempo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Curto prazo é a conversa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histórico de mensagens da execução atual. Morre quando o processo morre, e estoura quando fica grande demais.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Longo prazo é decisão de projeto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1234440" y="282780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que merece sobreviver? Preferência do usuário, correção que você já fez duas vezes, fato descoberto que custou caro descobrir.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640080" y="356400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640080" y="3564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1234440" y="35362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Notas fora da janela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1234440" y="389304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Arquivo em disco, banco, checkpointer. O agente escreve e relê. É como um humano usa caderno: não para lembrar, para não precisar lembrar.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640080" y="46292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640080" y="4629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1234440" y="46018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Quem é o dono da memória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1234440" y="495828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Toda chave de sessão precisa carregar o usuário. Misturar memórias de dois usuários é vazamento de dados, não bug de UX.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CAMADA 5 DE 5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Orchestration: o que atravessa o espaço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Um contexto por especialidade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 razão principal de dividir não é paralelismo, é isolamento: cada agente carrega só o que a tarefa dele exige.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Papéis separados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9"/>
          <p:cNvSpPr/>
          <p:nvPr/>
        </p:nvSpPr>
        <p:spPr>
          <a:xfrm>
            <a:off x="1234440" y="28278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Planejar, executar e avaliar em agentes diferentes. Quem escreveu o código é o pior juiz do código.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0"/>
          <p:cNvSpPr/>
          <p:nvPr/>
        </p:nvSpPr>
        <p:spPr>
          <a:xfrm>
            <a:off x="640080" y="33512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 11"/>
          <p:cNvSpPr/>
          <p:nvPr/>
        </p:nvSpPr>
        <p:spPr>
          <a:xfrm>
            <a:off x="640080" y="3351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1234440" y="33238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Contrato entre agentes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3"/>
          <p:cNvSpPr/>
          <p:nvPr/>
        </p:nvSpPr>
        <p:spPr>
          <a:xfrm>
            <a:off x="1234440" y="36806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que entra, o que sai, em que formato. Sem contrato explícito, multiagente vira telefone sem fio caro.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4"/>
          <p:cNvSpPr/>
          <p:nvPr/>
        </p:nvSpPr>
        <p:spPr>
          <a:xfrm>
            <a:off x="640080" y="42040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 15"/>
          <p:cNvSpPr/>
          <p:nvPr/>
        </p:nvSpPr>
        <p:spPr>
          <a:xfrm>
            <a:off x="640080" y="4204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6"/>
          <p:cNvSpPr/>
          <p:nvPr/>
        </p:nvSpPr>
        <p:spPr>
          <a:xfrm>
            <a:off x="1234440" y="41763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 camada mais imatura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7"/>
          <p:cNvSpPr/>
          <p:nvPr/>
        </p:nvSpPr>
        <p:spPr>
          <a:xfrm>
            <a:off x="1234440" y="453312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Em 2026 esta é a parte menos assentada do campo. Comece por um agente e só divida quando doer.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 MESMO BOLO, TRÊS CORTES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640080" y="676800"/>
            <a:ext cx="108810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Para não se perder lendo documentação de fornecedor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6" name="Table 0"/>
          <p:cNvGraphicFramePr/>
          <p:nvPr/>
        </p:nvGraphicFramePr>
        <p:xfrm>
          <a:off x="640080" y="2094840"/>
          <a:ext cx="10881000" cy="19386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2743200"/>
                <a:gridCol w="347472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Cinco camadas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Quatro verbos (OpenAI)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Três blocos (Fowler)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Implementação típica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Instructions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inform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Context engineering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AGENTS.md, CLAUDE.md, system prompt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Constraints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constrain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Restrições arquiteturais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Hooks, linter, sandbox, CI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Feedback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verify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Garbage collection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Agente avaliador, testes, schema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Memory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inform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Context engineering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Checkpointer, base de conhecimento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Orchestration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correct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(não coberto)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Multiagente, pipeline, subgrafos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7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COMO AS CINCO SE RELACIONAM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Antes, durante, através do tempo e do espaço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2926080" y="2377440"/>
            <a:ext cx="64008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5943600" y="2377440"/>
            <a:ext cx="64008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4389120" y="4297680"/>
            <a:ext cx="73152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Shape 5"/>
          <p:cNvSpPr/>
          <p:nvPr/>
        </p:nvSpPr>
        <p:spPr>
          <a:xfrm>
            <a:off x="548640" y="1920240"/>
            <a:ext cx="237708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548640" y="20300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Instructions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658440" y="242316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que fazer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3566160" y="1920240"/>
            <a:ext cx="237708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3566160" y="20300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Constraints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3675960" y="242316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que não pode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6583680" y="1920240"/>
            <a:ext cx="237708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6583680" y="20300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Feedback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6693480" y="242316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deu certo?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2011680" y="3840480"/>
            <a:ext cx="237708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 15"/>
          <p:cNvSpPr/>
          <p:nvPr/>
        </p:nvSpPr>
        <p:spPr>
          <a:xfrm>
            <a:off x="2011680" y="39502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Memory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2121480" y="4343400"/>
            <a:ext cx="2157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atravessa o tempo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7"/>
          <p:cNvSpPr/>
          <p:nvPr/>
        </p:nvSpPr>
        <p:spPr>
          <a:xfrm>
            <a:off x="5120640" y="3840480"/>
            <a:ext cx="265140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5120640" y="395028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Orchestration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5230440" y="4343400"/>
            <a:ext cx="243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atravessa o espaço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640080" y="576072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Instructions e constraints agem ANTES do agente agir. Feedback age DURANTE. Memory faz a experiência sobreviver entre sessões. Orchestration faz vários agentes trabalharem ao mesmo tempo.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2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CHECKPOINT DO BLOCO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Três perguntas antes do intervalo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Um agente repete a mesma busca seis vezes seguidas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Qual camada está faltando?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Um agente entregou código que não compila e disse que estava pronto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Qual camada está faltando?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5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Você corrigiu a mesma coisa em três sessões diferentes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Qual camada está faltando?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Anatomia do runtime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As camadas dizem o quê. O loop diz o como.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RUNTIME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Os cinco passos do loop, por dentro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6" name="Table 0"/>
          <p:cNvGraphicFramePr/>
          <p:nvPr/>
        </p:nvGraphicFramePr>
        <p:xfrm>
          <a:off x="640080" y="1691640"/>
          <a:ext cx="10881000" cy="2076480"/>
        </p:xfrm>
        <a:graphic>
          <a:graphicData uri="http://schemas.openxmlformats.org/drawingml/2006/table">
            <a:tbl>
              <a:tblPr/>
              <a:tblGrid>
                <a:gridCol w="4023360"/>
                <a:gridCol w="3017520"/>
                <a:gridCol w="384048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Pergunta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Passo do runtime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 isso...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o modelo sabe agora?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Montagem de contexto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 sabe quem é nem o que já fez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o modelo pode fazer?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Registro de ferramentas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Só fala, não age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Como executo o que ele pediu?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Despachante e sandbox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Nada acontece de fato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Quando eu paro?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Condições de parada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Loop infinito ou parada precoce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sobra entre execuções?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Memória e estado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Cada execução começa do zero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 CORAÇÃO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 loop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"/>
          <p:cNvSpPr/>
          <p:nvPr/>
        </p:nvSpPr>
        <p:spPr>
          <a:xfrm>
            <a:off x="3017520" y="2880360"/>
            <a:ext cx="91440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6126480" y="2880360"/>
            <a:ext cx="91440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Shape 4"/>
          <p:cNvSpPr/>
          <p:nvPr/>
        </p:nvSpPr>
        <p:spPr>
          <a:xfrm>
            <a:off x="9418320" y="2880360"/>
            <a:ext cx="64008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4" name="Shape 5"/>
          <p:cNvSpPr/>
          <p:nvPr/>
        </p:nvSpPr>
        <p:spPr>
          <a:xfrm>
            <a:off x="8138160" y="3566160"/>
            <a:ext cx="360" cy="8229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3931920" y="4754880"/>
            <a:ext cx="36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Shape 7"/>
          <p:cNvSpPr/>
          <p:nvPr/>
        </p:nvSpPr>
        <p:spPr>
          <a:xfrm>
            <a:off x="1737360" y="4754880"/>
            <a:ext cx="36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640080" y="2194560"/>
            <a:ext cx="2377080" cy="1371240"/>
          </a:xfrm>
          <a:prstGeom prst="roundRect">
            <a:avLst>
              <a:gd name="adj" fmla="val 6667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 9"/>
          <p:cNvSpPr/>
          <p:nvPr/>
        </p:nvSpPr>
        <p:spPr>
          <a:xfrm>
            <a:off x="640080" y="23043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0"/>
          <p:cNvSpPr/>
          <p:nvPr/>
        </p:nvSpPr>
        <p:spPr>
          <a:xfrm>
            <a:off x="749880" y="2697480"/>
            <a:ext cx="2157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mensagens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+ ferramentas disponíveis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3931920" y="2194560"/>
            <a:ext cx="2194200" cy="1371240"/>
          </a:xfrm>
          <a:prstGeom prst="roundRect">
            <a:avLst>
              <a:gd name="adj" fmla="val 6667"/>
            </a:avLst>
          </a:prstGeom>
          <a:solidFill>
            <a:srgbClr val="4c3a8c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 12"/>
          <p:cNvSpPr/>
          <p:nvPr/>
        </p:nvSpPr>
        <p:spPr>
          <a:xfrm>
            <a:off x="3931920" y="23043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4041720" y="2697480"/>
            <a:ext cx="1974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gera texto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ou tool call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4"/>
          <p:cNvSpPr/>
          <p:nvPr/>
        </p:nvSpPr>
        <p:spPr>
          <a:xfrm>
            <a:off x="7040880" y="2194560"/>
            <a:ext cx="2377080" cy="1371240"/>
          </a:xfrm>
          <a:prstGeom prst="roundRect">
            <a:avLst>
              <a:gd name="adj" fmla="val 6667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 15"/>
          <p:cNvSpPr/>
          <p:nvPr/>
        </p:nvSpPr>
        <p:spPr>
          <a:xfrm>
            <a:off x="7040880" y="23043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EXECUTOR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7150680" y="2697480"/>
            <a:ext cx="2157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roda a ferramenta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de verdade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7"/>
          <p:cNvSpPr/>
          <p:nvPr/>
        </p:nvSpPr>
        <p:spPr>
          <a:xfrm>
            <a:off x="10058400" y="2194560"/>
            <a:ext cx="1462680" cy="1371240"/>
          </a:xfrm>
          <a:prstGeom prst="roundRect">
            <a:avLst>
              <a:gd name="adj" fmla="val 6667"/>
            </a:avLst>
          </a:prstGeom>
          <a:solidFill>
            <a:srgbClr val="e8933a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 18"/>
          <p:cNvSpPr/>
          <p:nvPr/>
        </p:nvSpPr>
        <p:spPr>
          <a:xfrm>
            <a:off x="10058400" y="230436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PARADA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9"/>
          <p:cNvSpPr/>
          <p:nvPr/>
        </p:nvSpPr>
        <p:spPr>
          <a:xfrm>
            <a:off x="10168200" y="2697480"/>
            <a:ext cx="12430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d2a0a"/>
                </a:solidFill>
                <a:effectLst/>
                <a:uFillTx/>
                <a:latin typeface="Calibri"/>
                <a:ea typeface="Calibri"/>
              </a:rPr>
              <a:t>resposta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d2a0a"/>
                </a:solidFill>
                <a:effectLst/>
                <a:uFillTx/>
                <a:latin typeface="Calibri"/>
                <a:ea typeface="Calibri"/>
              </a:rPr>
              <a:t>final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0"/>
          <p:cNvSpPr/>
          <p:nvPr/>
        </p:nvSpPr>
        <p:spPr>
          <a:xfrm>
            <a:off x="3931920" y="4389120"/>
            <a:ext cx="5486040" cy="776880"/>
          </a:xfrm>
          <a:prstGeom prst="roundRect">
            <a:avLst>
              <a:gd name="adj" fmla="val 11765"/>
            </a:avLst>
          </a:prstGeom>
          <a:solidFill>
            <a:srgbClr val="e8e4f2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 21"/>
          <p:cNvSpPr/>
          <p:nvPr/>
        </p:nvSpPr>
        <p:spPr>
          <a:xfrm>
            <a:off x="3931920" y="449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observação volta ao contexto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2"/>
          <p:cNvSpPr/>
          <p:nvPr/>
        </p:nvSpPr>
        <p:spPr>
          <a:xfrm>
            <a:off x="640080" y="576072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Cada volta é um passo. Um agente que resolve a tarefa com 6 tool calls deu 7 voltas.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3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4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UMA VOLTA COMPLETA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640080" y="676800"/>
            <a:ext cx="108810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 que realmente trafega numa execução de dois passos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"/>
          <p:cNvSpPr/>
          <p:nvPr/>
        </p:nvSpPr>
        <p:spPr>
          <a:xfrm>
            <a:off x="640080" y="2094840"/>
            <a:ext cx="10881000" cy="3345480"/>
          </a:xfrm>
          <a:prstGeom prst="roundRect">
            <a:avLst>
              <a:gd name="adj" fmla="val 2733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868680" y="2232000"/>
            <a:ext cx="10423800" cy="30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volta 1 - o que sai daqui para o modelo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[ {"role": "system",  "content": "Voce e um assistente. Ferramentas: ler_arquivo, calcular."},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{"role": "user",    "content": "Qual fornecedor sai mais barato em 24 meses?"} ]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o modelo devolve: nao e texto, e uma tool call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{"tool_calls": [{"id": "c1", "name": "ler_arquivo", "args": {"caminho": "docs/fornecedores.md"}}]}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o executor roda de verdade e o resultado volta como MENSAGEM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[ ...as duas de cima...,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{"role": "assistant", "tool_calls": [ {"id": "c1", ...} ]},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{"role": "tool", "tool_call_id": "c1", "content": "Fornecedor A - 1200/mes; Fornecedor B - 950/mes"} ]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volta 2 - agora o modelo tem o dado e pede a conta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{"tool_calls": [{"id": "c2", "name": "calcular", "args": {"expressao": "950 * 24"}}]}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volta 3 - com as duas observacoes no contexto, ele responde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"O Fornecedor B custa 22800 em 24 meses. [fonte: docs/fornecedores.md]"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640080" y="557784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Repare: o histórico só cresce. Cada observação vira uma mensagem de papel tool, amarrada pelo tool_call_id.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DELIMITANDO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 que o harness NÃO é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Não é o modelo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Trocar qwen3:4b por llama3.1:8b não muda uma linha do harness. São camadas independentes, e é por isso que a equação é uma soma.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Não é o prompt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prompt é dado de entrada do harness. Reescrever o prompt não conserta um loop sem condição de parada, e nunca vai consertar.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4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Não é o framework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LangChain e LangGraph implementam partes do harness. Você pode ter harness sem framework nenhum, e é o que faremos hoje à tarde.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DIAGNÓSTICO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Quase toda falha de agente é falha de harness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2" name="Table 0"/>
          <p:cNvGraphicFramePr/>
          <p:nvPr/>
        </p:nvGraphicFramePr>
        <p:xfrm>
          <a:off x="640080" y="1691640"/>
          <a:ext cx="10881000" cy="2818080"/>
        </p:xfrm>
        <a:graphic>
          <a:graphicData uri="http://schemas.openxmlformats.org/drawingml/2006/table">
            <a:tbl>
              <a:tblPr/>
              <a:tblGrid>
                <a:gridCol w="4206240"/>
                <a:gridCol w="3200400"/>
                <a:gridCol w="347472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Sintoma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Componente culpado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Onde mexer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Repete a mesma ferramenta 8 vezes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Condição de parada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Contador de passos e detecção de repetição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Esquece o que descobriu no passo 2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Montagem de contexto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Verificar se a observação foi anexada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Chama ferramenta que não existe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Registro de ferramentas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Nomes distintos e erro que lista as válidas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Devolve JSON quebrado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Validação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Schema mais retry com o erro reinjetado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Gasta 40k tokens numa pergunta simples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Política de contexto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Poda, resumo, ferramentas mais específicas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 antes de terminar a tarefa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Feedback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Critério de pronto explícito e verificável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363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 PEÇA ESQUECIDA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Condições de parada: quatro, não uma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"/>
          <p:cNvSpPr/>
          <p:nvPr/>
        </p:nvSpPr>
        <p:spPr>
          <a:xfrm>
            <a:off x="640080" y="1691640"/>
            <a:ext cx="3931560" cy="17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 pergunta 'quando eu paro' parece trivial e é a que mais derruba agente em produção.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Parada demais entrega trabalho pela metade. Parada de menos queima orçamento em silêncio.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640080" y="3700440"/>
            <a:ext cx="3931560" cy="2288520"/>
          </a:xfrm>
          <a:prstGeom prst="roundRect">
            <a:avLst>
              <a:gd name="adj" fmla="val 3995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 4"/>
          <p:cNvSpPr/>
          <p:nvPr/>
        </p:nvSpPr>
        <p:spPr>
          <a:xfrm>
            <a:off x="859680" y="3846600"/>
            <a:ext cx="3492720" cy="19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As quatro convivem. Nenhuma sozinha é suficiente, e a ordem em que você testa importa: limite duro primeiro, resposta final por último.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4937760" y="1691640"/>
            <a:ext cx="6583320" cy="429732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5139000" y="1828800"/>
            <a:ext cx="61808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1. resposta final: o modelo nao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   pediu ferramenta nenhuma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if not resp.tool_calls: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return resp.content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2. limite duro de passos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if passo &gt;= MAX_PASSOS: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return "limite de passos atingido"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3. repeticao: mesma ferramenta,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   mesmos argumentos, de novo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chave = (nome, json.dumps(args))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if chave in vistos: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return "repeticao detectada"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vistos.add(chave)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4. orcamento de tokens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if tokens_gastos &gt; TETO: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return "orcamento estourado"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RESUMO DO BLOCO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O loop tem cinco passos, e cada bug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de agente nasce em um deles.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Montagem de contexto, registro de ferramentas, despachante, parada, memória. Quando algo der errado nas próximas cinco semanas, a primeira pergunta não é qual prompt reescrever: é em qual desses cinco passos o defeito nasceu.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Modelos locais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Quatro caminhos para ter um modelo na sua própria máquina.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POR QUE LOCAL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Três razões que não são ideologia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dado não sai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Contrato, prontuário, código proprietário. Em vários setores essa é a única razão que importa, e ela sozinha decide a arquitetura.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custo por token é zero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 agente em loop faz dezenas de chamadas por tarefa. Em experimentação, é a diferença entre iterar à vontade e olhar o painel de custo a cada teste.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Você controla a versão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modelo não muda debaixo de você numa terça-feira. Para avaliação e reprodutibilidade, isso vale mais do que alguns pontos de benchmark.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COMPARAÇÃO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Quatro formas de servir um modelo local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2" name="Table 0"/>
          <p:cNvGraphicFramePr/>
          <p:nvPr/>
        </p:nvGraphicFramePr>
        <p:xfrm>
          <a:off x="640080" y="1691640"/>
          <a:ext cx="10881000" cy="202032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  <a:gridCol w="274320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Caminho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 que serve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Ponto forte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Ponto fraco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Ollama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a dia, prototipagem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Um comando e funciona; API compatível com OpenAI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Menos controle fino de parâmetros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llama.cpp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Controle fino, hardware modesto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Roda quantizado em CPU; flags para tudo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Você monta o servidor na mão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vLLM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Servir a sala inteira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Throughput alto, batching contínuo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Quer GPU e memória de verdade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Transformers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Entender o que acontece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Você vê tokenizer, logits, geração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Lento e sem servidor pronto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403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LABORATÓRIO DA MANHÃ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Um cliente, três backends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"/>
          <p:cNvSpPr/>
          <p:nvPr/>
        </p:nvSpPr>
        <p:spPr>
          <a:xfrm>
            <a:off x="640080" y="1691640"/>
            <a:ext cx="3748680" cy="17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Os três servidores expõem a mesma API. Isso significa que trocar de backend é trocar duas linhas — não reescrever o agente.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Prove isso na sua máquina antes do almoço.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"/>
          <p:cNvSpPr/>
          <p:nvPr/>
        </p:nvSpPr>
        <p:spPr>
          <a:xfrm>
            <a:off x="640080" y="3700440"/>
            <a:ext cx="3748680" cy="2288520"/>
          </a:xfrm>
          <a:prstGeom prst="roundRect">
            <a:avLst>
              <a:gd name="adj" fmla="val 3995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 4"/>
          <p:cNvSpPr/>
          <p:nvPr/>
        </p:nvSpPr>
        <p:spPr>
          <a:xfrm>
            <a:off x="859680" y="3846600"/>
            <a:ext cx="3309840" cy="19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Critério de pronto: a mesma pergunta respondida por dois backends diferentes, com o mesmo código, e o tempo de cada um medido.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5"/>
          <p:cNvSpPr/>
          <p:nvPr/>
        </p:nvSpPr>
        <p:spPr>
          <a:xfrm>
            <a:off x="4754880" y="1691640"/>
            <a:ext cx="6766200" cy="429732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4956120" y="1828800"/>
            <a:ext cx="63637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from openai import OpenAI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Ollama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cli = OpenAI(base_url="http://localhost:11434/v1",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api_key="nao-usado")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MODELO = "qwen3:4b"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llama.cpp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cli = OpenAI(base_url="http://localhost:8080/v1",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             api_key="nao-usado")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MODELO = "local"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vLLM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cli = OpenAI(base_url="http://localhost:8000/v1",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             api_key="nao-usado")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MODELO = "Qwen/Qwen3-8B"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r = cli.chat.completions.create(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model=MODELO,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messages=[{"role": "user",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  "content": "Responda em uma frase: 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             "o que e um agent harness?"}])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print(r.choices[0].message.content)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FLAGS QUE SALVAM O DIA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Tool calling em modelo local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llama.cpp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llama-server -m modelo.gguf --jinja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Sem --jinja o servidor ignora o chat template embutido no GGUF, e o tool calling simplesmente não funciona.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2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vLLM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vllm serve Qwen/Qwen3-8B --enable-auto-tool-choice --tool-call-parser hermes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Sem as duas flags, a tool call volta como TEXTO dentro do conteúdo.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7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Sintoma típico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resp.tool_calls vem vazio e a resposta traz algo como &lt;tool_call&gt;{...}&lt;/tool_call&gt; em texto puro. É servidor mal configurado, não modelo ruim.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CRITÉRIOS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Escolhendo um modelo para agente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Suporte declarado a tool calling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- nativo e confiável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Mais importante que pontuação geral. Um modelo brilhante que emite JSON quebrado é inútil dentro de um loop, nem todo modelo pequeno tem. 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Janela de contexto de 16k ou mais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9"/>
          <p:cNvSpPr/>
          <p:nvPr/>
        </p:nvSpPr>
        <p:spPr>
          <a:xfrm>
            <a:off x="1234440" y="282780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número anunciado e o número em que ele ainda recupera bem são diferentes. Teste com o seu histórico típico, não com o do fabricante.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0"/>
          <p:cNvSpPr/>
          <p:nvPr/>
        </p:nvSpPr>
        <p:spPr>
          <a:xfrm>
            <a:off x="640080" y="356400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 11"/>
          <p:cNvSpPr/>
          <p:nvPr/>
        </p:nvSpPr>
        <p:spPr>
          <a:xfrm>
            <a:off x="640080" y="3564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2"/>
          <p:cNvSpPr/>
          <p:nvPr/>
        </p:nvSpPr>
        <p:spPr>
          <a:xfrm>
            <a:off x="1234440" y="35362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Tamanho que cabe na sua máquina - Quantização Q4_K_M ou superior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3"/>
          <p:cNvSpPr/>
          <p:nvPr/>
        </p:nvSpPr>
        <p:spPr>
          <a:xfrm>
            <a:off x="1234440" y="389304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 8B quantizado que responde em 4 segundos vence um 32B que responde em 90. No loop, latência multiplica por número de passos.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Abaixo disso a qualidade do tool call despenca antes da qualidade do texto: o modelo continua escrevendo bonito e passa a errar o nome dos argumentos.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4"/>
          <p:cNvSpPr/>
          <p:nvPr/>
        </p:nvSpPr>
        <p:spPr>
          <a:xfrm>
            <a:off x="640080" y="56822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 15"/>
          <p:cNvSpPr/>
          <p:nvPr/>
        </p:nvSpPr>
        <p:spPr>
          <a:xfrm>
            <a:off x="640080" y="5682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1234440" y="565452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Licença compatível com o seu uso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7"/>
          <p:cNvSpPr/>
          <p:nvPr/>
        </p:nvSpPr>
        <p:spPr>
          <a:xfrm>
            <a:off x="1234440" y="601128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Open weights não é sinônimo de uso comercial livre. Leia antes de colocar em produto.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4"/>
          <p:cNvSpPr/>
          <p:nvPr/>
        </p:nvSpPr>
        <p:spPr>
          <a:xfrm>
            <a:off x="643680" y="4730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4" name="Text 15"/>
          <p:cNvSpPr/>
          <p:nvPr/>
        </p:nvSpPr>
        <p:spPr>
          <a:xfrm>
            <a:off x="643680" y="4730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6"/>
          <p:cNvSpPr/>
          <p:nvPr/>
        </p:nvSpPr>
        <p:spPr>
          <a:xfrm>
            <a:off x="1238040" y="470340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Regra de bolso de memoria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7"/>
          <p:cNvSpPr/>
          <p:nvPr/>
        </p:nvSpPr>
        <p:spPr>
          <a:xfrm>
            <a:off x="1238040" y="506016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 modelo de N bilhoes de parametros em Q4 ocupa cerca de N x 0,6 GB, mais o contexto. Um 8B em Q4 com 16k pede uns 6 a 7 GB.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ENUNCIADO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Laboratório da manhã: o que entregar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Um modelo respondendo localmente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Ollama instalado, modelo baixado, uma pergunta respondida no terminal.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mesmo script falando com dois backends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9"/>
          <p:cNvSpPr/>
          <p:nvPr/>
        </p:nvSpPr>
        <p:spPr>
          <a:xfrm>
            <a:off x="1234440" y="282780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Trocar base_url e model, e obter resposta nos dois. Se você só tem um backend, use dois modelos diferentes no mesmo servidor.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0"/>
          <p:cNvSpPr/>
          <p:nvPr/>
        </p:nvSpPr>
        <p:spPr>
          <a:xfrm>
            <a:off x="640080" y="356400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 11"/>
          <p:cNvSpPr/>
          <p:nvPr/>
        </p:nvSpPr>
        <p:spPr>
          <a:xfrm>
            <a:off x="640080" y="3564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2"/>
          <p:cNvSpPr/>
          <p:nvPr/>
        </p:nvSpPr>
        <p:spPr>
          <a:xfrm>
            <a:off x="1234440" y="35362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Tempo medido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3"/>
          <p:cNvSpPr/>
          <p:nvPr/>
        </p:nvSpPr>
        <p:spPr>
          <a:xfrm>
            <a:off x="1234440" y="38930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Cronometre a mesma pergunta nos dois. Anote. Vamos usar esse número à tarde, quando o loop multiplicar a latência.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4"/>
          <p:cNvSpPr/>
          <p:nvPr/>
        </p:nvSpPr>
        <p:spPr>
          <a:xfrm>
            <a:off x="640080" y="44164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 15"/>
          <p:cNvSpPr/>
          <p:nvPr/>
        </p:nvSpPr>
        <p:spPr>
          <a:xfrm>
            <a:off x="640080" y="4416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6"/>
          <p:cNvSpPr/>
          <p:nvPr/>
        </p:nvSpPr>
        <p:spPr>
          <a:xfrm>
            <a:off x="1234440" y="438912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Extensão para quem terminar antes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7"/>
          <p:cNvSpPr/>
          <p:nvPr/>
        </p:nvSpPr>
        <p:spPr>
          <a:xfrm>
            <a:off x="1234440" y="474588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Faça a primeira chamada com tools=[...] e observe o campo tool_calls da resposta. É o que a tarde inteira vai explorar.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ReAct e os padrões de loop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O artigo de 2022 que todo framework copiou.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YAO ET AL., 2022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Em vez de pedir a resposta,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peça o próximo passo.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A ideia inteira do ReAct cabe nessa frase. O modelo alterna entre pensar e agir, e o harness devolve a ele o resultado real de cada ação. O ganho não vem de o modelo ficar mais inteligente: vem de ele decidir com informação de verdade em vez de decidir com suposição.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 PADRÃO ORIGINAL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ReAct: pensar, agir, observar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"/>
          <p:cNvSpPr/>
          <p:nvPr/>
        </p:nvSpPr>
        <p:spPr>
          <a:xfrm>
            <a:off x="640080" y="1691640"/>
            <a:ext cx="411444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traço abaixo é o que trafegava no formato original: texto puro, com o harness fazendo parsing das linhas Action e Action Input.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"/>
          <p:cNvSpPr/>
          <p:nvPr/>
        </p:nvSpPr>
        <p:spPr>
          <a:xfrm>
            <a:off x="640080" y="2761560"/>
            <a:ext cx="4114440" cy="3227400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8" name="Text 4"/>
          <p:cNvSpPr/>
          <p:nvPr/>
        </p:nvSpPr>
        <p:spPr>
          <a:xfrm>
            <a:off x="859680" y="2907720"/>
            <a:ext cx="367560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Hoje os modelos emitem tool calls em campo estruturado, e o parsing sumiu. Mas o padrão lógico é idêntico.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Conhecer a versão em texto é o que salva quando o modelo local não tem tool calling nativo.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5"/>
          <p:cNvSpPr/>
          <p:nvPr/>
        </p:nvSpPr>
        <p:spPr>
          <a:xfrm>
            <a:off x="5120640" y="1691640"/>
            <a:ext cx="6400440" cy="429732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 6"/>
          <p:cNvSpPr/>
          <p:nvPr/>
        </p:nvSpPr>
        <p:spPr>
          <a:xfrm>
            <a:off x="5321880" y="1828800"/>
            <a:ext cx="599796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Thought: nao sei o conteudo do arquivo,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preciso ler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Action: ler_arquivo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Action Input: docs/fornecedores.md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Observation: Fornecedor A - R$ 1.200/mes;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Fornecedor B - R$ 950/mes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Thought: agora tenho os valores,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preciso do total em 24 meses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Action: calcular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Action Input: 950 * 24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Observation: 22800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Final Answer: O Fornecedor B custa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R$ 22.800 em 24 meses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[fonte: docs/fornecedores.md]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o harness le Action e Action Input,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executa, e injeta Observation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# de volta no contexto.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DUAS IMPLEMENTAÇÕES DO MESMO PADRÃO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Texto parseado x campo estruturado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2"/>
          <p:cNvSpPr/>
          <p:nvPr/>
        </p:nvSpPr>
        <p:spPr>
          <a:xfrm>
            <a:off x="64008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6" name="Shape 3"/>
          <p:cNvSpPr/>
          <p:nvPr/>
        </p:nvSpPr>
        <p:spPr>
          <a:xfrm>
            <a:off x="8686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 4"/>
          <p:cNvSpPr/>
          <p:nvPr/>
        </p:nvSpPr>
        <p:spPr>
          <a:xfrm>
            <a:off x="8686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5"/>
          <p:cNvSpPr/>
          <p:nvPr/>
        </p:nvSpPr>
        <p:spPr>
          <a:xfrm>
            <a:off x="129852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ReAct em texto puro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6"/>
          <p:cNvSpPr/>
          <p:nvPr/>
        </p:nvSpPr>
        <p:spPr>
          <a:xfrm>
            <a:off x="91440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modelo escreve Action: e Action Input: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harness usa regex para extrair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Funciona com QUALQUER modelo, até sem tool calling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Quebra quando o modelo muda o formato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É o plano B da tarde de hoje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7"/>
          <p:cNvSpPr/>
          <p:nvPr/>
        </p:nvSpPr>
        <p:spPr>
          <a:xfrm>
            <a:off x="626364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1" name="Shape 8"/>
          <p:cNvSpPr/>
          <p:nvPr/>
        </p:nvSpPr>
        <p:spPr>
          <a:xfrm>
            <a:off x="64922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 9"/>
          <p:cNvSpPr/>
          <p:nvPr/>
        </p:nvSpPr>
        <p:spPr>
          <a:xfrm>
            <a:off x="64922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0"/>
          <p:cNvSpPr/>
          <p:nvPr/>
        </p:nvSpPr>
        <p:spPr>
          <a:xfrm>
            <a:off x="692208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Tool calling estruturado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1"/>
          <p:cNvSpPr/>
          <p:nvPr/>
        </p:nvSpPr>
        <p:spPr>
          <a:xfrm>
            <a:off x="653796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modelo devolve resp.tool_calls, campo da API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Os argumentos já vêm como objeto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Schema validado antes de executar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Exige modelo e servidor configurados para isso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É o caminho principal do curso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VARIAÇÕES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Padrões de loop que vale conhecer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"/>
          <p:cNvSpPr/>
          <p:nvPr/>
        </p:nvSpPr>
        <p:spPr>
          <a:xfrm>
            <a:off x="640080" y="1737360"/>
            <a:ext cx="3431520" cy="1956600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0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1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ReAct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6"/>
          <p:cNvSpPr/>
          <p:nvPr/>
        </p:nvSpPr>
        <p:spPr>
          <a:xfrm>
            <a:off x="841320" y="2395800"/>
            <a:ext cx="30294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Pensar, agir, observar, repetir. Padrão de referência. Funciona quase sempre. É o que vamos escrever hoje.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7"/>
          <p:cNvSpPr/>
          <p:nvPr/>
        </p:nvSpPr>
        <p:spPr>
          <a:xfrm>
            <a:off x="4364640" y="1737360"/>
            <a:ext cx="3431520" cy="1956600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5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6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Plan-and-Execute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1"/>
          <p:cNvSpPr/>
          <p:nvPr/>
        </p:nvSpPr>
        <p:spPr>
          <a:xfrm>
            <a:off x="4565880" y="2395800"/>
            <a:ext cx="30294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Planeja tudo antes, depois executa. Economiza tokens de raciocínio em tarefas longas e dá um plano legível para um humano aprovar.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2"/>
          <p:cNvSpPr/>
          <p:nvPr/>
        </p:nvSpPr>
        <p:spPr>
          <a:xfrm>
            <a:off x="8089560" y="1737360"/>
            <a:ext cx="3431520" cy="1956600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0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1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Reflexion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6"/>
          <p:cNvSpPr/>
          <p:nvPr/>
        </p:nvSpPr>
        <p:spPr>
          <a:xfrm>
            <a:off x="8290440" y="2395800"/>
            <a:ext cx="30294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Depois de falhar, o agente critica a si mesmo e tenta de novo. Precisa de sinal claro de sucesso. Usaremos no dia 4.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7"/>
          <p:cNvSpPr/>
          <p:nvPr/>
        </p:nvSpPr>
        <p:spPr>
          <a:xfrm>
            <a:off x="640080" y="3986640"/>
            <a:ext cx="3431520" cy="1956600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5" name="Shape 18"/>
          <p:cNvSpPr/>
          <p:nvPr/>
        </p:nvSpPr>
        <p:spPr>
          <a:xfrm>
            <a:off x="841320" y="418788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 19"/>
          <p:cNvSpPr/>
          <p:nvPr/>
        </p:nvSpPr>
        <p:spPr>
          <a:xfrm>
            <a:off x="841320" y="41878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0"/>
          <p:cNvSpPr/>
          <p:nvPr/>
        </p:nvSpPr>
        <p:spPr>
          <a:xfrm>
            <a:off x="1261800" y="41695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CodeAct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1"/>
          <p:cNvSpPr/>
          <p:nvPr/>
        </p:nvSpPr>
        <p:spPr>
          <a:xfrm>
            <a:off x="841320" y="4645080"/>
            <a:ext cx="30294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agente escreve código Python que chama as ferramentas, em vez de JSON. Base do smolagents. Dia 5.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2"/>
          <p:cNvSpPr/>
          <p:nvPr/>
        </p:nvSpPr>
        <p:spPr>
          <a:xfrm>
            <a:off x="4364640" y="3986640"/>
            <a:ext cx="3431520" cy="1956600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0" name="Shape 23"/>
          <p:cNvSpPr/>
          <p:nvPr/>
        </p:nvSpPr>
        <p:spPr>
          <a:xfrm>
            <a:off x="4565880" y="418788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 24"/>
          <p:cNvSpPr/>
          <p:nvPr/>
        </p:nvSpPr>
        <p:spPr>
          <a:xfrm>
            <a:off x="4565880" y="41878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5"/>
          <p:cNvSpPr/>
          <p:nvPr/>
        </p:nvSpPr>
        <p:spPr>
          <a:xfrm>
            <a:off x="4986360" y="41695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Tree of Thoughts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6"/>
          <p:cNvSpPr/>
          <p:nvPr/>
        </p:nvSpPr>
        <p:spPr>
          <a:xfrm>
            <a:off x="4565880" y="4645080"/>
            <a:ext cx="30294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Ramifica várias linhas de raciocínio e poda as ruins. Caro. Raramente compensa em produção.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7"/>
          <p:cNvSpPr/>
          <p:nvPr/>
        </p:nvSpPr>
        <p:spPr>
          <a:xfrm>
            <a:off x="8089560" y="3986640"/>
            <a:ext cx="3431520" cy="1956600"/>
          </a:xfrm>
          <a:prstGeom prst="roundRect">
            <a:avLst>
              <a:gd name="adj" fmla="val 4673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5" name="Shape 28"/>
          <p:cNvSpPr/>
          <p:nvPr/>
        </p:nvSpPr>
        <p:spPr>
          <a:xfrm>
            <a:off x="8290440" y="418788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6" name="Text 29"/>
          <p:cNvSpPr/>
          <p:nvPr/>
        </p:nvSpPr>
        <p:spPr>
          <a:xfrm>
            <a:off x="8290440" y="41878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=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30"/>
          <p:cNvSpPr/>
          <p:nvPr/>
        </p:nvSpPr>
        <p:spPr>
          <a:xfrm>
            <a:off x="8711280" y="416952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que todos têm em comum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31"/>
          <p:cNvSpPr/>
          <p:nvPr/>
        </p:nvSpPr>
        <p:spPr>
          <a:xfrm>
            <a:off x="8290440" y="4645080"/>
            <a:ext cx="302940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Montar contexto, decidir, agir, observar, parar. Muda a política de decisão; não muda o esqueleto.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3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DECISÃO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Quando trocar de padrão vale a pena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43" name="Table 0"/>
          <p:cNvGraphicFramePr/>
          <p:nvPr/>
        </p:nvGraphicFramePr>
        <p:xfrm>
          <a:off x="640080" y="1691640"/>
          <a:ext cx="10881000" cy="24732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411480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Situação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Padrão indicado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Por quê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Tarefa exploratória, caminho desconhecido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ReAct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Decide o próximo passo com o que acabou de descobrir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Etapas previsíveis e um humano aprova antes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Plan-and-Execute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plano é um artefato legível e aprovável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Existe teste automático de sucesso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Reflexion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agente usa o resultado do teste para se corrigir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Ferramentas que se compõem muito entre si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CodeAct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Uma linha de Python encadeia o que seriam 5 tool calls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 tem sinal de sucesso nenhum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ReAct com humano no meio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 sinal automático, o revisor é o feedback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4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CHECKPOINT DO BLOCO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Se você tirar o Observation do traço,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o que sobra é o slide de abertura do dia.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Um agente sem observação real é um modelo escrevendo uma história plausível sobre o que teria acontecido. Todo o resto do curso é sobre garantir que a observação seja verdadeira, que ela volte ao contexto, e que alguém verifique.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Panorama de harnesses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Agent Zero, Hermes e a sopa de letrinhas.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ESTUDO DE CASO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Agent Zero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6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computador é a ferramenta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5"/>
          <p:cNvSpPr/>
          <p:nvPr/>
        </p:nvSpPr>
        <p:spPr>
          <a:xfrm>
            <a:off x="1234440" y="197496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Em vez de quarenta ferramentas específicas, entrega ao agente um Linux dockerizado com terminal, navegador e sistema de arquivos, e deixa que ele se vire.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6"/>
          <p:cNvSpPr/>
          <p:nvPr/>
        </p:nvSpPr>
        <p:spPr>
          <a:xfrm>
            <a:off x="640080" y="27111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0" name="Text 7"/>
          <p:cNvSpPr/>
          <p:nvPr/>
        </p:nvSpPr>
        <p:spPr>
          <a:xfrm>
            <a:off x="640080" y="2711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8"/>
          <p:cNvSpPr/>
          <p:nvPr/>
        </p:nvSpPr>
        <p:spPr>
          <a:xfrm>
            <a:off x="1234440" y="268380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Hierarquia superior e subordinado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9"/>
          <p:cNvSpPr/>
          <p:nvPr/>
        </p:nvSpPr>
        <p:spPr>
          <a:xfrm>
            <a:off x="1234440" y="304056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 agente cria subagentes para subtarefas. O subagente tem contexto isolado e devolve um relatório. É a topologia do nosso dia 4.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0"/>
          <p:cNvSpPr/>
          <p:nvPr/>
        </p:nvSpPr>
        <p:spPr>
          <a:xfrm>
            <a:off x="640080" y="377640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 11"/>
          <p:cNvSpPr/>
          <p:nvPr/>
        </p:nvSpPr>
        <p:spPr>
          <a:xfrm>
            <a:off x="640080" y="3776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2"/>
          <p:cNvSpPr/>
          <p:nvPr/>
        </p:nvSpPr>
        <p:spPr>
          <a:xfrm>
            <a:off x="1234440" y="3749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Prompts como comportamento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3"/>
          <p:cNvSpPr/>
          <p:nvPr/>
        </p:nvSpPr>
        <p:spPr>
          <a:xfrm>
            <a:off x="1234440" y="410580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Todo o comportamento vive na pasta prompts/, em arquivos de texto editáveis. Não há comportamento escondido em código.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4"/>
          <p:cNvSpPr/>
          <p:nvPr/>
        </p:nvSpPr>
        <p:spPr>
          <a:xfrm>
            <a:off x="640080" y="48416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 15"/>
          <p:cNvSpPr/>
          <p:nvPr/>
        </p:nvSpPr>
        <p:spPr>
          <a:xfrm>
            <a:off x="640080" y="4841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6"/>
          <p:cNvSpPr/>
          <p:nvPr/>
        </p:nvSpPr>
        <p:spPr>
          <a:xfrm>
            <a:off x="1234440" y="48142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Roda em Docker, sempre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7"/>
          <p:cNvSpPr/>
          <p:nvPr/>
        </p:nvSpPr>
        <p:spPr>
          <a:xfrm>
            <a:off x="1234440" y="51710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 agente com shell é um agente que pode apagar seu disco. Isolamento é requisito, não enfeite.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 LIÇÃO QUE INTERESSA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Se você não consegue ler o prompt exato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que foi enviado, você não consegue depurar.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Essa é a razão de o Agent Zero manter todo o comportamento em arquivos de texto. Framework que esconde a montagem do contexto transforma depuração em adivinhação, e depurar por adivinhação é a diferença entre resolver em vinte minutos e resolver em dois dias.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CUIDADO COM O NOME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Hermes: duas coisas diferentes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"/>
          <p:cNvSpPr/>
          <p:nvPr/>
        </p:nvSpPr>
        <p:spPr>
          <a:xfrm>
            <a:off x="64008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0" name="Shape 3"/>
          <p:cNvSpPr/>
          <p:nvPr/>
        </p:nvSpPr>
        <p:spPr>
          <a:xfrm>
            <a:off x="8686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1" name="Text 4"/>
          <p:cNvSpPr/>
          <p:nvPr/>
        </p:nvSpPr>
        <p:spPr>
          <a:xfrm>
            <a:off x="8686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5"/>
          <p:cNvSpPr/>
          <p:nvPr/>
        </p:nvSpPr>
        <p:spPr>
          <a:xfrm>
            <a:off x="129852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Hermes, a família de modelos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6"/>
          <p:cNvSpPr/>
          <p:nvPr/>
        </p:nvSpPr>
        <p:spPr>
          <a:xfrm>
            <a:off x="91440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Modelos open-weights ajustados pela Nous Research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Historicamente muito bons em function calling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formato de tool call virou padrão de fato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vLLM tem um parser chamado literalmente hermes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É o que você escolhe no --tool-call-parser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7"/>
          <p:cNvSpPr/>
          <p:nvPr/>
        </p:nvSpPr>
        <p:spPr>
          <a:xfrm>
            <a:off x="626364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5" name="Shape 8"/>
          <p:cNvSpPr/>
          <p:nvPr/>
        </p:nvSpPr>
        <p:spPr>
          <a:xfrm>
            <a:off x="64922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 9"/>
          <p:cNvSpPr/>
          <p:nvPr/>
        </p:nvSpPr>
        <p:spPr>
          <a:xfrm>
            <a:off x="64922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0"/>
          <p:cNvSpPr/>
          <p:nvPr/>
        </p:nvSpPr>
        <p:spPr>
          <a:xfrm>
            <a:off x="692208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Hermes Agent, o harness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1"/>
          <p:cNvSpPr/>
          <p:nvPr/>
        </p:nvSpPr>
        <p:spPr>
          <a:xfrm>
            <a:off x="653796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Agente autônomo que roda continuamente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Memória persistente com busca e sumarização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Cria e melhora as próprias skills, e as reutiliza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Vários backends: local, Docker, SSH, serverless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Bot Mode: times de especialistas conversando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UM RECURSO À PARTE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Hermes Agent também fala e escuta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TTS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Texto vira voz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Onze provedores possíveis, locais e gratuitos (Piper, KittenTTS, NeuTTS, Edge TTS como padrão) ou pagos na nuvem (ElevenLabs, OpenAI, Google Gemini, MiniMax, Mistral, xAI, DeepInfra). Controle de velocidade, voz e idioma.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9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0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Voz vira texto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Mensagens de voz do Telegram, Discord, WhatsApp, Slack ou Signal são transcritas e injetadas direto na conversa. Provedores: Whisper local, Groq, OpenAI.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4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5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Por que isso importa aqui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Voz não é recurso colado por fora. É mais uma interface de entrada e saída do harness: STT alimenta o contexto como uma ferramenta, TTS é uma forma alternativa de resposta final.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VOCABULÁRIO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Outros nomes que vão aparecer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2" name="Table 0"/>
          <p:cNvGraphicFramePr/>
          <p:nvPr/>
        </p:nvGraphicFramePr>
        <p:xfrm>
          <a:off x="640080" y="1691640"/>
          <a:ext cx="10881000" cy="308448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9768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Nome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é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Por que citar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AutoGPT / BabyAGI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Primeiros agentes autônomos (2023)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Provaram o conceito e provaram que loop sem freio queima dinheiro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smolagents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Biblioteca minimalista da Hugging Face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Núcleo pequeno e legível; vamos ler o código no dia 5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OpenHands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Harness focado em engenharia de software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Estado da arte em agente que edita repositório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CrewAI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Agentes com papéis e processos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Fácil de começar, difícil de depurar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AutoGen / AG2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Agentes conversando entre si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Outra escola de multiagente, forte em padrões de conversa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MCP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Protocolo para expor ferramentas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 é harness: é o USB-C das ferramentas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LangGraph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Grafos de estado para agentes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usaremos a partir do dia 3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3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ONDE O MCP ENTRA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"/>
          <p:cNvSpPr/>
          <p:nvPr/>
        </p:nvSpPr>
        <p:spPr>
          <a:xfrm>
            <a:off x="640080" y="676800"/>
            <a:ext cx="108810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MCP não compete com harness: ele padroniza a tomada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2"/>
          <p:cNvSpPr/>
          <p:nvPr/>
        </p:nvSpPr>
        <p:spPr>
          <a:xfrm>
            <a:off x="3474720" y="2697480"/>
            <a:ext cx="118872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8" name="Shape 3"/>
          <p:cNvSpPr/>
          <p:nvPr/>
        </p:nvSpPr>
        <p:spPr>
          <a:xfrm>
            <a:off x="7406640" y="2697480"/>
            <a:ext cx="118872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9" name="Shape 4"/>
          <p:cNvSpPr/>
          <p:nvPr/>
        </p:nvSpPr>
        <p:spPr>
          <a:xfrm>
            <a:off x="7406640" y="2697480"/>
            <a:ext cx="118872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0" name="Shape 5"/>
          <p:cNvSpPr/>
          <p:nvPr/>
        </p:nvSpPr>
        <p:spPr>
          <a:xfrm>
            <a:off x="7406640" y="2697480"/>
            <a:ext cx="1188720" cy="12801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1" name="Shape 6"/>
          <p:cNvSpPr/>
          <p:nvPr/>
        </p:nvSpPr>
        <p:spPr>
          <a:xfrm>
            <a:off x="731520" y="2103120"/>
            <a:ext cx="2742840" cy="1188360"/>
          </a:xfrm>
          <a:prstGeom prst="roundRect">
            <a:avLst>
              <a:gd name="adj" fmla="val 7692"/>
            </a:avLst>
          </a:prstGeom>
          <a:solidFill>
            <a:srgbClr val="4c3a8c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2" name="Text 7"/>
          <p:cNvSpPr/>
          <p:nvPr/>
        </p:nvSpPr>
        <p:spPr>
          <a:xfrm>
            <a:off x="731520" y="22129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SEU HARNESS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8"/>
          <p:cNvSpPr/>
          <p:nvPr/>
        </p:nvSpPr>
        <p:spPr>
          <a:xfrm>
            <a:off x="841320" y="2606040"/>
            <a:ext cx="2523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loop, parada,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9"/>
          <p:cNvSpPr/>
          <p:nvPr/>
        </p:nvSpPr>
        <p:spPr>
          <a:xfrm>
            <a:off x="4663440" y="2103120"/>
            <a:ext cx="2742840" cy="1188360"/>
          </a:xfrm>
          <a:prstGeom prst="roundRect">
            <a:avLst>
              <a:gd name="adj" fmla="val 7692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5" name="Text 10"/>
          <p:cNvSpPr/>
          <p:nvPr/>
        </p:nvSpPr>
        <p:spPr>
          <a:xfrm>
            <a:off x="4663440" y="22129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CLIENTE MCP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1"/>
          <p:cNvSpPr/>
          <p:nvPr/>
        </p:nvSpPr>
        <p:spPr>
          <a:xfrm>
            <a:off x="4773240" y="2606040"/>
            <a:ext cx="2523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descobre e chama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ferramentas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2"/>
          <p:cNvSpPr/>
          <p:nvPr/>
        </p:nvSpPr>
        <p:spPr>
          <a:xfrm>
            <a:off x="8595360" y="1463040"/>
            <a:ext cx="283428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 13"/>
          <p:cNvSpPr/>
          <p:nvPr/>
        </p:nvSpPr>
        <p:spPr>
          <a:xfrm>
            <a:off x="8595360" y="15728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servidor: arquivos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4"/>
          <p:cNvSpPr/>
          <p:nvPr/>
        </p:nvSpPr>
        <p:spPr>
          <a:xfrm>
            <a:off x="8595360" y="2606040"/>
            <a:ext cx="283428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0" name="Text 15"/>
          <p:cNvSpPr/>
          <p:nvPr/>
        </p:nvSpPr>
        <p:spPr>
          <a:xfrm>
            <a:off x="8595360" y="27158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servidor: banco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6"/>
          <p:cNvSpPr/>
          <p:nvPr/>
        </p:nvSpPr>
        <p:spPr>
          <a:xfrm>
            <a:off x="8595360" y="3749040"/>
            <a:ext cx="2834280" cy="914040"/>
          </a:xfrm>
          <a:prstGeom prst="roundRect">
            <a:avLst>
              <a:gd name="adj" fmla="val 10000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2" name="Text 17"/>
          <p:cNvSpPr/>
          <p:nvPr/>
        </p:nvSpPr>
        <p:spPr>
          <a:xfrm>
            <a:off x="8595360" y="38588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servidor: Jira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8"/>
          <p:cNvSpPr/>
          <p:nvPr/>
        </p:nvSpPr>
        <p:spPr>
          <a:xfrm>
            <a:off x="640080" y="576072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harness continua sendo seu. O MCP só resolve como as ferramentas se apresentam a ele, de forma padronizada.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9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0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"/>
          <p:cNvSpPr/>
          <p:nvPr/>
        </p:nvSpPr>
        <p:spPr>
          <a:xfrm flipV="1">
            <a:off x="7406640" y="1980360"/>
            <a:ext cx="1162080" cy="71712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ENTÃO POR QUE ESCREVER O NOSSO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Porque em sessenta linhas cabe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tudo que esses projetos têm de essencial.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Você não vai colocar o harness da tarde em produção, vai colocar LangGraph.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O que a tarde de hoje entrega é a capacidade de abrir o LangGraph quando ele fizer algo estranho e saber exatamente onde olhar.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07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Quatro equipes reais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Ninguém esperou um modelo melhor. Todos construíram estrutura.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OPENAI CODEX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Um milhão de linhas, zero escritas à mão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2"/>
          <p:cNvSpPr/>
          <p:nvPr/>
        </p:nvSpPr>
        <p:spPr>
          <a:xfrm>
            <a:off x="640080" y="1828800"/>
            <a:ext cx="2480040" cy="191988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7" name="Text 3"/>
          <p:cNvSpPr/>
          <p:nvPr/>
        </p:nvSpPr>
        <p:spPr>
          <a:xfrm>
            <a:off x="777240" y="2011680"/>
            <a:ext cx="220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4c3a8c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4"/>
          <p:cNvSpPr/>
          <p:nvPr/>
        </p:nvSpPr>
        <p:spPr>
          <a:xfrm>
            <a:off x="777240" y="2926080"/>
            <a:ext cx="220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engenheiros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5"/>
          <p:cNvSpPr/>
          <p:nvPr/>
        </p:nvSpPr>
        <p:spPr>
          <a:xfrm>
            <a:off x="3440520" y="1828800"/>
            <a:ext cx="2480040" cy="191988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0" name="Text 6"/>
          <p:cNvSpPr/>
          <p:nvPr/>
        </p:nvSpPr>
        <p:spPr>
          <a:xfrm>
            <a:off x="3577680" y="2011680"/>
            <a:ext cx="220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4c3a8c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7"/>
          <p:cNvSpPr/>
          <p:nvPr/>
        </p:nvSpPr>
        <p:spPr>
          <a:xfrm>
            <a:off x="3577680" y="2926080"/>
            <a:ext cx="220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meses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8"/>
          <p:cNvSpPr/>
          <p:nvPr/>
        </p:nvSpPr>
        <p:spPr>
          <a:xfrm>
            <a:off x="6240960" y="1828800"/>
            <a:ext cx="2480040" cy="191988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3" name="Text 9"/>
          <p:cNvSpPr/>
          <p:nvPr/>
        </p:nvSpPr>
        <p:spPr>
          <a:xfrm>
            <a:off x="6378120" y="2011680"/>
            <a:ext cx="220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4c3a8c"/>
                </a:solidFill>
                <a:effectLst/>
                <a:uFillTx/>
                <a:latin typeface="Cambria"/>
                <a:ea typeface="Cambria"/>
              </a:rPr>
              <a:t>1M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0"/>
          <p:cNvSpPr/>
          <p:nvPr/>
        </p:nvSpPr>
        <p:spPr>
          <a:xfrm>
            <a:off x="6378120" y="2926080"/>
            <a:ext cx="220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linhas de código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1"/>
          <p:cNvSpPr/>
          <p:nvPr/>
        </p:nvSpPr>
        <p:spPr>
          <a:xfrm>
            <a:off x="9041040" y="1828800"/>
            <a:ext cx="2480040" cy="191988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6" name="Text 12"/>
          <p:cNvSpPr/>
          <p:nvPr/>
        </p:nvSpPr>
        <p:spPr>
          <a:xfrm>
            <a:off x="9178200" y="2011680"/>
            <a:ext cx="220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4c3a8c"/>
                </a:solidFill>
                <a:effectLst/>
                <a:uFillTx/>
                <a:latin typeface="Cambria"/>
                <a:ea typeface="Cambria"/>
              </a:rPr>
              <a:t>100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13"/>
          <p:cNvSpPr/>
          <p:nvPr/>
        </p:nvSpPr>
        <p:spPr>
          <a:xfrm>
            <a:off x="9178200" y="2926080"/>
            <a:ext cx="220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linhas de AGENTS.md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4"/>
          <p:cNvSpPr/>
          <p:nvPr/>
        </p:nvSpPr>
        <p:spPr>
          <a:xfrm>
            <a:off x="640080" y="4069080"/>
            <a:ext cx="1088100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último número é o que surpreende. Eles TENTARAM a versão gigante, com toda regra e convenção do projeto, e ela piorou o resultado. A formulação que ficou: um mapa com ponteiros para documentação profunda, não um manual.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15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6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DUAS ESCOLAS DE INSTRUÇÃO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Como se escreve um arquivo de instruções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2"/>
          <p:cNvSpPr/>
          <p:nvPr/>
        </p:nvSpPr>
        <p:spPr>
          <a:xfrm>
            <a:off x="64008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4" name="Shape 3"/>
          <p:cNvSpPr/>
          <p:nvPr/>
        </p:nvSpPr>
        <p:spPr>
          <a:xfrm>
            <a:off x="8686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5" name="Text 4"/>
          <p:cNvSpPr/>
          <p:nvPr/>
        </p:nvSpPr>
        <p:spPr>
          <a:xfrm>
            <a:off x="8686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5"/>
          <p:cNvSpPr/>
          <p:nvPr/>
        </p:nvSpPr>
        <p:spPr>
          <a:xfrm>
            <a:off x="129852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OpenAI: dê um mapa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6"/>
          <p:cNvSpPr/>
          <p:nvPr/>
        </p:nvSpPr>
        <p:spPr>
          <a:xfrm>
            <a:off x="91440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Cerca de 100 linhas, deliberadamente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Estrutura do projeto e relações entre arquivos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Ponteiros para documentação mais profunda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 versão gigante foi testada e piorou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7"/>
          <p:cNvSpPr/>
          <p:nvPr/>
        </p:nvSpPr>
        <p:spPr>
          <a:xfrm>
            <a:off x="626364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9" name="Shape 8"/>
          <p:cNvSpPr/>
          <p:nvPr/>
        </p:nvSpPr>
        <p:spPr>
          <a:xfrm>
            <a:off x="64922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0" name="Text 9"/>
          <p:cNvSpPr/>
          <p:nvPr/>
        </p:nvSpPr>
        <p:spPr>
          <a:xfrm>
            <a:off x="64922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0"/>
          <p:cNvSpPr/>
          <p:nvPr/>
        </p:nvSpPr>
        <p:spPr>
          <a:xfrm>
            <a:off x="692208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Hashimoto: um erro, uma regra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1"/>
          <p:cNvSpPr/>
          <p:nvPr/>
        </p:nvSpPr>
        <p:spPr>
          <a:xfrm>
            <a:off x="653796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arquivo começa VAZIO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Cada linha corresponde a um erro real do agente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Cresce por indução, nunca por previsão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Três meses depois é um harness sob medida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1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1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ANTHROPIC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Deixe uma IA revisar a outra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2"/>
          <p:cNvSpPr/>
          <p:nvPr/>
        </p:nvSpPr>
        <p:spPr>
          <a:xfrm>
            <a:off x="3017520" y="2926080"/>
            <a:ext cx="118872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8" name="Shape 3"/>
          <p:cNvSpPr/>
          <p:nvPr/>
        </p:nvSpPr>
        <p:spPr>
          <a:xfrm>
            <a:off x="6583680" y="2926080"/>
            <a:ext cx="118872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9" name="Shape 4"/>
          <p:cNvSpPr/>
          <p:nvPr/>
        </p:nvSpPr>
        <p:spPr>
          <a:xfrm flipH="1">
            <a:off x="3017520" y="4023360"/>
            <a:ext cx="603504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0" name="Shape 5"/>
          <p:cNvSpPr/>
          <p:nvPr/>
        </p:nvSpPr>
        <p:spPr>
          <a:xfrm>
            <a:off x="640080" y="2377440"/>
            <a:ext cx="2377080" cy="1096920"/>
          </a:xfrm>
          <a:prstGeom prst="roundRect">
            <a:avLst>
              <a:gd name="adj" fmla="val 8333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1" name="Text 6"/>
          <p:cNvSpPr/>
          <p:nvPr/>
        </p:nvSpPr>
        <p:spPr>
          <a:xfrm>
            <a:off x="640080" y="24872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PLANNER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7"/>
          <p:cNvSpPr/>
          <p:nvPr/>
        </p:nvSpPr>
        <p:spPr>
          <a:xfrm>
            <a:off x="749880" y="2880360"/>
            <a:ext cx="2157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instrução curta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vira especificação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8"/>
          <p:cNvSpPr/>
          <p:nvPr/>
        </p:nvSpPr>
        <p:spPr>
          <a:xfrm>
            <a:off x="4206240" y="2377440"/>
            <a:ext cx="2377080" cy="1096920"/>
          </a:xfrm>
          <a:prstGeom prst="roundRect">
            <a:avLst>
              <a:gd name="adj" fmla="val 8333"/>
            </a:avLst>
          </a:prstGeom>
          <a:solidFill>
            <a:srgbClr val="4c3a8c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 9"/>
          <p:cNvSpPr/>
          <p:nvPr/>
        </p:nvSpPr>
        <p:spPr>
          <a:xfrm>
            <a:off x="4206240" y="24872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GENERATOR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0"/>
          <p:cNvSpPr/>
          <p:nvPr/>
        </p:nvSpPr>
        <p:spPr>
          <a:xfrm>
            <a:off x="4316040" y="2880360"/>
            <a:ext cx="2157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uma funcionalidade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por vez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11"/>
          <p:cNvSpPr/>
          <p:nvPr/>
        </p:nvSpPr>
        <p:spPr>
          <a:xfrm>
            <a:off x="7772400" y="2377440"/>
            <a:ext cx="2559960" cy="1096920"/>
          </a:xfrm>
          <a:prstGeom prst="roundRect">
            <a:avLst>
              <a:gd name="adj" fmla="val 8333"/>
            </a:avLst>
          </a:prstGeom>
          <a:solidFill>
            <a:srgbClr val="e8933a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7" name="Text 12"/>
          <p:cNvSpPr/>
          <p:nvPr/>
        </p:nvSpPr>
        <p:spPr>
          <a:xfrm>
            <a:off x="7772400" y="24872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EVALUATOR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3"/>
          <p:cNvSpPr/>
          <p:nvPr/>
        </p:nvSpPr>
        <p:spPr>
          <a:xfrm>
            <a:off x="7882200" y="2880360"/>
            <a:ext cx="2340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a2a10"/>
                </a:solidFill>
                <a:effectLst/>
                <a:uFillTx/>
                <a:latin typeface="Calibri"/>
                <a:ea typeface="Calibri"/>
              </a:rPr>
              <a:t>testa a aplicação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a2a10"/>
                </a:solidFill>
                <a:effectLst/>
                <a:uFillTx/>
                <a:latin typeface="Calibri"/>
                <a:ea typeface="Calibri"/>
              </a:rPr>
              <a:t>rodando, como um QA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4"/>
          <p:cNvSpPr/>
          <p:nvPr/>
        </p:nvSpPr>
        <p:spPr>
          <a:xfrm>
            <a:off x="640080" y="576072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Antes de cada ciclo, Generator e Evaluator negociam um Sprint Contract: acordam a definição de pronto antes de qualquer linha ser escrita. A seta de volta é a reprovação.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5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6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STRIPE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1"/>
          <p:cNvSpPr/>
          <p:nvPr/>
        </p:nvSpPr>
        <p:spPr>
          <a:xfrm>
            <a:off x="640080" y="676800"/>
            <a:ext cx="108810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Minions: mil e trezentos pull requests por semana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2"/>
          <p:cNvSpPr/>
          <p:nvPr/>
        </p:nvSpPr>
        <p:spPr>
          <a:xfrm>
            <a:off x="640080" y="20948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5" name="Text 3"/>
          <p:cNvSpPr/>
          <p:nvPr/>
        </p:nvSpPr>
        <p:spPr>
          <a:xfrm>
            <a:off x="640080" y="2094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4"/>
          <p:cNvSpPr/>
          <p:nvPr/>
        </p:nvSpPr>
        <p:spPr>
          <a:xfrm>
            <a:off x="1234440" y="20674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gargalo mudou de lugar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5"/>
          <p:cNvSpPr/>
          <p:nvPr/>
        </p:nvSpPr>
        <p:spPr>
          <a:xfrm>
            <a:off x="1234440" y="242424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Quando o agente abre 1300 PRs por semana, o problema deixa de ser escrever código e passa a ser revisar código. O harness tem que produzir PR revisável.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6"/>
          <p:cNvSpPr/>
          <p:nvPr/>
        </p:nvSpPr>
        <p:spPr>
          <a:xfrm>
            <a:off x="640080" y="31258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 7"/>
          <p:cNvSpPr/>
          <p:nvPr/>
        </p:nvSpPr>
        <p:spPr>
          <a:xfrm>
            <a:off x="640080" y="3125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8"/>
          <p:cNvSpPr/>
          <p:nvPr/>
        </p:nvSpPr>
        <p:spPr>
          <a:xfrm>
            <a:off x="1234440" y="30981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Mudança pequena, escopo estreito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9"/>
          <p:cNvSpPr/>
          <p:nvPr/>
        </p:nvSpPr>
        <p:spPr>
          <a:xfrm>
            <a:off x="1234440" y="3454920"/>
            <a:ext cx="10240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Cada Minion faz uma tarefa fechada. PR grande de agente não é revisado: é aprovado no escuro, e isso é pior do que não ter.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10"/>
          <p:cNvSpPr/>
          <p:nvPr/>
        </p:nvSpPr>
        <p:spPr>
          <a:xfrm>
            <a:off x="640080" y="41565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3" name="Text 11"/>
          <p:cNvSpPr/>
          <p:nvPr/>
        </p:nvSpPr>
        <p:spPr>
          <a:xfrm>
            <a:off x="640080" y="4156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2"/>
          <p:cNvSpPr/>
          <p:nvPr/>
        </p:nvSpPr>
        <p:spPr>
          <a:xfrm>
            <a:off x="1234440" y="41288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Verificação antes de abrir o PR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3"/>
          <p:cNvSpPr/>
          <p:nvPr/>
        </p:nvSpPr>
        <p:spPr>
          <a:xfrm>
            <a:off x="1234440" y="44856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Teste, lint e build rodam no ciclo do agente. O revisor humano recebe algo que já passou nos portões automáticos.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14"/>
          <p:cNvSpPr/>
          <p:nvPr/>
        </p:nvSpPr>
        <p:spPr>
          <a:xfrm>
            <a:off x="640080" y="49813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7" name="Text 15"/>
          <p:cNvSpPr/>
          <p:nvPr/>
        </p:nvSpPr>
        <p:spPr>
          <a:xfrm>
            <a:off x="640080" y="4981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6"/>
          <p:cNvSpPr/>
          <p:nvPr/>
        </p:nvSpPr>
        <p:spPr>
          <a:xfrm>
            <a:off x="1234440" y="49539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humano vira revisor, não digitador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7"/>
          <p:cNvSpPr/>
          <p:nvPr/>
        </p:nvSpPr>
        <p:spPr>
          <a:xfrm>
            <a:off x="1234440" y="531072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É a mudança de papel que a turma vai viver nos próximos meses, e vale nomear agora.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 QUE AS QUATRO TÊM EM COMUM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Nenhuma esperou o próximo modelo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5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6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Instrução curta e viva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Todas mantêm um arquivo de instruções pequeno, que muda toda semana por causa de erro real, não por previsão.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0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1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Verificação que não depende de opinião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Teste, lint, CI, avaliador separado. Em todos os casos existe um sinal automático dizendo se está pronto.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5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6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Escopo pequeno por ciclo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Uma funcionalidade, um PR, uma tarefa. Ninguém deixa o agente correr solto por seis horas e depois olha o resultado.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08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Menos é mais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O princípio mais contraintuitivo do dia.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CONTEXTO NÃO É RECURSO GRÁTIS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Um harness superdimensionado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é pior que harness nenhum.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Context rot: quanto mais tokens no contexto, pior o modelo recupera qualquer informação específica dentro dele. Não é um degrau que aparece no limite da janela, é degradação contínua desde o começo. Uma janela de 200 mil tokens não é um convite a usar 200 mil tokens.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LANGCHAIN, TERMINAL BENCH 2.0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1"/>
          <p:cNvSpPr/>
          <p:nvPr/>
        </p:nvSpPr>
        <p:spPr>
          <a:xfrm>
            <a:off x="640080" y="676800"/>
            <a:ext cx="108810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Raciocínio máximo o tempo todo foi o PIOR dos três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0" name="Table 0"/>
          <p:cNvGraphicFramePr/>
          <p:nvPr/>
        </p:nvGraphicFramePr>
        <p:xfrm>
          <a:off x="640080" y="2094840"/>
          <a:ext cx="10881000" cy="138672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  <a:gridCol w="484632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Configuração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Observação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Raciocínio máximo o tempo todo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53,9%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Muitas tarefas estouraram o tempo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Raciocínio alto o tempo todo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63,6%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Estável, mas insuficiente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Sanduíche: máximo, depois médio, depois máximo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66,5%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configuração escolhida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1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HARNESS DECAY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Conforme o modelo melhora,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o harness deve encolher.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A Anthropic removeu o mecanismo de Sprint e o context reset ao migrar de Sonnet 4.5 para Opus 4.6, e trocou a avaliação por ciclo por uma única no fim. O custo caiu 38% e a qualidade não caiu. Se Agent = Model + Harness, quanto melhor o Model, menos Harness é necessário.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CRITÉRIO DE PODA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Três perguntas antes de manter uma linha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0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1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 eu apagar, ele volta a errar?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Se a resposta é não, apague. É o único teste que importa, e é barato: apague, rode os casos guardados, compare.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5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6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Um bom engenheiro inferiria isso sozinho?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Se sim, o modelo também infere. Instrução só deve carregar o que é específico do seu projeto e invisível no código.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0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1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Isto é instrução ou é constraint?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Se dá para transformar em linter, hook ou teste, tire do texto e ponha no código. Regra em código não gasta contexto e não é ignorada.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A REGRA PRÁTICA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Construa cada peça do harness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como algo que você vai apagar.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Acrescentar regra é fácil e dá sensação de progresso. Cortar é difícil, porque uma regra inútil nunca cobra a conta de forma visível: ela só encarece o contexto e piora a recuperação, em silêncio. Quem não poda acumula.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56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09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Escrevendo o harness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Sessenta linhas. Sem framework.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O QUE VAMOS ESCREVER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Sessenta linhas, quatro arquivos mentais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2"/>
          <p:cNvSpPr/>
          <p:nvPr/>
        </p:nvSpPr>
        <p:spPr>
          <a:xfrm>
            <a:off x="3108960" y="2651760"/>
            <a:ext cx="54864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6" name="Shape 3"/>
          <p:cNvSpPr/>
          <p:nvPr/>
        </p:nvSpPr>
        <p:spPr>
          <a:xfrm>
            <a:off x="6126480" y="2651760"/>
            <a:ext cx="54864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7" name="Shape 4"/>
          <p:cNvSpPr/>
          <p:nvPr/>
        </p:nvSpPr>
        <p:spPr>
          <a:xfrm>
            <a:off x="9144000" y="2651760"/>
            <a:ext cx="548640" cy="36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8" name="Shape 5"/>
          <p:cNvSpPr/>
          <p:nvPr/>
        </p:nvSpPr>
        <p:spPr>
          <a:xfrm>
            <a:off x="7863840" y="3291840"/>
            <a:ext cx="360" cy="731520"/>
          </a:xfrm>
          <a:prstGeom prst="line">
            <a:avLst/>
          </a:prstGeom>
          <a:ln w="22225">
            <a:solidFill>
              <a:srgbClr val="6b65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9" name="Shape 6"/>
          <p:cNvSpPr/>
          <p:nvPr/>
        </p:nvSpPr>
        <p:spPr>
          <a:xfrm>
            <a:off x="640080" y="2011680"/>
            <a:ext cx="2468520" cy="1279800"/>
          </a:xfrm>
          <a:prstGeom prst="roundRect">
            <a:avLst>
              <a:gd name="adj" fmla="val 7143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0" name="Text 7"/>
          <p:cNvSpPr/>
          <p:nvPr/>
        </p:nvSpPr>
        <p:spPr>
          <a:xfrm>
            <a:off x="640080" y="21214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ferramentas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8"/>
          <p:cNvSpPr/>
          <p:nvPr/>
        </p:nvSpPr>
        <p:spPr>
          <a:xfrm>
            <a:off x="749880" y="2514600"/>
            <a:ext cx="2248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funções Python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comuns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9"/>
          <p:cNvSpPr/>
          <p:nvPr/>
        </p:nvSpPr>
        <p:spPr>
          <a:xfrm>
            <a:off x="3657600" y="2011680"/>
            <a:ext cx="2468520" cy="1279800"/>
          </a:xfrm>
          <a:prstGeom prst="roundRect">
            <a:avLst>
              <a:gd name="adj" fmla="val 7143"/>
            </a:avLst>
          </a:prstGeom>
          <a:solidFill>
            <a:srgbClr val="4c3a8c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 10"/>
          <p:cNvSpPr/>
          <p:nvPr/>
        </p:nvSpPr>
        <p:spPr>
          <a:xfrm>
            <a:off x="3657600" y="21214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schemas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1"/>
          <p:cNvSpPr/>
          <p:nvPr/>
        </p:nvSpPr>
        <p:spPr>
          <a:xfrm>
            <a:off x="3767400" y="2514600"/>
            <a:ext cx="2248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como o modelo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enxerga cada uma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2"/>
          <p:cNvSpPr/>
          <p:nvPr/>
        </p:nvSpPr>
        <p:spPr>
          <a:xfrm>
            <a:off x="6675120" y="2011680"/>
            <a:ext cx="2468520" cy="1279800"/>
          </a:xfrm>
          <a:prstGeom prst="roundRect">
            <a:avLst>
              <a:gd name="adj" fmla="val 7143"/>
            </a:avLst>
          </a:prstGeom>
          <a:solidFill>
            <a:srgbClr val="f2f0f7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6" name="Text 13"/>
          <p:cNvSpPr/>
          <p:nvPr/>
        </p:nvSpPr>
        <p:spPr>
          <a:xfrm>
            <a:off x="6675120" y="21214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loop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14"/>
          <p:cNvSpPr/>
          <p:nvPr/>
        </p:nvSpPr>
        <p:spPr>
          <a:xfrm>
            <a:off x="6784920" y="2514600"/>
            <a:ext cx="2248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chamar, despachar,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anexar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15"/>
          <p:cNvSpPr/>
          <p:nvPr/>
        </p:nvSpPr>
        <p:spPr>
          <a:xfrm>
            <a:off x="9692640" y="2011680"/>
            <a:ext cx="1828440" cy="1279800"/>
          </a:xfrm>
          <a:prstGeom prst="roundRect">
            <a:avLst>
              <a:gd name="adj" fmla="val 7143"/>
            </a:avLst>
          </a:prstGeom>
          <a:solidFill>
            <a:srgbClr val="e8933a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9" name="Text 16"/>
          <p:cNvSpPr/>
          <p:nvPr/>
        </p:nvSpPr>
        <p:spPr>
          <a:xfrm>
            <a:off x="9692640" y="21214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parada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17"/>
          <p:cNvSpPr/>
          <p:nvPr/>
        </p:nvSpPr>
        <p:spPr>
          <a:xfrm>
            <a:off x="9802440" y="2514600"/>
            <a:ext cx="160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d2a0a"/>
                </a:solidFill>
                <a:effectLst/>
                <a:uFillTx/>
                <a:latin typeface="Calibri"/>
                <a:ea typeface="Calibri"/>
              </a:rPr>
              <a:t>quatro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d2a0a"/>
                </a:solidFill>
                <a:effectLst/>
                <a:uFillTx/>
                <a:latin typeface="Calibri"/>
                <a:ea typeface="Calibri"/>
              </a:rPr>
              <a:t>condições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18"/>
          <p:cNvSpPr/>
          <p:nvPr/>
        </p:nvSpPr>
        <p:spPr>
          <a:xfrm>
            <a:off x="3657600" y="4023360"/>
            <a:ext cx="5486040" cy="822600"/>
          </a:xfrm>
          <a:prstGeom prst="roundRect">
            <a:avLst>
              <a:gd name="adj" fmla="val 11111"/>
            </a:avLst>
          </a:prstGeom>
          <a:solidFill>
            <a:srgbClr val="e8e4f2"/>
          </a:solidFill>
          <a:ln w="12700">
            <a:solidFill>
              <a:srgbClr val="e8e4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2" name="Text 19"/>
          <p:cNvSpPr/>
          <p:nvPr/>
        </p:nvSpPr>
        <p:spPr>
          <a:xfrm>
            <a:off x="3657600" y="41331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instrumentação: imprimir contexto, contar tokens, salvar traço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20"/>
          <p:cNvSpPr/>
          <p:nvPr/>
        </p:nvSpPr>
        <p:spPr>
          <a:xfrm>
            <a:off x="640080" y="576072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 instrumentação não é opcional: é ela que transforma um exercício que funcionou por sorte em um exercício que você consegue explicar.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21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22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57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PASSO 1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Ferramentas são funções Python normais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2"/>
          <p:cNvSpPr/>
          <p:nvPr/>
        </p:nvSpPr>
        <p:spPr>
          <a:xfrm>
            <a:off x="640080" y="1691640"/>
            <a:ext cx="356580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Três decisões que já são engenharia de harness: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3"/>
          <p:cNvSpPr/>
          <p:nvPr/>
        </p:nvSpPr>
        <p:spPr>
          <a:xfrm>
            <a:off x="640080" y="2526840"/>
            <a:ext cx="3565800" cy="3462120"/>
          </a:xfrm>
          <a:prstGeom prst="roundRect">
            <a:avLst>
              <a:gd name="adj" fmla="val 2641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0" name="Text 4"/>
          <p:cNvSpPr/>
          <p:nvPr/>
        </p:nvSpPr>
        <p:spPr>
          <a:xfrm>
            <a:off x="859680" y="2673000"/>
            <a:ext cx="3126960" cy="31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1. calcular NÃO usa eval(). eval() numa string vinda de um LLM é execução remota de código. O parser de AST aceita só aritmética.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2. ler_arquivo valida o caminho. Sem a checagem de prefixo, o modelo pede ../../.ssh/id_rsa e recebe.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3. Os erros voltam como texto útil, e é isso que permite ao modelo se corrigir sozinho.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5"/>
          <p:cNvSpPr/>
          <p:nvPr/>
        </p:nvSpPr>
        <p:spPr>
          <a:xfrm>
            <a:off x="4572000" y="1691640"/>
            <a:ext cx="6949080" cy="429732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2" name="Text 6"/>
          <p:cNvSpPr/>
          <p:nvPr/>
        </p:nvSpPr>
        <p:spPr>
          <a:xfrm>
            <a:off x="4773240" y="1828800"/>
            <a:ext cx="6546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def calcular(expressao: str) -&gt; str: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"""Avalia uma expressao aritmetica."""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try: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no = ast.parse(expressao, mode="eval").body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return str(_avaliar(no))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except Exception as e: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return (f"ERRO: {e}. Envie apenas numeros 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   f"e os operadores + - * / ** %.")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def ler_arquivo(caminho: str) -&gt; str: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alvo = (RAIZ / caminho).resolve()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if not str(alvo).startswith(str(RAIZ)):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return "ERRO: caminho fora da pasta."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if not alvo.exists():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nomes = [p.name for p in RAIZ.glob("*")]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return f"ERRO: nao existe. Ha: {nomes}"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return alvo.read_text()[:4000]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58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PRINCÍPIO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"/>
          <p:cNvSpPr/>
          <p:nvPr/>
        </p:nvSpPr>
        <p:spPr>
          <a:xfrm>
            <a:off x="640080" y="1783080"/>
            <a:ext cx="10881000" cy="10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Uma ferramenta boa devolve, no erro, a informação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de que o modelo precisa para acertar na próxima volta.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2"/>
          <p:cNvSpPr/>
          <p:nvPr/>
        </p:nvSpPr>
        <p:spPr>
          <a:xfrm>
            <a:off x="640080" y="3256200"/>
            <a:ext cx="10149480" cy="277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Ferramenta que só diz que falhou produz agente que repete o mesmo erro até o limite de passos. Compare: 'ERRO: arquivo não existe' contra 'ERRO: relatorio.md não existe. Disponíveis: 2023_relatorio.md, 2024_relatorio.md'. A segunda resolve sozinha na volta seguinte.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59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PASSO 2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Descrever as ferramentas para o modelo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2"/>
          <p:cNvSpPr/>
          <p:nvPr/>
        </p:nvSpPr>
        <p:spPr>
          <a:xfrm>
            <a:off x="640080" y="1645920"/>
            <a:ext cx="10881000" cy="379440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2" name="Text 3"/>
          <p:cNvSpPr/>
          <p:nvPr/>
        </p:nvSpPr>
        <p:spPr>
          <a:xfrm>
            <a:off x="868680" y="1783080"/>
            <a:ext cx="1042380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ESPECIFICACOES = [{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"type": "function",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"function": {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"name": "calcular",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"description": "Avalia uma expressao aritmetica e devolve o resultado exato. "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          "Use SEMPRE que houver conta, mesmo simples.",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"parameters": {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"type": "object",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"properties": {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   "expressao": {"type": "string", "description": "ex: '950 * 24'"}},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"required": ["expressao"]}}}]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REGISTRO = {"calcular": calcular, "ler_arquivo": ler_arquivo}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4"/>
          <p:cNvSpPr/>
          <p:nvPr/>
        </p:nvSpPr>
        <p:spPr>
          <a:xfrm>
            <a:off x="640080" y="557784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 função de um lado, o schema JSON do outro. Guarde este incômodo: é exatamente ele que o decorador @tool do LangChain resolve amanhã.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5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6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PASSO 3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 loop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2"/>
          <p:cNvSpPr/>
          <p:nvPr/>
        </p:nvSpPr>
        <p:spPr>
          <a:xfrm>
            <a:off x="640080" y="1645920"/>
            <a:ext cx="10881000" cy="379440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9" name="Text 3"/>
          <p:cNvSpPr/>
          <p:nvPr/>
        </p:nvSpPr>
        <p:spPr>
          <a:xfrm>
            <a:off x="868680" y="1783080"/>
            <a:ext cx="1042380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for passo in range(max_passos):                              # &lt;- parada por limite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resposta = cliente.chat.completions.create(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model=modelo, messages=mensagens, tools=ESPECIFICACOES, temperature=0)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msg = resposta.choices[0].message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mensagens.append(msg.model_dump(exclude_none=True))       # &lt;- contexto cresce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if not msg.tool_calls:                                    # &lt;- parada por resposta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return msg.content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for chamada in msg.tool_calls:                            # &lt;- despacho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args = json.loads(chamada.function.arguments)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fn = REGISTRO.get(chamada.function.name)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resultado = fn(**args) if fn else "ERRO: ferramenta inexistente."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mensagens.append({"role": "tool",                     # &lt;- observação volta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             "tool_call_id": chamada.id,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                  "content": str(resultado)})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4"/>
          <p:cNvSpPr/>
          <p:nvPr/>
        </p:nvSpPr>
        <p:spPr>
          <a:xfrm>
            <a:off x="640080" y="557784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i="1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Isto é um agente. Não é brinquedo nem simplificação didática: é a mesma estrutura que existe dentro do LangChain e do smolagents.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5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6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CONFERINDO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Onde está cada componente no seu código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5" name="Table 0"/>
          <p:cNvGraphicFramePr/>
          <p:nvPr/>
        </p:nvGraphicFramePr>
        <p:xfrm>
          <a:off x="640080" y="1691640"/>
          <a:ext cx="10881000" cy="242136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  <a:gridCol w="265176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Componente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Onde está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Montagem de contexto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lista mensagens, que cresce a cada volta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feito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Registro de ferramentas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REGISTRO mais ESPECIFICACOES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feito, mas duplicado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Despachante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for sobre msg.tool_calls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feito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Sandbox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validação de caminho dentro de ler_arquivo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mínimo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Condições de parada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if not tool_calls mais range(max_passos)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duas de quatro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Memória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nenhuma; some quando a função retorna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3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826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PLANO B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Modelo sem tool calling nativo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"/>
          <p:cNvSpPr/>
          <p:nvPr/>
        </p:nvSpPr>
        <p:spPr>
          <a:xfrm>
            <a:off x="640080" y="1691640"/>
            <a:ext cx="3931560" cy="10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Se o modelo da sua máquina não suporta o campo tools, o harness ainda funciona: muda o formato. Pede-se JSON no prompt e faz-se o parsing.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3"/>
          <p:cNvSpPr/>
          <p:nvPr/>
        </p:nvSpPr>
        <p:spPr>
          <a:xfrm>
            <a:off x="640080" y="2996280"/>
            <a:ext cx="3931560" cy="2992680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2" name="Text 4"/>
          <p:cNvSpPr/>
          <p:nvPr/>
        </p:nvSpPr>
        <p:spPr>
          <a:xfrm>
            <a:off x="859680" y="3142440"/>
            <a:ext cx="3492720" cy="2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Mais frágil e mais caro em tokens, mas destrava modelos pequenos. Vale ter no bolso.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Medir a taxa de sucesso das duas abordagens no mesmo modelo é uma das extensões do exercício de hoje.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5"/>
          <p:cNvSpPr/>
          <p:nvPr/>
        </p:nvSpPr>
        <p:spPr>
          <a:xfrm>
            <a:off x="4937760" y="1691640"/>
            <a:ext cx="6583320" cy="429732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4" name="Text 6"/>
          <p:cNvSpPr/>
          <p:nvPr/>
        </p:nvSpPr>
        <p:spPr>
          <a:xfrm>
            <a:off x="5139000" y="1828800"/>
            <a:ext cx="61808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SISTEMA_JSON = """Responda SEMPRE com um unico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objeto JSON, sem texto ao redor.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Ferramenta: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{"acao": "calcular",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"args": {"expressao": "2+2"}}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Resposta final: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{"acao": "final",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"args": {"texto": "..."}}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"""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def extrair_json(texto: str) -&gt; dict: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i, f = texto.find("{"), texto.rfind("}")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if i == -1 or f &lt;= i: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    raise ValueError("sem JSON")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d8d2ee"/>
                </a:solidFill>
                <a:effectLst/>
                <a:uFillTx/>
                <a:latin typeface="Courier New"/>
                <a:ea typeface="Courier New"/>
              </a:rPr>
              <a:t>    return json.loads(texto[i:f + 1])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ENUNCIADO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Laboratório da tarde: o que entregar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0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Duas ferramentas seguras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calcular sem eval() e ler_arquivo recusando caminho fora da pasta, ambas com mensagem de erro que ensina.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4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 loop completo com instrumentação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9"/>
          <p:cNvSpPr/>
          <p:nvPr/>
        </p:nvSpPr>
        <p:spPr>
          <a:xfrm>
            <a:off x="1234440" y="28278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Passo, ferramenta, argumentos, 80 caracteres do resultado e tokens acumulados, impressos a cada volta.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10"/>
          <p:cNvSpPr/>
          <p:nvPr/>
        </p:nvSpPr>
        <p:spPr>
          <a:xfrm>
            <a:off x="640080" y="33512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8" name="Text 11"/>
          <p:cNvSpPr/>
          <p:nvPr/>
        </p:nvSpPr>
        <p:spPr>
          <a:xfrm>
            <a:off x="640080" y="3351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2"/>
          <p:cNvSpPr/>
          <p:nvPr/>
        </p:nvSpPr>
        <p:spPr>
          <a:xfrm>
            <a:off x="1234440" y="33238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As quatro condições de parada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3"/>
          <p:cNvSpPr/>
          <p:nvPr/>
        </p:nvSpPr>
        <p:spPr>
          <a:xfrm>
            <a:off x="1234440" y="36806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Resposta final, limite de passos, repetição detectada e teto de tokens.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14"/>
          <p:cNvSpPr/>
          <p:nvPr/>
        </p:nvSpPr>
        <p:spPr>
          <a:xfrm>
            <a:off x="640080" y="42040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2" name="Text 15"/>
          <p:cNvSpPr/>
          <p:nvPr/>
        </p:nvSpPr>
        <p:spPr>
          <a:xfrm>
            <a:off x="640080" y="4204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6"/>
          <p:cNvSpPr/>
          <p:nvPr/>
        </p:nvSpPr>
        <p:spPr>
          <a:xfrm>
            <a:off x="1234440" y="41763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Três falhas provocadas em FALHAS.md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17"/>
          <p:cNvSpPr/>
          <p:nvPr/>
        </p:nvSpPr>
        <p:spPr>
          <a:xfrm>
            <a:off x="1234440" y="453312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Arquivo inexistente, ferramenta inexistente e estouro do limite de passos, cada uma com causa e correção.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Text 0"/>
          <p:cNvSpPr/>
          <p:nvPr/>
        </p:nvSpPr>
        <p:spPr>
          <a:xfrm>
            <a:off x="640080" y="1920240"/>
            <a:ext cx="1828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e8933a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1"/>
          <p:cNvSpPr/>
          <p:nvPr/>
        </p:nvSpPr>
        <p:spPr>
          <a:xfrm>
            <a:off x="2560320" y="2057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Depurar e fechar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"/>
          <p:cNvSpPr/>
          <p:nvPr/>
        </p:nvSpPr>
        <p:spPr>
          <a:xfrm>
            <a:off x="2560320" y="3200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e4def7"/>
                </a:solidFill>
                <a:effectLst/>
                <a:uFillTx/>
                <a:latin typeface="Calibri"/>
                <a:ea typeface="Calibri"/>
              </a:rPr>
              <a:t>Três instrumentos para o curso inteiro.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INSTRUMENTAÇÃO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Monte hoje, use até o fim do curso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2"/>
          <p:cNvSpPr/>
          <p:nvPr/>
        </p:nvSpPr>
        <p:spPr>
          <a:xfrm>
            <a:off x="64008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3" name="Shape 3"/>
          <p:cNvSpPr/>
          <p:nvPr/>
        </p:nvSpPr>
        <p:spPr>
          <a:xfrm>
            <a:off x="84132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4" name="Text 4"/>
          <p:cNvSpPr/>
          <p:nvPr/>
        </p:nvSpPr>
        <p:spPr>
          <a:xfrm>
            <a:off x="84132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5"/>
          <p:cNvSpPr/>
          <p:nvPr/>
        </p:nvSpPr>
        <p:spPr>
          <a:xfrm>
            <a:off x="126180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Imprimir o contexto real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6"/>
          <p:cNvSpPr/>
          <p:nvPr/>
        </p:nvSpPr>
        <p:spPr>
          <a:xfrm>
            <a:off x="84132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Antes de cada chamada, imprima o papel e os primeiros 120 caracteres de cada mensagem. Metade dos bugs fica óbvia quando você lê o que o modelo realmente recebeu.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7"/>
          <p:cNvSpPr/>
          <p:nvPr/>
        </p:nvSpPr>
        <p:spPr>
          <a:xfrm>
            <a:off x="436464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8" name="Shape 8"/>
          <p:cNvSpPr/>
          <p:nvPr/>
        </p:nvSpPr>
        <p:spPr>
          <a:xfrm>
            <a:off x="45658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9" name="Text 9"/>
          <p:cNvSpPr/>
          <p:nvPr/>
        </p:nvSpPr>
        <p:spPr>
          <a:xfrm>
            <a:off x="45658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10"/>
          <p:cNvSpPr/>
          <p:nvPr/>
        </p:nvSpPr>
        <p:spPr>
          <a:xfrm>
            <a:off x="498636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Contar tokens e passos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11"/>
          <p:cNvSpPr/>
          <p:nvPr/>
        </p:nvSpPr>
        <p:spPr>
          <a:xfrm>
            <a:off x="456588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Some resposta.usage.total_tokens a cada volta. Um agente que gasta 40 mil tokens para responder quanto é 2+2 tem problema de contexto, não de modelo.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12"/>
          <p:cNvSpPr/>
          <p:nvPr/>
        </p:nvSpPr>
        <p:spPr>
          <a:xfrm>
            <a:off x="8089560" y="1737360"/>
            <a:ext cx="3431520" cy="420588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3" name="Shape 13"/>
          <p:cNvSpPr/>
          <p:nvPr/>
        </p:nvSpPr>
        <p:spPr>
          <a:xfrm>
            <a:off x="82904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4" name="Text 14"/>
          <p:cNvSpPr/>
          <p:nvPr/>
        </p:nvSpPr>
        <p:spPr>
          <a:xfrm>
            <a:off x="82904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15"/>
          <p:cNvSpPr/>
          <p:nvPr/>
        </p:nvSpPr>
        <p:spPr>
          <a:xfrm>
            <a:off x="8711280" y="1920240"/>
            <a:ext cx="260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Guardar o traço em disco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16"/>
          <p:cNvSpPr/>
          <p:nvPr/>
        </p:nvSpPr>
        <p:spPr>
          <a:xfrm>
            <a:off x="8290440" y="2395800"/>
            <a:ext cx="3029400" cy="33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Um JSON por execução, com todas as mensagens. É o que permite responder por que funcionou ontem e não hoje, sem depender de memória.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17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8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MÉTODO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Como se lê um traço quando algo deu errado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2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Comece pela última mensagem antes do erro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Não pelo topo. O contexto imediatamente anterior à decisão errada é onde a causa quase sempre está.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6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Confira se a observação chegou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9"/>
          <p:cNvSpPr/>
          <p:nvPr/>
        </p:nvSpPr>
        <p:spPr>
          <a:xfrm>
            <a:off x="1234440" y="28278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Procure a mensagem de papel tool correspondente a cada tool call. Faltando uma, você já achou o bug.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0"/>
          <p:cNvSpPr/>
          <p:nvPr/>
        </p:nvSpPr>
        <p:spPr>
          <a:xfrm>
            <a:off x="640080" y="33512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0" name="Text 11"/>
          <p:cNvSpPr/>
          <p:nvPr/>
        </p:nvSpPr>
        <p:spPr>
          <a:xfrm>
            <a:off x="640080" y="3351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12"/>
          <p:cNvSpPr/>
          <p:nvPr/>
        </p:nvSpPr>
        <p:spPr>
          <a:xfrm>
            <a:off x="1234440" y="33238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Leia o que o modelo recebeu, não o que você quis mandar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13"/>
          <p:cNvSpPr/>
          <p:nvPr/>
        </p:nvSpPr>
        <p:spPr>
          <a:xfrm>
            <a:off x="1234440" y="36806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A diferença entre os dois é o bug mais frequente do curso, e é invisível se você não imprimir.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4"/>
          <p:cNvSpPr/>
          <p:nvPr/>
        </p:nvSpPr>
        <p:spPr>
          <a:xfrm>
            <a:off x="640080" y="420408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4" name="Text 15"/>
          <p:cNvSpPr/>
          <p:nvPr/>
        </p:nvSpPr>
        <p:spPr>
          <a:xfrm>
            <a:off x="640080" y="4204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6"/>
          <p:cNvSpPr/>
          <p:nvPr/>
        </p:nvSpPr>
        <p:spPr>
          <a:xfrm>
            <a:off x="1234440" y="41763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Compare com um traço que funcionou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17"/>
          <p:cNvSpPr/>
          <p:nvPr/>
        </p:nvSpPr>
        <p:spPr>
          <a:xfrm>
            <a:off x="1234440" y="453312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Duas execuções lado a lado revelam em segundos o que a leitura de uma só não revela em meia hora.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18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19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REFERÊNCIA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Erros clássicos do dia 1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01" name="Table 0"/>
          <p:cNvGraphicFramePr/>
          <p:nvPr/>
        </p:nvGraphicFramePr>
        <p:xfrm>
          <a:off x="640080" y="1691640"/>
          <a:ext cx="10881000" cy="2557080"/>
        </p:xfrm>
        <a:graphic>
          <a:graphicData uri="http://schemas.openxmlformats.org/drawingml/2006/table">
            <a:tbl>
              <a:tblPr/>
              <a:tblGrid>
                <a:gridCol w="3931920"/>
                <a:gridCol w="3383280"/>
                <a:gridCol w="356616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Sintoma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Causa provável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Correção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Tool call aparece como texto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Servidor sem parser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--enable-auto-tool-choice ou --jinja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Chama ferramenta inexistente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Descrição confusa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Nomes distintos e erro que lista as válidas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Loop infinito na mesma ferramenta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Observação não voltou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Anexar a mensagem de papel tool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Erro de tool_call_id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Chamada sem resposta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Uma resposta por tool call, sempre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Ignora a ferramenta e responde de cabeça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Description fraca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Dizer na description quando usar, não só o que faz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Resposta muda a cada execução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temperature alta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5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temperature=0 durante o desenvolvimento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902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BALANÇO HONESTO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O que o nosso harness deverá ter, e o que falta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2"/>
          <p:cNvSpPr/>
          <p:nvPr/>
        </p:nvSpPr>
        <p:spPr>
          <a:xfrm>
            <a:off x="64008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7" name="Shape 3"/>
          <p:cNvSpPr/>
          <p:nvPr/>
        </p:nvSpPr>
        <p:spPr>
          <a:xfrm>
            <a:off x="86868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8" name="Text 4"/>
          <p:cNvSpPr/>
          <p:nvPr/>
        </p:nvSpPr>
        <p:spPr>
          <a:xfrm>
            <a:off x="86868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5"/>
          <p:cNvSpPr/>
          <p:nvPr/>
        </p:nvSpPr>
        <p:spPr>
          <a:xfrm>
            <a:off x="129852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Está lá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6"/>
          <p:cNvSpPr/>
          <p:nvPr/>
        </p:nvSpPr>
        <p:spPr>
          <a:xfrm>
            <a:off x="91440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Loop com despacho de ferramentas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Quatro condições de parada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Sandbox mínima de caminho de arquivo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Erros que ensinam o modelo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Traço em disco e contagem de tokens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7"/>
          <p:cNvSpPr/>
          <p:nvPr/>
        </p:nvSpPr>
        <p:spPr>
          <a:xfrm>
            <a:off x="6263640" y="1737360"/>
            <a:ext cx="5257440" cy="416016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2" name="Shape 8"/>
          <p:cNvSpPr/>
          <p:nvPr/>
        </p:nvSpPr>
        <p:spPr>
          <a:xfrm>
            <a:off x="6492240" y="1938600"/>
            <a:ext cx="328680" cy="328680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3" name="Text 9"/>
          <p:cNvSpPr/>
          <p:nvPr/>
        </p:nvSpPr>
        <p:spPr>
          <a:xfrm>
            <a:off x="6492240" y="1938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10"/>
          <p:cNvSpPr/>
          <p:nvPr/>
        </p:nvSpPr>
        <p:spPr>
          <a:xfrm>
            <a:off x="692208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Falta, e cada item tem um dia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11"/>
          <p:cNvSpPr/>
          <p:nvPr/>
        </p:nvSpPr>
        <p:spPr>
          <a:xfrm>
            <a:off x="6537960" y="2468880"/>
            <a:ext cx="4708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Schema derivado da função, sem duplicar (dia 2)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Estado que sobrevive à execução (dia 3)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Aprovação humana antes de ação irreversível (dia 3)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Vários especialistas com contextos separados (dia 4)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72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Avaliação sistemática do que foi entregue (dia 5)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1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1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RECAPITULAÇÃO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1"/>
          <p:cNvSpPr/>
          <p:nvPr/>
        </p:nvSpPr>
        <p:spPr>
          <a:xfrm>
            <a:off x="640080" y="676800"/>
            <a:ext cx="108810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As cinco camadas, e o que fizemos de cada uma hoje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0" name="Table 0"/>
          <p:cNvGraphicFramePr/>
          <p:nvPr/>
        </p:nvGraphicFramePr>
        <p:xfrm>
          <a:off x="640080" y="2094840"/>
          <a:ext cx="10881000" cy="207648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749040"/>
              </a:tblGrid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Camada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construímos hoje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Onde aprofunda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4c3a8c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Instructions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Prompt de sistema e description de cada ferramenta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2, com prompt templates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Constraints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Validação de caminho e limite de passos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3, com hooks e sandbox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Feedback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Mensagens de erro que ensinam o modelo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4, com agente avaliador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Memory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Nada; o histórico morre com a função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3, com checkpointer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2f0f7"/>
                    </a:solidFill>
                  </a:tcPr>
                </a:tc>
              </a:tr>
              <a:tr h="310680"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Orchestration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Nada; um agente só, de propósito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1a172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 4, com cinco topologias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12240">
                      <a:solidFill>
                        <a:srgbClr val="e8e4f2"/>
                      </a:solidFill>
                      <a:prstDash val="solid"/>
                    </a:lnL>
                    <a:lnR w="12240">
                      <a:solidFill>
                        <a:srgbClr val="e8e4f2"/>
                      </a:solidFill>
                      <a:prstDash val="solid"/>
                    </a:lnR>
                    <a:lnT w="12240">
                      <a:solidFill>
                        <a:srgbClr val="e8e4f2"/>
                      </a:solidFill>
                      <a:prstDash val="solid"/>
                    </a:lnT>
                    <a:lnB w="12240">
                      <a:solidFill>
                        <a:srgbClr val="e8e4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1" name="Text 2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69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Text 0"/>
          <p:cNvSpPr/>
          <p:nvPr/>
        </p:nvSpPr>
        <p:spPr>
          <a:xfrm>
            <a:off x="640080" y="12801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PARA AMANHÃ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1"/>
          <p:cNvSpPr/>
          <p:nvPr/>
        </p:nvSpPr>
        <p:spPr>
          <a:xfrm>
            <a:off x="640080" y="1783080"/>
            <a:ext cx="10881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O nosso REGISTRO é um dicionário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edeaf5"/>
                </a:solidFill>
                <a:effectLst/>
                <a:uFillTx/>
                <a:latin typeface="Cambria"/>
                <a:ea typeface="Cambria"/>
              </a:rPr>
              <a:t>e o ESPECIFICACOES é uma lista escrita à mão.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2"/>
          <p:cNvSpPr/>
          <p:nvPr/>
        </p:nvSpPr>
        <p:spPr>
          <a:xfrm>
            <a:off x="640080" y="3520440"/>
            <a:ext cx="10149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O que acontece quando o sistema tem 30 ferramentas mantidas por 4 pessoas? Alguém renomeia o argumento e esquece o schema. Ninguém valida tipos. Cada um escreve o tratamento de erro de um jeito. E não há como testar uma ferramenta sem subir o agente inteiro. Amanhã: LangChain.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3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79fc4"/>
                </a:solidFill>
                <a:effectLst/>
                <a:uFillTx/>
                <a:latin typeface="Calibri"/>
                <a:ea typeface="Calibri"/>
              </a:rPr>
              <a:t>70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19" strike="noStrike">
                <a:solidFill>
                  <a:srgbClr val="e8933a"/>
                </a:solidFill>
                <a:effectLst/>
                <a:uFillTx/>
                <a:latin typeface="Calibri"/>
                <a:ea typeface="Calibri"/>
              </a:rPr>
              <a:t>LEITURA DE CASA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1"/>
          <p:cNvSpPr/>
          <p:nvPr/>
        </p:nvSpPr>
        <p:spPr>
          <a:xfrm>
            <a:off x="640080" y="6768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a1725"/>
                </a:solidFill>
                <a:effectLst/>
                <a:uFillTx/>
                <a:latin typeface="Cambria"/>
                <a:ea typeface="Cambria"/>
              </a:rPr>
              <a:t>Três textos, cerca de quarenta minutos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2"/>
          <p:cNvSpPr/>
          <p:nvPr/>
        </p:nvSpPr>
        <p:spPr>
          <a:xfrm>
            <a:off x="640080" y="164592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0" name="Text 3"/>
          <p:cNvSpPr/>
          <p:nvPr/>
        </p:nvSpPr>
        <p:spPr>
          <a:xfrm>
            <a:off x="640080" y="164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4"/>
          <p:cNvSpPr/>
          <p:nvPr/>
        </p:nvSpPr>
        <p:spPr>
          <a:xfrm>
            <a:off x="1234440" y="161856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OpenAI, Harness engineering (fev/2026)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5"/>
          <p:cNvSpPr/>
          <p:nvPr/>
        </p:nvSpPr>
        <p:spPr>
          <a:xfrm>
            <a:off x="1234440" y="197496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 texto que nomeou o campo. Leia prestando atenção no tamanho do AGENTS.md e no porquê.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6"/>
          <p:cNvSpPr/>
          <p:nvPr/>
        </p:nvSpPr>
        <p:spPr>
          <a:xfrm>
            <a:off x="640080" y="249876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4" name="Text 7"/>
          <p:cNvSpPr/>
          <p:nvPr/>
        </p:nvSpPr>
        <p:spPr>
          <a:xfrm>
            <a:off x="640080" y="2498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8"/>
          <p:cNvSpPr/>
          <p:nvPr/>
        </p:nvSpPr>
        <p:spPr>
          <a:xfrm>
            <a:off x="1234440" y="247104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Anthropic, Effective context engineering for AI agents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9"/>
          <p:cNvSpPr/>
          <p:nvPr/>
        </p:nvSpPr>
        <p:spPr>
          <a:xfrm>
            <a:off x="1234440" y="282780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Base do bloco 8 de hoje e do dia 4 inteiro. É onde context rot é medido, não apenas afirmado.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10"/>
          <p:cNvSpPr/>
          <p:nvPr/>
        </p:nvSpPr>
        <p:spPr>
          <a:xfrm>
            <a:off x="640080" y="3351240"/>
            <a:ext cx="383760" cy="383760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8" name="Text 11"/>
          <p:cNvSpPr/>
          <p:nvPr/>
        </p:nvSpPr>
        <p:spPr>
          <a:xfrm>
            <a:off x="640080" y="3351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12"/>
          <p:cNvSpPr/>
          <p:nvPr/>
        </p:nvSpPr>
        <p:spPr>
          <a:xfrm>
            <a:off x="1234440" y="3323880"/>
            <a:ext cx="10240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725"/>
                </a:solidFill>
                <a:effectLst/>
                <a:uFillTx/>
                <a:latin typeface="Calibri"/>
                <a:ea typeface="Calibri"/>
              </a:rPr>
              <a:t>Yao et al., ReAct (2022)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13"/>
          <p:cNvSpPr/>
          <p:nvPr/>
        </p:nvSpPr>
        <p:spPr>
          <a:xfrm>
            <a:off x="1234440" y="3680640"/>
            <a:ext cx="10240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Opcional, e curto. Ler o artigo original depois de ter escrito o loop à mão é uma experiência diferente.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14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Dia 1 - Harness, loop e modelos locais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15"/>
          <p:cNvSpPr/>
          <p:nvPr/>
        </p:nvSpPr>
        <p:spPr>
          <a:xfrm>
            <a:off x="10972800" y="6400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b6580"/>
                </a:solidFill>
                <a:effectLst/>
                <a:uFillTx/>
                <a:latin typeface="Calibri"/>
                <a:ea typeface="Calibri"/>
              </a:rPr>
              <a:t>71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</TotalTime>
  <Application>LibreOffice/25.8.7.3$Linux_X86_64 LibreOffice_project/580$Build-3</Application>
  <AppVersion>15.0000</AppVersion>
  <Words>19746</Words>
  <Paragraphs>1349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2026-08-31T15:09:54Z</dcterms:created>
  <dc:creator>Curso Multi-Agente com Modelos Locais</dc:creator>
  <dc:description/>
  <dc:language>pt-BR</dc:language>
  <cp:lastModifiedBy/>
  <dcterms:modified xsi:type="dcterms:W3CDTF">2026-09-02T13:02:54Z</dcterms:modified>
  <cp:revision>4</cp:revision>
  <dc:subject>PptxGenJS Presentation</dc:subject>
  <dc:title>Dia 1 - O que é um agente, de verdade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82</vt:i4>
  </property>
  <property fmtid="{D5CDD505-2E9C-101B-9397-08002B2CF9AE}" pid="3" name="PresentationFormat">
    <vt:lpwstr>Widescreen</vt:lpwstr>
  </property>
  <property fmtid="{D5CDD505-2E9C-101B-9397-08002B2CF9AE}" pid="4" name="Slides">
    <vt:i4>82</vt:i4>
  </property>
</Properties>
</file>